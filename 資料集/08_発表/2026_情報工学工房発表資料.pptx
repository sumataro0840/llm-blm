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24" r:id="rId1"/>
  </p:sldMasterIdLst>
  <p:notesMasterIdLst>
    <p:notesMasterId r:id="rId14"/>
  </p:notesMasterIdLst>
  <p:sldIdLst>
    <p:sldId id="256" r:id="rId2"/>
    <p:sldId id="257" r:id="rId8"/>
    <p:sldId id="258" r:id="rId9"/>
    <p:sldId id="259" r:id="rId10"/>
    <p:sldId id="260" r:id="rId11"/>
    <p:sldId id="261" r:id="rId12"/>
    <p:sldId id="262" r:id="rId13"/>
    <p:sldId id="263" r:id="rId7"/>
    <p:sldId id="264" r:id="rId6"/>
    <p:sldId id="265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56"/>
    <p:restoredTop sz="94554"/>
  </p:normalViewPr>
  <p:slideViewPr>
    <p:cSldViewPr snapToGrid="0">
      <p:cViewPr varScale="1">
        <p:scale>
          <a:sx n="98" d="100"/>
          <a:sy n="98" d="100"/>
        </p:scale>
        <p:origin x="728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8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値</c:v>
                </c:pt>
              </c:strCache>
            </c:strRef>
          </c:tx>
          <c:invertIfNegative val="0"/>
          <c:dPt>
            <c:idx val="0"/>
            <c:invertIfNegative val="0"/>
            <c:spPr>
              <a:solidFill>
                <a:srgbClr val="52555A"/>
              </a:solidFill>
              <a:ln>
                <a:noFill/>
              </a:ln>
            </c:spPr>
          </c:dPt>
          <c:dPt>
            <c:idx val="1"/>
            <c:invertIfNegative val="0"/>
            <c:spPr>
              <a:solidFill>
                <a:srgbClr val="52555A"/>
              </a:solidFill>
              <a:ln>
                <a:noFill/>
              </a:ln>
            </c:spPr>
          </c:dPt>
          <c:dPt>
            <c:idx val="2"/>
            <c:invertIfNegative val="0"/>
            <c:spPr>
              <a:solidFill>
                <a:srgbClr val="52555A"/>
              </a:solidFill>
              <a:ln>
                <a:noFill/>
              </a:ln>
            </c:spPr>
          </c:dPt>
          <c:dPt>
            <c:idx val="3"/>
            <c:invertIfNegative val="0"/>
            <c:spPr>
              <a:solidFill>
                <a:srgbClr val="1973EB"/>
              </a:solidFill>
              <a:ln>
                <a:noFill/>
              </a:ln>
            </c:spPr>
          </c:dPt>
          <c:dPt>
            <c:idx val="4"/>
            <c:invertIfNegative val="0"/>
            <c:spPr>
              <a:solidFill>
                <a:srgbClr val="1973EB"/>
              </a:solidFill>
              <a:ln>
                <a:noFill/>
              </a:ln>
            </c:spPr>
          </c:dPt>
          <c:cat>
            <c:strRef>
              <c:f>Sheet1!$A$2:$A$6</c:f>
              <c:strCache>
                <c:ptCount val="5"/>
                <c:pt idx="0">
                  <c:v>1（低）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5（高）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-1.773</c:v>
                </c:pt>
                <c:pt idx="1">
                  <c:v>-0.198</c:v>
                </c:pt>
                <c:pt idx="2">
                  <c:v>-0.25</c:v>
                </c:pt>
                <c:pt idx="3">
                  <c:v>0.456</c:v>
                </c:pt>
                <c:pt idx="4">
                  <c:v>1.164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sz="1150" b="1" lang="ja-JP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ABBBB"/>
            </a:solidFill>
          </a:ln>
        </c:spPr>
        <c:txPr>
          <a:bodyPr/>
          <a:lstStyle/>
          <a:p>
            <a:pPr>
              <a:def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.0"/>
          <c:min val="-2.5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100" b="0" lang="ja-JP">
          <a:solidFill>
            <a:srgbClr val="000000"/>
          </a:solidFill>
          <a:latin typeface="メイリオ"/>
          <a:ea typeface="メイリオ"/>
          <a:cs typeface="メイリオ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点数 上位 20%</c:v>
                </c:pt>
              </c:strCache>
            </c:strRef>
          </c:tx>
          <c:spPr>
            <a:ln w="28575">
              <a:solidFill>
                <a:srgbClr val="1973EB"/>
              </a:solidFill>
            </a:ln>
          </c:spPr>
          <c:marker>
            <c:symbol val="none"/>
          </c:marker>
          <c:cat>
            <c:strRef>
              <c:f>Sheet1!$A$2:$A$28</c:f>
              <c:strCache>
                <c:ptCount val="27"/>
                <c:pt idx="0">
                  <c:v>5 日前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発表日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5 日後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10 日後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15 日後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 日後</c:v>
                </c:pt>
                <c:pt idx="26">
                  <c:v/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0.07</c:v>
                </c:pt>
                <c:pt idx="1">
                  <c:v>0.245</c:v>
                </c:pt>
                <c:pt idx="2">
                  <c:v>0.306</c:v>
                </c:pt>
                <c:pt idx="3">
                  <c:v>0.382</c:v>
                </c:pt>
                <c:pt idx="4">
                  <c:v>0.542</c:v>
                </c:pt>
                <c:pt idx="5">
                  <c:v>1.811</c:v>
                </c:pt>
                <c:pt idx="6">
                  <c:v>1.808</c:v>
                </c:pt>
                <c:pt idx="7">
                  <c:v>1.916</c:v>
                </c:pt>
                <c:pt idx="8">
                  <c:v>2.0</c:v>
                </c:pt>
                <c:pt idx="9">
                  <c:v>2.027</c:v>
                </c:pt>
                <c:pt idx="10">
                  <c:v>1.992</c:v>
                </c:pt>
                <c:pt idx="11">
                  <c:v>2.067</c:v>
                </c:pt>
                <c:pt idx="12">
                  <c:v>2.065</c:v>
                </c:pt>
                <c:pt idx="13">
                  <c:v>2.12</c:v>
                </c:pt>
                <c:pt idx="14">
                  <c:v>2.119</c:v>
                </c:pt>
                <c:pt idx="15">
                  <c:v>2.149</c:v>
                </c:pt>
                <c:pt idx="16">
                  <c:v>2.142</c:v>
                </c:pt>
                <c:pt idx="17">
                  <c:v>2.104</c:v>
                </c:pt>
                <c:pt idx="18">
                  <c:v>2.259</c:v>
                </c:pt>
                <c:pt idx="19">
                  <c:v>2.228</c:v>
                </c:pt>
                <c:pt idx="20">
                  <c:v>2.178</c:v>
                </c:pt>
                <c:pt idx="21">
                  <c:v>2.238</c:v>
                </c:pt>
                <c:pt idx="22">
                  <c:v>2.352</c:v>
                </c:pt>
                <c:pt idx="23">
                  <c:v>2.333</c:v>
                </c:pt>
                <c:pt idx="24">
                  <c:v>2.404</c:v>
                </c:pt>
                <c:pt idx="25">
                  <c:v>2.382</c:v>
                </c:pt>
                <c:pt idx="26">
                  <c:v>2.329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中位 20%</c:v>
                </c:pt>
              </c:strCache>
            </c:strRef>
          </c:tx>
          <c:spPr>
            <a:ln w="28575">
              <a:solidFill>
                <a:srgbClr val="96999B"/>
              </a:solidFill>
            </a:ln>
          </c:spPr>
          <c:marker>
            <c:symbol val="none"/>
          </c:marker>
          <c:cat>
            <c:strRef>
              <c:f>Sheet1!$A$2:$A$28</c:f>
              <c:strCache>
                <c:ptCount val="27"/>
                <c:pt idx="0">
                  <c:v>5 日前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発表日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5 日後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10 日後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15 日後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 日後</c:v>
                </c:pt>
                <c:pt idx="26">
                  <c:v/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0.061</c:v>
                </c:pt>
                <c:pt idx="1">
                  <c:v>0.027</c:v>
                </c:pt>
                <c:pt idx="2">
                  <c:v>0.107</c:v>
                </c:pt>
                <c:pt idx="3">
                  <c:v>0.145</c:v>
                </c:pt>
                <c:pt idx="4">
                  <c:v>0.139</c:v>
                </c:pt>
                <c:pt idx="5">
                  <c:v>0.047</c:v>
                </c:pt>
                <c:pt idx="6">
                  <c:v>-0.087</c:v>
                </c:pt>
                <c:pt idx="7">
                  <c:v>-0.133</c:v>
                </c:pt>
                <c:pt idx="8">
                  <c:v>-0.147</c:v>
                </c:pt>
                <c:pt idx="9">
                  <c:v>-0.249</c:v>
                </c:pt>
                <c:pt idx="10">
                  <c:v>-0.307</c:v>
                </c:pt>
                <c:pt idx="11">
                  <c:v>-0.302</c:v>
                </c:pt>
                <c:pt idx="12">
                  <c:v>-0.304</c:v>
                </c:pt>
                <c:pt idx="13">
                  <c:v>-0.453</c:v>
                </c:pt>
                <c:pt idx="14">
                  <c:v>-0.482</c:v>
                </c:pt>
                <c:pt idx="15">
                  <c:v>-0.528</c:v>
                </c:pt>
                <c:pt idx="16">
                  <c:v>-0.525</c:v>
                </c:pt>
                <c:pt idx="17">
                  <c:v>-0.514</c:v>
                </c:pt>
                <c:pt idx="18">
                  <c:v>-0.518</c:v>
                </c:pt>
                <c:pt idx="19">
                  <c:v>-0.537</c:v>
                </c:pt>
                <c:pt idx="20">
                  <c:v>-0.437</c:v>
                </c:pt>
                <c:pt idx="21">
                  <c:v>-0.429</c:v>
                </c:pt>
                <c:pt idx="22">
                  <c:v>-0.393</c:v>
                </c:pt>
                <c:pt idx="23">
                  <c:v>-0.511</c:v>
                </c:pt>
                <c:pt idx="24">
                  <c:v>-0.454</c:v>
                </c:pt>
                <c:pt idx="25">
                  <c:v>-0.436</c:v>
                </c:pt>
                <c:pt idx="26">
                  <c:v>-0.412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下位 20%</c:v>
                </c:pt>
              </c:strCache>
            </c:strRef>
          </c:tx>
          <c:spPr>
            <a:ln w="28575">
              <a:solidFill>
                <a:srgbClr val="000000"/>
              </a:solidFill>
            </a:ln>
          </c:spPr>
          <c:marker>
            <c:symbol val="none"/>
          </c:marker>
          <c:cat>
            <c:strRef>
              <c:f>Sheet1!$A$2:$A$28</c:f>
              <c:strCache>
                <c:ptCount val="27"/>
                <c:pt idx="0">
                  <c:v>5 日前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発表日</c:v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>5 日後</c:v>
                </c:pt>
                <c:pt idx="11">
                  <c:v/>
                </c:pt>
                <c:pt idx="12">
                  <c:v/>
                </c:pt>
                <c:pt idx="13">
                  <c:v/>
                </c:pt>
                <c:pt idx="14">
                  <c:v/>
                </c:pt>
                <c:pt idx="15">
                  <c:v>10 日後</c:v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>15 日後</c:v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/>
                </c:pt>
                <c:pt idx="25">
                  <c:v>20 日後</c:v>
                </c:pt>
                <c:pt idx="26">
                  <c:v/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-0.182</c:v>
                </c:pt>
                <c:pt idx="1">
                  <c:v>-0.194</c:v>
                </c:pt>
                <c:pt idx="2">
                  <c:v>-0.159</c:v>
                </c:pt>
                <c:pt idx="3">
                  <c:v>-0.185</c:v>
                </c:pt>
                <c:pt idx="4">
                  <c:v>-0.245</c:v>
                </c:pt>
                <c:pt idx="5">
                  <c:v>-2.099</c:v>
                </c:pt>
                <c:pt idx="6">
                  <c:v>-2.207</c:v>
                </c:pt>
                <c:pt idx="7">
                  <c:v>-2.24</c:v>
                </c:pt>
                <c:pt idx="8">
                  <c:v>-2.2</c:v>
                </c:pt>
                <c:pt idx="9">
                  <c:v>-2.18</c:v>
                </c:pt>
                <c:pt idx="10">
                  <c:v>-2.159</c:v>
                </c:pt>
                <c:pt idx="11">
                  <c:v>-2.261</c:v>
                </c:pt>
                <c:pt idx="12">
                  <c:v>-2.232</c:v>
                </c:pt>
                <c:pt idx="13">
                  <c:v>-2.274</c:v>
                </c:pt>
                <c:pt idx="14">
                  <c:v>-2.211</c:v>
                </c:pt>
                <c:pt idx="15">
                  <c:v>-2.278</c:v>
                </c:pt>
                <c:pt idx="16">
                  <c:v>-2.331</c:v>
                </c:pt>
                <c:pt idx="17">
                  <c:v>-2.283</c:v>
                </c:pt>
                <c:pt idx="18">
                  <c:v>-2.323</c:v>
                </c:pt>
                <c:pt idx="19">
                  <c:v>-2.339</c:v>
                </c:pt>
                <c:pt idx="20">
                  <c:v>-2.302</c:v>
                </c:pt>
                <c:pt idx="21">
                  <c:v>-2.298</c:v>
                </c:pt>
                <c:pt idx="22">
                  <c:v>-2.273</c:v>
                </c:pt>
                <c:pt idx="23">
                  <c:v>-2.297</c:v>
                </c:pt>
                <c:pt idx="24">
                  <c:v>-2.302</c:v>
                </c:pt>
                <c:pt idx="25">
                  <c:v>-2.241</c:v>
                </c:pt>
                <c:pt idx="26">
                  <c:v>-2.239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sz="1050" b="0" lang="ja-JP">
                    <a:solidFill>
                      <a:srgbClr val="52555A"/>
                    </a:solidFill>
                    <a:latin typeface="メイリオ"/>
                    <a:ea typeface="メイリオ"/>
                    <a:cs typeface="メイリオ"/>
                  </a:rPr>
                  <a:t>発表からの日数（取引日）</a:t>
                </a:r>
              </a:p>
            </c:rich>
          </c:tx>
          <c:layout/>
          <c:overlay val="0"/>
        </c:title>
        <c:majorTickMark val="out"/>
        <c:minorTickMark val="none"/>
        <c:tickLblPos val="low"/>
        <c:spPr>
          <a:ln>
            <a:solidFill>
              <a:srgbClr val="BABBBB"/>
            </a:solidFill>
          </a:ln>
        </c:spPr>
        <c:txPr>
          <a:bodyPr/>
          <a:lstStyle/>
          <a:p>
            <a:pPr>
              <a:def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defRPr>
            </a:pPr>
          </a:p>
        </c:txPr>
        <c:crossAx val="2140495176"/>
        <c:crosses val="autoZero"/>
        <c:auto val="1"/>
        <c:lblAlgn val="ctr"/>
        <c:lblOffset val="100"/>
        <c:tickLblSkip val="5"/>
        <c:tickMarkSkip val="5"/>
        <c:noMultiLvlLbl val="0"/>
      </c:catAx>
      <c:valAx>
        <c:axId val="2140495176"/>
        <c:scaling>
          <c:max val="3.0"/>
          <c:min val="-3.0"/>
        </c:scaling>
        <c:delete val="0"/>
        <c:axPos val="l"/>
        <c:majorGridlines>
          <c:spPr>
            <a:ln>
              <a:solidFill>
                <a:srgbClr val="E3E4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50" b="0" lang="ja-JP">
                    <a:solidFill>
                      <a:srgbClr val="52555A"/>
                    </a:solidFill>
                    <a:latin typeface="メイリオ"/>
                    <a:ea typeface="メイリオ"/>
                    <a:cs typeface="メイリオ"/>
                  </a:rPr>
                  <a:t>同業種との差（累積、%）</a:t>
                </a:r>
              </a:p>
            </c:rich>
          </c:tx>
          <c:layout/>
          <c:overlay val="0"/>
        </c:title>
        <c:numFmt formatCode="+0&quot;%&quot;;-0&quot;%&quot;;0&quot;%&quot;" sourceLinked="0"/>
        <c:majorTickMark val="out"/>
        <c:minorTickMark val="none"/>
        <c:tickLblPos val="nextTo"/>
        <c:spPr>
          <a:ln>
            <a:solidFill>
              <a:srgbClr val="BABBBB"/>
            </a:solidFill>
          </a:ln>
        </c:spPr>
        <c:txPr>
          <a:bodyPr/>
          <a:lstStyle/>
          <a:p>
            <a:pPr>
              <a:def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defRPr>
            </a:pPr>
          </a:p>
        </c:txPr>
        <c:crossAx val="2118791784"/>
        <c:crosses val="autoZero"/>
        <c:majorUnit val="1.0"/>
      </c:valAx>
    </c:plotArea>
    <c:legend>
      <c:legendPos val="b"/>
      <c:layout/>
      <c:overlay val="0"/>
      <c:txPr>
        <a:bodyPr/>
        <a:lstStyle/>
        <a:p>
          <a:pPr>
            <a:defRPr sz="1100" b="0" lang="ja-JP">
              <a:solidFill>
                <a:srgbClr val="000000"/>
              </a:solidFill>
              <a:latin typeface="メイリオ"/>
              <a:ea typeface="メイリオ"/>
              <a:cs typeface="メイリオ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 lang="ja-JP">
          <a:solidFill>
            <a:srgbClr val="000000"/>
          </a:solidFill>
          <a:latin typeface="メイリオ"/>
          <a:ea typeface="メイリオ"/>
          <a:cs typeface="メイリオ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BLM（読み取りの見通し）</c:v>
                </c:pt>
              </c:strCache>
            </c:strRef>
          </c:tx>
          <c:spPr>
            <a:ln w="28575">
              <a:solidFill>
                <a:srgbClr val="1973EB"/>
              </a:solidFill>
            </a:ln>
          </c:spPr>
          <c:marker>
            <c:symbol val="none"/>
          </c:marker>
          <c:cat>
            <c:strRef>
              <c:f>Sheet1!$A$2:$A$119</c:f>
              <c:strCache>
                <c:ptCount val="118"/>
                <c:pt idx="0">
                  <c:v>2017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2018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2019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>2020</c:v>
                </c:pt>
                <c:pt idx="37">
                  <c:v/>
                </c:pt>
                <c:pt idx="38">
                  <c:v/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>2021</c:v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/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>2022</c:v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/>
                </c:pt>
                <c:pt idx="71">
                  <c:v/>
                </c:pt>
                <c:pt idx="72">
                  <c:v>2023</c:v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/>
                </c:pt>
                <c:pt idx="81">
                  <c:v/>
                </c:pt>
                <c:pt idx="82">
                  <c:v/>
                </c:pt>
                <c:pt idx="83">
                  <c:v/>
                </c:pt>
                <c:pt idx="84">
                  <c:v>2024</c:v>
                </c:pt>
                <c:pt idx="85">
                  <c:v/>
                </c:pt>
                <c:pt idx="86">
                  <c:v/>
                </c:pt>
                <c:pt idx="87">
                  <c:v/>
                </c:pt>
                <c:pt idx="88">
                  <c:v/>
                </c:pt>
                <c:pt idx="89">
                  <c:v/>
                </c:pt>
                <c:pt idx="90">
                  <c:v/>
                </c:pt>
                <c:pt idx="91">
                  <c:v/>
                </c:pt>
                <c:pt idx="92">
                  <c:v/>
                </c:pt>
                <c:pt idx="93">
                  <c:v/>
                </c:pt>
                <c:pt idx="94">
                  <c:v/>
                </c:pt>
                <c:pt idx="95">
                  <c:v/>
                </c:pt>
                <c:pt idx="96">
                  <c:v>2025</c:v>
                </c:pt>
                <c:pt idx="97">
                  <c:v/>
                </c:pt>
                <c:pt idx="98">
                  <c:v/>
                </c:pt>
                <c:pt idx="99">
                  <c:v/>
                </c:pt>
                <c:pt idx="100">
                  <c:v/>
                </c:pt>
                <c:pt idx="101">
                  <c:v/>
                </c:pt>
                <c:pt idx="102">
                  <c:v/>
                </c:pt>
                <c:pt idx="103">
                  <c:v/>
                </c:pt>
                <c:pt idx="104">
                  <c:v/>
                </c:pt>
                <c:pt idx="105">
                  <c:v/>
                </c:pt>
                <c:pt idx="106">
                  <c:v/>
                </c:pt>
                <c:pt idx="107">
                  <c:v/>
                </c:pt>
                <c:pt idx="108">
                  <c:v>2026</c:v>
                </c:pt>
                <c:pt idx="109">
                  <c:v/>
                </c:pt>
                <c:pt idx="110">
                  <c:v/>
                </c:pt>
                <c:pt idx="111">
                  <c:v/>
                </c:pt>
                <c:pt idx="112">
                  <c:v/>
                </c:pt>
                <c:pt idx="113">
                  <c:v/>
                </c:pt>
                <c:pt idx="114">
                  <c:v/>
                </c:pt>
                <c:pt idx="115">
                  <c:v/>
                </c:pt>
                <c:pt idx="116">
                  <c:v/>
                </c:pt>
                <c:pt idx="117">
                  <c:v/>
                </c:pt>
              </c:strCache>
            </c:strRef>
          </c:cat>
          <c:val>
            <c:numRef>
              <c:f>Sheet1!$B$2:$B$119</c:f>
              <c:numCache>
                <c:formatCode>General</c:formatCode>
                <c:ptCount val="118"/>
                <c:pt idx="0">
                  <c:v>1.0</c:v>
                </c:pt>
                <c:pt idx="1">
                  <c:v>1.014660833123972</c:v>
                </c:pt>
                <c:pt idx="2">
                  <c:v>1.0449449587038924</c:v>
                </c:pt>
                <c:pt idx="3">
                  <c:v>1.0537479233860887</c:v>
                </c:pt>
                <c:pt idx="4">
                  <c:v>1.0819207793175663</c:v>
                </c:pt>
                <c:pt idx="5">
                  <c:v>1.0507234782016661</c:v>
                </c:pt>
                <c:pt idx="6">
                  <c:v>1.0827797234177172</c:v>
                </c:pt>
                <c:pt idx="7">
                  <c:v>1.106839983757742</c:v>
                </c:pt>
                <c:pt idx="8">
                  <c:v>1.0907705307594318</c:v>
                </c:pt>
                <c:pt idx="9">
                  <c:v>1.166864208916332</c:v>
                </c:pt>
                <c:pt idx="10">
                  <c:v>1.196793310559215</c:v>
                </c:pt>
                <c:pt idx="11">
                  <c:v>1.211410609952783</c:v>
                </c:pt>
                <c:pt idx="12">
                  <c:v>1.198292031235686</c:v>
                </c:pt>
                <c:pt idx="13">
                  <c:v>1.2394245813852023</c:v>
                </c:pt>
                <c:pt idx="14">
                  <c:v>1.185812522712661</c:v>
                </c:pt>
                <c:pt idx="15">
                  <c:v>1.2133738959179987</c:v>
                </c:pt>
                <c:pt idx="16">
                  <c:v>1.2348363974492762</c:v>
                </c:pt>
                <c:pt idx="17">
                  <c:v>1.3173511577676462</c:v>
                </c:pt>
                <c:pt idx="18">
                  <c:v>1.3304917629041129</c:v>
                </c:pt>
                <c:pt idx="19">
                  <c:v>1.3571439889669266</c:v>
                </c:pt>
                <c:pt idx="20">
                  <c:v>1.435608286590384</c:v>
                </c:pt>
                <c:pt idx="21">
                  <c:v>1.416764523706613</c:v>
                </c:pt>
                <c:pt idx="22">
                  <c:v>1.2657266110000278</c:v>
                </c:pt>
                <c:pt idx="23">
                  <c:v>1.279581958822401</c:v>
                </c:pt>
                <c:pt idx="24">
                  <c:v>1.1312631631924628</c:v>
                </c:pt>
                <c:pt idx="25">
                  <c:v>1.2603370117341561</c:v>
                </c:pt>
                <c:pt idx="26">
                  <c:v>1.3431263601199577</c:v>
                </c:pt>
                <c:pt idx="27">
                  <c:v>1.3177884205058914</c:v>
                </c:pt>
                <c:pt idx="28">
                  <c:v>1.3690724144721516</c:v>
                </c:pt>
                <c:pt idx="29">
                  <c:v>1.2655303610507675</c:v>
                </c:pt>
                <c:pt idx="30">
                  <c:v>1.360485263189398</c:v>
                </c:pt>
                <c:pt idx="31">
                  <c:v>1.3699355267053992</c:v>
                </c:pt>
                <c:pt idx="32">
                  <c:v>1.2902773269020136</c:v>
                </c:pt>
                <c:pt idx="33">
                  <c:v>1.3143354627004662</c:v>
                </c:pt>
                <c:pt idx="34">
                  <c:v>1.3355923375726193</c:v>
                </c:pt>
                <c:pt idx="35">
                  <c:v>1.3977234678326758</c:v>
                </c:pt>
                <c:pt idx="36">
                  <c:v>1.4195528641725417</c:v>
                </c:pt>
                <c:pt idx="37">
                  <c:v>1.348552807073026</c:v>
                </c:pt>
                <c:pt idx="38">
                  <c:v>1.238277110600952</c:v>
                </c:pt>
                <c:pt idx="39">
                  <c:v>0.9583368689458395</c:v>
                </c:pt>
                <c:pt idx="40">
                  <c:v>1.125056682407178</c:v>
                </c:pt>
                <c:pt idx="41">
                  <c:v>1.207777994202779</c:v>
                </c:pt>
                <c:pt idx="42">
                  <c:v>1.265009521116936</c:v>
                </c:pt>
                <c:pt idx="43">
                  <c:v>1.3098216107565597</c:v>
                </c:pt>
                <c:pt idx="44">
                  <c:v>1.3710423764038637</c:v>
                </c:pt>
                <c:pt idx="45">
                  <c:v>1.3114607003423333</c:v>
                </c:pt>
                <c:pt idx="46">
                  <c:v>1.3589939870208099</c:v>
                </c:pt>
                <c:pt idx="47">
                  <c:v>1.6298221995598043</c:v>
                </c:pt>
                <c:pt idx="48">
                  <c:v>1.7726009797957922</c:v>
                </c:pt>
                <c:pt idx="49">
                  <c:v>1.8398309348687036</c:v>
                </c:pt>
                <c:pt idx="50">
                  <c:v>2.000445350131959</c:v>
                </c:pt>
                <c:pt idx="51">
                  <c:v>2.0813336223085006</c:v>
                </c:pt>
                <c:pt idx="52">
                  <c:v>2.1290500748405083</c:v>
                </c:pt>
                <c:pt idx="53">
                  <c:v>2.173344928244728</c:v>
                </c:pt>
                <c:pt idx="54">
                  <c:v>2.194928031666662</c:v>
                </c:pt>
                <c:pt idx="55">
                  <c:v>2.161450820005579</c:v>
                </c:pt>
                <c:pt idx="56">
                  <c:v>2.2154082696829693</c:v>
                </c:pt>
                <c:pt idx="57">
                  <c:v>2.1576013843813437</c:v>
                </c:pt>
                <c:pt idx="58">
                  <c:v>2.253446410327384</c:v>
                </c:pt>
                <c:pt idx="59">
                  <c:v>2.2065664816900092</c:v>
                </c:pt>
                <c:pt idx="60">
                  <c:v>2.2671100142514726</c:v>
                </c:pt>
                <c:pt idx="61">
                  <c:v>2.097437271931068</c:v>
                </c:pt>
                <c:pt idx="62">
                  <c:v>2.1073678132556055</c:v>
                </c:pt>
                <c:pt idx="63">
                  <c:v>2.141715071733443</c:v>
                </c:pt>
                <c:pt idx="64">
                  <c:v>1.9316255670059095</c:v>
                </c:pt>
                <c:pt idx="65">
                  <c:v>1.908445070689998</c:v>
                </c:pt>
                <c:pt idx="66">
                  <c:v>1.764102542902663</c:v>
                </c:pt>
                <c:pt idx="67">
                  <c:v>1.95643155685301</c:v>
                </c:pt>
                <c:pt idx="68">
                  <c:v>1.86625933366038</c:v>
                </c:pt>
                <c:pt idx="69">
                  <c:v>1.6746458412008978</c:v>
                </c:pt>
                <c:pt idx="70">
                  <c:v>1.8415628554913317</c:v>
                </c:pt>
                <c:pt idx="71">
                  <c:v>1.8832659808187906</c:v>
                </c:pt>
                <c:pt idx="72">
                  <c:v>1.769692301246956</c:v>
                </c:pt>
                <c:pt idx="73">
                  <c:v>1.9927099649148676</c:v>
                </c:pt>
                <c:pt idx="74">
                  <c:v>1.960810758900236</c:v>
                </c:pt>
                <c:pt idx="75">
                  <c:v>1.871956916163492</c:v>
                </c:pt>
                <c:pt idx="76">
                  <c:v>1.8177649356845205</c:v>
                </c:pt>
                <c:pt idx="77">
                  <c:v>1.8047991141709767</c:v>
                </c:pt>
                <c:pt idx="78">
                  <c:v>1.9345907743987556</c:v>
                </c:pt>
                <c:pt idx="79">
                  <c:v>2.066913487673094</c:v>
                </c:pt>
                <c:pt idx="80">
                  <c:v>1.9611196919270542</c:v>
                </c:pt>
                <c:pt idx="81">
                  <c:v>1.8525510713047437</c:v>
                </c:pt>
                <c:pt idx="82">
                  <c:v>1.7154825751549259</c:v>
                </c:pt>
                <c:pt idx="83">
                  <c:v>1.8926603974457088</c:v>
                </c:pt>
                <c:pt idx="84">
                  <c:v>2.1277451362575976</c:v>
                </c:pt>
                <c:pt idx="85">
                  <c:v>2.0466888261612644</c:v>
                </c:pt>
                <c:pt idx="86">
                  <c:v>2.156508092827942</c:v>
                </c:pt>
                <c:pt idx="87">
                  <c:v>2.2662720491518913</c:v>
                </c:pt>
                <c:pt idx="88">
                  <c:v>2.129746574996237</c:v>
                </c:pt>
                <c:pt idx="89">
                  <c:v>2.3044536051942304</c:v>
                </c:pt>
                <c:pt idx="90">
                  <c:v>2.273373134655238</c:v>
                </c:pt>
                <c:pt idx="91">
                  <c:v>2.509378931549783</c:v>
                </c:pt>
                <c:pt idx="92">
                  <c:v>2.5064931006010074</c:v>
                </c:pt>
                <c:pt idx="93">
                  <c:v>2.5657103606450717</c:v>
                </c:pt>
                <c:pt idx="94">
                  <c:v>2.5676661410006503</c:v>
                </c:pt>
                <c:pt idx="95">
                  <c:v>2.978795773427733</c:v>
                </c:pt>
                <c:pt idx="96">
                  <c:v>2.7882829624749674</c:v>
                </c:pt>
                <c:pt idx="97">
                  <c:v>2.846364392616726</c:v>
                </c:pt>
                <c:pt idx="98">
                  <c:v>2.6471853813410986</c:v>
                </c:pt>
                <c:pt idx="99">
                  <c:v>2.475258908122058</c:v>
                </c:pt>
                <c:pt idx="100">
                  <c:v>2.430406806233563</c:v>
                </c:pt>
                <c:pt idx="101">
                  <c:v>2.5633886523578435</c:v>
                </c:pt>
                <c:pt idx="102">
                  <c:v>2.734449441842871</c:v>
                </c:pt>
                <c:pt idx="103">
                  <c:v>2.7923599744612875</c:v>
                </c:pt>
                <c:pt idx="104">
                  <c:v>3.0878606452687896</c:v>
                </c:pt>
                <c:pt idx="105">
                  <c:v>3.161704472388298</c:v>
                </c:pt>
                <c:pt idx="106">
                  <c:v>3.1521538765366297</c:v>
                </c:pt>
                <c:pt idx="107">
                  <c:v>3.2106266957366154</c:v>
                </c:pt>
                <c:pt idx="108">
                  <c:v>3.2601771639924833</c:v>
                </c:pt>
                <c:pt idx="109">
                  <c:v>3.438144469293721</c:v>
                </c:pt>
                <c:pt idx="110">
                  <c:v>3.4909356582377713</c:v>
                </c:pt>
                <c:pt idx="111">
                  <c:v>3.285725675139962</c:v>
                </c:pt>
                <c:pt idx="112">
                  <c:v>3.6285769529046514</c:v>
                </c:pt>
                <c:pt idx="113">
                  <c:v>3.7712343238774095</c:v>
                </c:pt>
                <c:pt idx="114">
                  <c:v>3.992125157504437</c:v>
                </c:pt>
                <c:pt idx="115">
                  <c:v>3.958083672118523</c:v>
                </c:pt>
                <c:pt idx="116">
                  <c:v>4.000639540095608</c:v>
                </c:pt>
                <c:pt idx="117">
                  <c:v>3.762424693024746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比較対象（範囲の全社）</c:v>
                </c:pt>
              </c:strCache>
            </c:strRef>
          </c:tx>
          <c:spPr>
            <a:ln w="28575">
              <a:solidFill>
                <a:srgbClr val="52555A"/>
              </a:solidFill>
            </a:ln>
          </c:spPr>
          <c:marker>
            <c:symbol val="none"/>
          </c:marker>
          <c:cat>
            <c:strRef>
              <c:f>Sheet1!$A$2:$A$119</c:f>
              <c:strCache>
                <c:ptCount val="118"/>
                <c:pt idx="0">
                  <c:v>2017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/>
                </c:pt>
                <c:pt idx="7">
                  <c:v/>
                </c:pt>
                <c:pt idx="8">
                  <c:v/>
                </c:pt>
                <c:pt idx="9">
                  <c:v/>
                </c:pt>
                <c:pt idx="10">
                  <c:v/>
                </c:pt>
                <c:pt idx="11">
                  <c:v/>
                </c:pt>
                <c:pt idx="12">
                  <c:v>2018</c:v>
                </c:pt>
                <c:pt idx="13">
                  <c:v/>
                </c:pt>
                <c:pt idx="14">
                  <c:v/>
                </c:pt>
                <c:pt idx="15">
                  <c:v/>
                </c:pt>
                <c:pt idx="16">
                  <c:v/>
                </c:pt>
                <c:pt idx="17">
                  <c:v/>
                </c:pt>
                <c:pt idx="18">
                  <c:v/>
                </c:pt>
                <c:pt idx="19">
                  <c:v/>
                </c:pt>
                <c:pt idx="20">
                  <c:v/>
                </c:pt>
                <c:pt idx="21">
                  <c:v/>
                </c:pt>
                <c:pt idx="22">
                  <c:v/>
                </c:pt>
                <c:pt idx="23">
                  <c:v/>
                </c:pt>
                <c:pt idx="24">
                  <c:v>2019</c:v>
                </c:pt>
                <c:pt idx="25">
                  <c:v/>
                </c:pt>
                <c:pt idx="26">
                  <c:v/>
                </c:pt>
                <c:pt idx="27">
                  <c:v/>
                </c:pt>
                <c:pt idx="28">
                  <c:v/>
                </c:pt>
                <c:pt idx="29">
                  <c:v/>
                </c:pt>
                <c:pt idx="30">
                  <c:v/>
                </c:pt>
                <c:pt idx="31">
                  <c:v/>
                </c:pt>
                <c:pt idx="32">
                  <c:v/>
                </c:pt>
                <c:pt idx="33">
                  <c:v/>
                </c:pt>
                <c:pt idx="34">
                  <c:v/>
                </c:pt>
                <c:pt idx="35">
                  <c:v/>
                </c:pt>
                <c:pt idx="36">
                  <c:v>2020</c:v>
                </c:pt>
                <c:pt idx="37">
                  <c:v/>
                </c:pt>
                <c:pt idx="38">
                  <c:v/>
                </c:pt>
                <c:pt idx="39">
                  <c:v/>
                </c:pt>
                <c:pt idx="40">
                  <c:v/>
                </c:pt>
                <c:pt idx="41">
                  <c:v/>
                </c:pt>
                <c:pt idx="42">
                  <c:v/>
                </c:pt>
                <c:pt idx="43">
                  <c:v/>
                </c:pt>
                <c:pt idx="44">
                  <c:v/>
                </c:pt>
                <c:pt idx="45">
                  <c:v/>
                </c:pt>
                <c:pt idx="46">
                  <c:v/>
                </c:pt>
                <c:pt idx="47">
                  <c:v/>
                </c:pt>
                <c:pt idx="48">
                  <c:v>2021</c:v>
                </c:pt>
                <c:pt idx="49">
                  <c:v/>
                </c:pt>
                <c:pt idx="50">
                  <c:v/>
                </c:pt>
                <c:pt idx="51">
                  <c:v/>
                </c:pt>
                <c:pt idx="52">
                  <c:v/>
                </c:pt>
                <c:pt idx="53">
                  <c:v/>
                </c:pt>
                <c:pt idx="54">
                  <c:v/>
                </c:pt>
                <c:pt idx="55">
                  <c:v/>
                </c:pt>
                <c:pt idx="56">
                  <c:v/>
                </c:pt>
                <c:pt idx="57">
                  <c:v/>
                </c:pt>
                <c:pt idx="58">
                  <c:v/>
                </c:pt>
                <c:pt idx="59">
                  <c:v/>
                </c:pt>
                <c:pt idx="60">
                  <c:v>2022</c:v>
                </c:pt>
                <c:pt idx="61">
                  <c:v/>
                </c:pt>
                <c:pt idx="62">
                  <c:v/>
                </c:pt>
                <c:pt idx="63">
                  <c:v/>
                </c:pt>
                <c:pt idx="64">
                  <c:v/>
                </c:pt>
                <c:pt idx="65">
                  <c:v/>
                </c:pt>
                <c:pt idx="66">
                  <c:v/>
                </c:pt>
                <c:pt idx="67">
                  <c:v/>
                </c:pt>
                <c:pt idx="68">
                  <c:v/>
                </c:pt>
                <c:pt idx="69">
                  <c:v/>
                </c:pt>
                <c:pt idx="70">
                  <c:v/>
                </c:pt>
                <c:pt idx="71">
                  <c:v/>
                </c:pt>
                <c:pt idx="72">
                  <c:v>2023</c:v>
                </c:pt>
                <c:pt idx="73">
                  <c:v/>
                </c:pt>
                <c:pt idx="74">
                  <c:v/>
                </c:pt>
                <c:pt idx="75">
                  <c:v/>
                </c:pt>
                <c:pt idx="76">
                  <c:v/>
                </c:pt>
                <c:pt idx="77">
                  <c:v/>
                </c:pt>
                <c:pt idx="78">
                  <c:v/>
                </c:pt>
                <c:pt idx="79">
                  <c:v/>
                </c:pt>
                <c:pt idx="80">
                  <c:v/>
                </c:pt>
                <c:pt idx="81">
                  <c:v/>
                </c:pt>
                <c:pt idx="82">
                  <c:v/>
                </c:pt>
                <c:pt idx="83">
                  <c:v/>
                </c:pt>
                <c:pt idx="84">
                  <c:v>2024</c:v>
                </c:pt>
                <c:pt idx="85">
                  <c:v/>
                </c:pt>
                <c:pt idx="86">
                  <c:v/>
                </c:pt>
                <c:pt idx="87">
                  <c:v/>
                </c:pt>
                <c:pt idx="88">
                  <c:v/>
                </c:pt>
                <c:pt idx="89">
                  <c:v/>
                </c:pt>
                <c:pt idx="90">
                  <c:v/>
                </c:pt>
                <c:pt idx="91">
                  <c:v/>
                </c:pt>
                <c:pt idx="92">
                  <c:v/>
                </c:pt>
                <c:pt idx="93">
                  <c:v/>
                </c:pt>
                <c:pt idx="94">
                  <c:v/>
                </c:pt>
                <c:pt idx="95">
                  <c:v/>
                </c:pt>
                <c:pt idx="96">
                  <c:v>2025</c:v>
                </c:pt>
                <c:pt idx="97">
                  <c:v/>
                </c:pt>
                <c:pt idx="98">
                  <c:v/>
                </c:pt>
                <c:pt idx="99">
                  <c:v/>
                </c:pt>
                <c:pt idx="100">
                  <c:v/>
                </c:pt>
                <c:pt idx="101">
                  <c:v/>
                </c:pt>
                <c:pt idx="102">
                  <c:v/>
                </c:pt>
                <c:pt idx="103">
                  <c:v/>
                </c:pt>
                <c:pt idx="104">
                  <c:v/>
                </c:pt>
                <c:pt idx="105">
                  <c:v/>
                </c:pt>
                <c:pt idx="106">
                  <c:v/>
                </c:pt>
                <c:pt idx="107">
                  <c:v/>
                </c:pt>
                <c:pt idx="108">
                  <c:v>2026</c:v>
                </c:pt>
                <c:pt idx="109">
                  <c:v/>
                </c:pt>
                <c:pt idx="110">
                  <c:v/>
                </c:pt>
                <c:pt idx="111">
                  <c:v/>
                </c:pt>
                <c:pt idx="112">
                  <c:v/>
                </c:pt>
                <c:pt idx="113">
                  <c:v/>
                </c:pt>
                <c:pt idx="114">
                  <c:v/>
                </c:pt>
                <c:pt idx="115">
                  <c:v/>
                </c:pt>
                <c:pt idx="116">
                  <c:v/>
                </c:pt>
                <c:pt idx="117">
                  <c:v/>
                </c:pt>
              </c:strCache>
            </c:strRef>
          </c:cat>
          <c:val>
            <c:numRef>
              <c:f>Sheet1!$C$2:$C$119</c:f>
              <c:numCache>
                <c:formatCode>General</c:formatCode>
                <c:ptCount val="118"/>
                <c:pt idx="0">
                  <c:v>1.0</c:v>
                </c:pt>
                <c:pt idx="1">
                  <c:v>1.0081608049277557</c:v>
                </c:pt>
                <c:pt idx="2">
                  <c:v>1.032864370810267</c:v>
                </c:pt>
                <c:pt idx="3">
                  <c:v>1.0350423471501342</c:v>
                </c:pt>
                <c:pt idx="4">
                  <c:v>1.0564415527846764</c:v>
                </c:pt>
                <c:pt idx="5">
                  <c:v>1.0362367353247384</c:v>
                </c:pt>
                <c:pt idx="6">
                  <c:v>1.0678457093090892</c:v>
                </c:pt>
                <c:pt idx="7">
                  <c:v>1.0803386249293592</c:v>
                </c:pt>
                <c:pt idx="8">
                  <c:v>1.0643890119601092</c:v>
                </c:pt>
                <c:pt idx="9">
                  <c:v>1.137651105170504</c:v>
                </c:pt>
                <c:pt idx="10">
                  <c:v>1.156250751635124</c:v>
                </c:pt>
                <c:pt idx="11">
                  <c:v>1.182652088868573</c:v>
                </c:pt>
                <c:pt idx="12">
                  <c:v>1.162290291771944</c:v>
                </c:pt>
                <c:pt idx="13">
                  <c:v>1.1969812913923774</c:v>
                </c:pt>
                <c:pt idx="14">
                  <c:v>1.1484150938678506</c:v>
                </c:pt>
                <c:pt idx="15">
                  <c:v>1.1648590811472934</c:v>
                </c:pt>
                <c:pt idx="16">
                  <c:v>1.169289587883576</c:v>
                </c:pt>
                <c:pt idx="17">
                  <c:v>1.2468829119346372</c:v>
                </c:pt>
                <c:pt idx="18">
                  <c:v>1.2668009725560887</c:v>
                </c:pt>
                <c:pt idx="19">
                  <c:v>1.2989930170259458</c:v>
                </c:pt>
                <c:pt idx="20">
                  <c:v>1.3519303409091588</c:v>
                </c:pt>
                <c:pt idx="21">
                  <c:v>1.3300353034700352</c:v>
                </c:pt>
                <c:pt idx="22">
                  <c:v>1.1834666482737422</c:v>
                </c:pt>
                <c:pt idx="23">
                  <c:v>1.2099144246403803</c:v>
                </c:pt>
                <c:pt idx="24">
                  <c:v>1.0685115571355126</c:v>
                </c:pt>
                <c:pt idx="25">
                  <c:v>1.1997428557390004</c:v>
                </c:pt>
                <c:pt idx="26">
                  <c:v>1.2714126905793295</c:v>
                </c:pt>
                <c:pt idx="27">
                  <c:v>1.2435218955491711</c:v>
                </c:pt>
                <c:pt idx="28">
                  <c:v>1.2940802553778323</c:v>
                </c:pt>
                <c:pt idx="29">
                  <c:v>1.1789166409782326</c:v>
                </c:pt>
                <c:pt idx="30">
                  <c:v>1.2711042712797203</c:v>
                </c:pt>
                <c:pt idx="31">
                  <c:v>1.2758402110819023</c:v>
                </c:pt>
                <c:pt idx="32">
                  <c:v>1.2084966633491592</c:v>
                </c:pt>
                <c:pt idx="33">
                  <c:v>1.2446263563184718</c:v>
                </c:pt>
                <c:pt idx="34">
                  <c:v>1.2629285480846946</c:v>
                </c:pt>
                <c:pt idx="35">
                  <c:v>1.3153645667479938</c:v>
                </c:pt>
                <c:pt idx="36">
                  <c:v>1.3491092358539907</c:v>
                </c:pt>
                <c:pt idx="37">
                  <c:v>1.2932633657411903</c:v>
                </c:pt>
                <c:pt idx="38">
                  <c:v>1.1801013326468552</c:v>
                </c:pt>
                <c:pt idx="39">
                  <c:v>0.9214048715380357</c:v>
                </c:pt>
                <c:pt idx="40">
                  <c:v>1.094038579003446</c:v>
                </c:pt>
                <c:pt idx="41">
                  <c:v>1.1730322535640196</c:v>
                </c:pt>
                <c:pt idx="42">
                  <c:v>1.2258792650745156</c:v>
                </c:pt>
                <c:pt idx="43">
                  <c:v>1.2613535787544818</c:v>
                </c:pt>
                <c:pt idx="44">
                  <c:v>1.3289061833642855</c:v>
                </c:pt>
                <c:pt idx="45">
                  <c:v>1.2667053868254725</c:v>
                </c:pt>
                <c:pt idx="46">
                  <c:v>1.2943395412868643</c:v>
                </c:pt>
                <c:pt idx="47">
                  <c:v>1.5688413681102908</c:v>
                </c:pt>
                <c:pt idx="48">
                  <c:v>1.7082774467432582</c:v>
                </c:pt>
                <c:pt idx="49">
                  <c:v>1.797189755580519</c:v>
                </c:pt>
                <c:pt idx="50">
                  <c:v>1.931810485682912</c:v>
                </c:pt>
                <c:pt idx="51">
                  <c:v>1.991466070378745</c:v>
                </c:pt>
                <c:pt idx="52">
                  <c:v>2.0346775232491745</c:v>
                </c:pt>
                <c:pt idx="53">
                  <c:v>2.0804335554172186</c:v>
                </c:pt>
                <c:pt idx="54">
                  <c:v>2.0920705121987773</c:v>
                </c:pt>
                <c:pt idx="55">
                  <c:v>2.0366498853908412</c:v>
                </c:pt>
                <c:pt idx="56">
                  <c:v>2.0839829471356954</c:v>
                </c:pt>
                <c:pt idx="57">
                  <c:v>2.0439494304277384</c:v>
                </c:pt>
                <c:pt idx="58">
                  <c:v>2.1232041981502348</c:v>
                </c:pt>
                <c:pt idx="59">
                  <c:v>2.05656266927062</c:v>
                </c:pt>
                <c:pt idx="60">
                  <c:v>2.109784354547264</c:v>
                </c:pt>
                <c:pt idx="61">
                  <c:v>1.9507574252672857</c:v>
                </c:pt>
                <c:pt idx="62">
                  <c:v>1.9598191416930275</c:v>
                </c:pt>
                <c:pt idx="63">
                  <c:v>1.996032959039718</c:v>
                </c:pt>
                <c:pt idx="64">
                  <c:v>1.7863469037670294</c:v>
                </c:pt>
                <c:pt idx="65">
                  <c:v>1.7847686146037274</c:v>
                </c:pt>
                <c:pt idx="66">
                  <c:v>1.6523532443746614</c:v>
                </c:pt>
                <c:pt idx="67">
                  <c:v>1.8281657327293293</c:v>
                </c:pt>
                <c:pt idx="68">
                  <c:v>1.7620465666498677</c:v>
                </c:pt>
                <c:pt idx="69">
                  <c:v>1.57795132710304</c:v>
                </c:pt>
                <c:pt idx="70">
                  <c:v>1.7482711474509878</c:v>
                </c:pt>
                <c:pt idx="71">
                  <c:v>1.8028429567259974</c:v>
                </c:pt>
                <c:pt idx="72">
                  <c:v>1.688882292546813</c:v>
                </c:pt>
                <c:pt idx="73">
                  <c:v>1.911939219760665</c:v>
                </c:pt>
                <c:pt idx="74">
                  <c:v>1.868835423133241</c:v>
                </c:pt>
                <c:pt idx="75">
                  <c:v>1.79297470728697</c:v>
                </c:pt>
                <c:pt idx="76">
                  <c:v>1.742413828328454</c:v>
                </c:pt>
                <c:pt idx="77">
                  <c:v>1.7310182250063557</c:v>
                </c:pt>
                <c:pt idx="78">
                  <c:v>1.8736715739055139</c:v>
                </c:pt>
                <c:pt idx="79">
                  <c:v>2.0067220743689185</c:v>
                </c:pt>
                <c:pt idx="80">
                  <c:v>1.8952073770939992</c:v>
                </c:pt>
                <c:pt idx="81">
                  <c:v>1.7737092882207264</c:v>
                </c:pt>
                <c:pt idx="82">
                  <c:v>1.6490953135980924</c:v>
                </c:pt>
                <c:pt idx="83">
                  <c:v>1.8097810124967004</c:v>
                </c:pt>
                <c:pt idx="84">
                  <c:v>2.0468080651875447</c:v>
                </c:pt>
                <c:pt idx="85">
                  <c:v>1.9535957017423582</c:v>
                </c:pt>
                <c:pt idx="86">
                  <c:v>2.0431606808698133</c:v>
                </c:pt>
                <c:pt idx="87">
                  <c:v>2.1124104807533595</c:v>
                </c:pt>
                <c:pt idx="88">
                  <c:v>1.969446964895265</c:v>
                </c:pt>
                <c:pt idx="89">
                  <c:v>2.0815471835095347</c:v>
                </c:pt>
                <c:pt idx="90">
                  <c:v>2.0403788481160166</c:v>
                </c:pt>
                <c:pt idx="91">
                  <c:v>2.2421048995116917</c:v>
                </c:pt>
                <c:pt idx="92">
                  <c:v>2.203970454032327</c:v>
                </c:pt>
                <c:pt idx="93">
                  <c:v>2.239417455416652</c:v>
                </c:pt>
                <c:pt idx="94">
                  <c:v>2.2039268635738085</c:v>
                </c:pt>
                <c:pt idx="95">
                  <c:v>2.4861785735687567</c:v>
                </c:pt>
                <c:pt idx="96">
                  <c:v>2.339539462574128</c:v>
                </c:pt>
                <c:pt idx="97">
                  <c:v>2.3962198191578756</c:v>
                </c:pt>
                <c:pt idx="98">
                  <c:v>2.240617106673064</c:v>
                </c:pt>
                <c:pt idx="99">
                  <c:v>2.077156611691328</c:v>
                </c:pt>
                <c:pt idx="100">
                  <c:v>2.0159044827784496</c:v>
                </c:pt>
                <c:pt idx="101">
                  <c:v>2.1294758171207855</c:v>
                </c:pt>
                <c:pt idx="102">
                  <c:v>2.2635145298033907</c:v>
                </c:pt>
                <c:pt idx="103">
                  <c:v>2.297917427990067</c:v>
                </c:pt>
                <c:pt idx="104">
                  <c:v>2.490322228540132</c:v>
                </c:pt>
                <c:pt idx="105">
                  <c:v>2.532937925395841</c:v>
                </c:pt>
                <c:pt idx="106">
                  <c:v>2.5260578569396563</c:v>
                </c:pt>
                <c:pt idx="107">
                  <c:v>2.5678544622134054</c:v>
                </c:pt>
                <c:pt idx="108">
                  <c:v>2.5798059463227</c:v>
                </c:pt>
                <c:pt idx="109">
                  <c:v>2.7123547688082486</c:v>
                </c:pt>
                <c:pt idx="110">
                  <c:v>2.735928818024673</c:v>
                </c:pt>
                <c:pt idx="111">
                  <c:v>2.628336757634364</c:v>
                </c:pt>
                <c:pt idx="112">
                  <c:v>2.9015355285092954</c:v>
                </c:pt>
                <c:pt idx="113">
                  <c:v>3.0512643270680004</c:v>
                </c:pt>
                <c:pt idx="114">
                  <c:v>3.19115506102886</c:v>
                </c:pt>
                <c:pt idx="115">
                  <c:v>3.1515276530552088</c:v>
                </c:pt>
                <c:pt idx="116">
                  <c:v>3.192269848602443</c:v>
                </c:pt>
                <c:pt idx="117">
                  <c:v>3.0018989889772487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spPr>
          <a:ln>
            <a:solidFill>
              <a:srgbClr val="BABBBB"/>
            </a:solidFill>
          </a:ln>
        </c:spPr>
        <c:txPr>
          <a:bodyPr/>
          <a:lstStyle/>
          <a:p>
            <a:pPr>
              <a:def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defRPr>
            </a:pPr>
          </a:p>
        </c:txPr>
        <c:crossAx val="2140495176"/>
        <c:crosses val="autoZero"/>
        <c:auto val="1"/>
        <c:lblAlgn val="ctr"/>
        <c:lblOffset val="100"/>
        <c:tickLblSkip val="12"/>
        <c:tickMarkSkip val="12"/>
        <c:noMultiLvlLbl val="0"/>
      </c:catAx>
      <c:valAx>
        <c:axId val="2140495176"/>
        <c:scaling>
          <c:max val="5.0"/>
          <c:min val="0.0"/>
        </c:scaling>
        <c:delete val="0"/>
        <c:axPos val="l"/>
        <c:majorGridlines>
          <c:spPr>
            <a:ln>
              <a:solidFill>
                <a:srgbClr val="E3E4E3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050" b="0" lang="ja-JP">
                    <a:solidFill>
                      <a:srgbClr val="52555A"/>
                    </a:solidFill>
                    <a:latin typeface="メイリオ"/>
                    <a:ea typeface="メイリオ"/>
                    <a:cs typeface="メイリオ"/>
                  </a:rPr>
                  <a:t>資産（2016 年末＝1）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>
            <a:solidFill>
              <a:srgbClr val="BABBBB"/>
            </a:solidFill>
          </a:ln>
        </c:spPr>
        <c:txPr>
          <a:bodyPr/>
          <a:lstStyle/>
          <a:p>
            <a:pPr>
              <a:def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defRPr>
            </a:pPr>
          </a:p>
        </c:txPr>
        <c:crossAx val="2118791784"/>
        <c:crosses val="autoZero"/>
        <c:majorUnit val="1.0"/>
      </c:valAx>
    </c:plotArea>
    <c:legend>
      <c:legendPos val="b"/>
      <c:layout/>
      <c:overlay val="0"/>
      <c:txPr>
        <a:bodyPr/>
        <a:lstStyle/>
        <a:p>
          <a:pPr>
            <a:defRPr sz="1100" b="0" lang="ja-JP">
              <a:solidFill>
                <a:srgbClr val="000000"/>
              </a:solidFill>
              <a:latin typeface="メイリオ"/>
              <a:ea typeface="メイリオ"/>
              <a:cs typeface="メイリオ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100" b="0" lang="ja-JP">
          <a:solidFill>
            <a:srgbClr val="000000"/>
          </a:solidFill>
          <a:latin typeface="メイリオ"/>
          <a:ea typeface="メイリオ"/>
          <a:cs typeface="メイリオ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7FD3A03-8659-4152-9B8F-7B0DD20BC6B1}" type="datetimeFigureOut">
              <a:rPr kumimoji="1" lang="ja-JP" altLang="en-US" smtClean="0"/>
              <a:t>2026/10/13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7DB54F-0B18-4EE3-9F53-46B6494808F3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384486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AI に株を選ばせたら儲かるか、という研究の発表です。10 月 9 日から 27 日までに調べた結果を、7 分で話します。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最初に結論です。数字だけを見せると、AI は先月の動きをまねするだけでした。決算の文章を読ませると、発表直後の株価と合う点数を付けられました。でも大型株では、市場もその日のうちに読んでいて儲かりません。小型株では 2 つの標本で勝てましたが、まだ見ていない 3 つ目の標本では確かめられませんでした。最後まで残ったのは、値動きの荒さ、つまりリスクの予測です。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Black-Litterman モデルは、市場の平均的な見方から出発して、予想に自信がある分だけ比率をずらす方法です。元の論文は、AI に過去 1 か月の値動きを見せて来月を予想させ、これに入れると勝てたと報告しています。再現すると、AI の予想は先月の値動きと相関 0.89 で、ほぼ写しているだけでした。それを除いた AI ならではの当たりはほぼ 0。しかも自信が強すぎて、市場の見方を 99.9% 捨てていました。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そこで、AI が得意な文章を読ませることにしました。決算発表は会社が 3 か月ごとに出す成績表で、出た直後に株価が大きく動きます。gpt-4o-mini に読ませて採点させると、点数の高い発表ほど 2 日間の株価が上がり、上と下の 2 割で約 2.9% の差がありました。t 値は 9.4 で、偶然ではまず起きません。ズルをしないように、株価の反応を計算する前に計画とプログラムを固定して、1 回だけ実行しています。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情報工学として一番面白いのがこの比較です。同じ発表文を 7 つの方法で数にして、株価の動きをどれだけ説明できるかを比べました。学習させたモデルは、どれも発表直後 2 日の株価の動きを正解にしています。一番強かったのは、学習させていない gpt-4o-mini でした。FinBERT は、全体を株価で追加学習させると 4 倍ほど伸びました。一方、ChronoGPT の中まで LoRA で学習させると、中を動かさずにリッジ回帰を置くだけの方法に負けました。約 1 万 4 千本の発表に対して、学習する重みが 256 万個と多すぎたためと考えています。また、2015 年までの文章しか知らない ChronoGPT でも、従来の方法 3 つを合わせたものに勝ちました。答えを覚えていたのではない、という確認にもなっています。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では儲かるか。左のグラフは、AI の点数で発表を 3 グループに分け、発表の 5 日前から 20 日後まで、同じ業種の株と比べて何 % 上がったかを足し上げたものです。点数の高い発表は上がり、低い発表は下がりますが、動くのはほぼ発表の日だけで、そのあとは横ばいです。翌日に買ってもほぼ動かず、毎月組み替えて約 10 年運用しても市場の平均とほぼ同じ、毎日組み替えると手数料で年マイナス 20% でした。AI が読めることは、市場もその日のうちに読んでいます。そこで、注目が少なく、情報がゆっくり株価に入る小型株に移りました。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米国の小型株 1,000 社、約 1 万 2 千本の決算発表で、先読みのない ChronoGPT とリッジの点数を使いました。事前登録した検定で、点数は発表後 2〜60 日の値動き、つまりドリフトと、値動きの荒さを予測しました。どちらも、重ならない別の 1,000 社で再現しています。そこで、この点数を BLM の見通しに入れ、四半期ごとに組み直しました。右のグラフが資産の推移です。2016 年末を 1 とすると、売買の費用を引いた後で、BLM は約 3.8 倍、範囲の全社を時価総額に比例して持つ相手は 3.0 倍でした。年にすると 2.4% の差です。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前のページの勝ちが AI の読み取りのおかげかを、3 つ確かめました。1 つ目、点数を銘柄の間でシャッフルした偽物を 100 回作ると、本物に届いたものは 1 回もありません。2 つ目、規模や割安さ、モメンタムといった、よく知られた要因を除いても年 1.6〜1.9% 残りました。3 つ目、ただし費用には弱く、片道 1% にすると有意でなくなります。この 2 つの標本は何度も調べたので、ここまでは探索です。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そこで、まだ一度も使っていない残りの 400 社で、規則を先に固定して 1 回だけ検定しました。400 社では検出力が 7 割ほどしかないことも、先に書いておきました。結果、BLM の勝ちは年 0.74% で、有意ではありませんでした。表の真ん中の行を見ると、その前の段階のドリフトの予測も、この 400 社では弱かった。つまり組み方ではなく、予測そのものが標本によって変わります。一方、値動きの荒さの予測は、3 つの標本すべてで成り立ちました。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まとめです。AI は決算の文章を読めます。ただし大型株では、その情報は発表の日に株価に入ります。小型株では、値動きの荒さの予測は 3 つの標本すべてで成り立ちましたが、BLM で勝てることは、事前登録した検定では確かめられませんでした。学んだのは、事前登録すると、うまくいかなかったことも隠せない、ということです。今後は、確かに残ったリスクの予測を運用の管理に使うこと、11 月以降のまだ誰も見ていない決算で確かめることを考えています。以上です。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93875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7338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29783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baseline="0">
                <a:latin typeface="メイリオ" panose="020B0604030504040204" pitchFamily="34" charset="-128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80" y="2633472"/>
            <a:ext cx="5212080" cy="3566160"/>
          </a:xfrm>
        </p:spPr>
        <p:txBody>
          <a:bodyPr/>
          <a:lstStyle>
            <a:lvl1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1pPr>
            <a:lvl2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2pPr>
            <a:lvl3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3pPr>
            <a:lvl4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4pPr>
            <a:lvl5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318928" y="2633472"/>
            <a:ext cx="5212080" cy="3566160"/>
          </a:xfrm>
        </p:spPr>
        <p:txBody>
          <a:bodyPr/>
          <a:lstStyle>
            <a:lvl1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1pPr>
            <a:lvl2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2pPr>
            <a:lvl3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3pPr>
            <a:lvl4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4pPr>
            <a:lvl5pPr>
              <a:defRPr baseline="0">
                <a:latin typeface="メイリオ" panose="020B0604030504040204" pitchFamily="34" charset="-128"/>
                <a:ea typeface="メイリオ" panose="020B0604030504040204" pitchFamily="34" charset="-128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85917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4606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575079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0514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3932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65051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63991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437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4DF58-285B-E151-006A-D88C36BBB7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20040" y="758952"/>
            <a:ext cx="7589520" cy="4087368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960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9206861-2B51-5BD1-EB7B-C21E31ED4C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0039" y="5404104"/>
            <a:ext cx="11515277" cy="576072"/>
          </a:xfrm>
        </p:spPr>
        <p:txBody>
          <a:bodyPr vert="horz" lIns="91440" tIns="45720" rIns="91440" bIns="45720" rtlCol="0" anchor="ctr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ja-JP" altLang="en-US"/>
              <a:t>マスター サブタイトルの書式設定</a:t>
            </a:r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DDD77-F8A9-7EC7-8615-6A38937CE7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7773" y="6254496"/>
            <a:ext cx="296369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8AB215-86A6-6EC5-BC27-7962FA84A1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921742" y="6254496"/>
            <a:ext cx="1679642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E80C50CD-E178-4744-9B35-B2F624D6C5E9}" type="datetimeFigureOut">
              <a:rPr lang="en-US" smtClean="0"/>
              <a:pPr/>
              <a:t>10/13/26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60CECF-E526-1422-4780-123B6B1E96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8870" y="6254496"/>
            <a:ext cx="546447" cy="41336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148CC95F-0247-41B6-91CF-DC97C76A708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9974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lIns="109728" tIns="109728" rIns="109728" bIns="91440" anchor="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lIns="109728" tIns="109728" rIns="109728" bIns="9144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l">
              <a:defRPr sz="1050" b="0" cap="none" spc="1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50" b="0" cap="none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lIns="109728" tIns="109728" rIns="109728" bIns="91440" anchor="ctr"/>
          <a:lstStyle>
            <a:lvl1pPr algn="r">
              <a:defRPr sz="1050" b="0" cap="none" spc="1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31255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20" r:id="rId1"/>
    <p:sldLayoutId id="2147484021" r:id="rId2"/>
    <p:sldLayoutId id="2147484022" r:id="rId3"/>
    <p:sldLayoutId id="2147484023" r:id="rId4"/>
    <p:sldLayoutId id="2147484012" r:id="rId5"/>
    <p:sldLayoutId id="2147484013" r:id="rId6"/>
    <p:sldLayoutId id="2147484019" r:id="rId7"/>
    <p:sldLayoutId id="2147484014" r:id="rId8"/>
    <p:sldLayoutId id="2147484015" r:id="rId9"/>
    <p:sldLayoutId id="2147484016" r:id="rId10"/>
    <p:sldLayoutId id="2147484017" r:id="rId11"/>
    <p:sldLayoutId id="2147484018" r:id="rId12"/>
  </p:sldLayoutIdLst>
  <p:hf sldNum="0" hdr="0" ftr="0" dt="0"/>
  <p:txStyles>
    <p:titleStyle>
      <a:lvl1pPr algn="l" defTabSz="914400" rtl="0" eaLnBrk="1" latinLnBrk="0" hangingPunct="1">
        <a:lnSpc>
          <a:spcPct val="120000"/>
        </a:lnSpc>
        <a:spcBef>
          <a:spcPct val="0"/>
        </a:spcBef>
        <a:buNone/>
        <a:defRPr sz="4000" b="1" kern="1200" spc="130" baseline="0">
          <a:solidFill>
            <a:schemeClr val="tx1"/>
          </a:solidFill>
          <a:latin typeface="メイリオ" panose="020B0604030504040204" pitchFamily="34" charset="-128"/>
          <a:ea typeface="メイリオ" panose="020B0604030504040204" pitchFamily="34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 spc="1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 spc="1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 spc="1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 spc="1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 spc="1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4" name="Rectangle 10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072B756-DCA1-308F-27A8-57C919FD8F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3232" y="1010091"/>
            <a:ext cx="7628663" cy="2682240"/>
          </a:xfr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100000"/>
              </a:lnSpc>
            </a:pPr>
            <a:r>
              <a:rPr kumimoji="1" lang="en-US" altLang="ja-JP" sz="4000" dirty="0">
                <a:solidFill>
                  <a:schemeClr val="tx1"/>
                </a:solidFill>
              </a:rPr>
              <a:t>LLM</a:t>
            </a:r>
            <a:r>
              <a:rPr kumimoji="1" lang="ja-JP" altLang="en-US" sz="4000">
                <a:solidFill>
                  <a:schemeClr val="tx1"/>
                </a:solidFill>
              </a:rPr>
              <a:t>による株式リターン予測とポートフォリオ最適化の検証</a:t>
            </a:r>
            <a:endParaRPr kumimoji="1" lang="en-US" altLang="ja-JP" sz="4000" dirty="0">
              <a:solidFill>
                <a:schemeClr val="tx1"/>
              </a:solidFill>
            </a:endParaRPr>
          </a:p>
        </p:txBody>
      </p:sp>
      <p:cxnSp>
        <p:nvCxnSpPr>
          <p:cNvPr id="23" name="Straight Connector 12">
            <a:extLst>
              <a:ext uri="{FF2B5EF4-FFF2-40B4-BE49-F238E27FC236}">
                <a16:creationId xmlns:a16="http://schemas.microsoft.com/office/drawing/2014/main" id="{84EE7F79-08E8-405E-9B6D-B1560F3484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91585" y="1027306"/>
            <a:ext cx="1020883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図 3">
            <a:extLst>
              <a:ext uri="{FF2B5EF4-FFF2-40B4-BE49-F238E27FC236}">
                <a16:creationId xmlns:a16="http://schemas.microsoft.com/office/drawing/2014/main" id="{4996B3B9-B6E6-EB51-833D-AAF37226251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22016" y="0"/>
            <a:ext cx="1369984" cy="898351"/>
          </a:xfrm>
          <a:prstGeom prst="rect">
            <a:avLst/>
          </a:prstGeom>
        </p:spPr>
      </p:pic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23563D55-188B-3B5C-E67B-FF350828676B}"/>
              </a:ext>
            </a:extLst>
          </p:cNvPr>
          <p:cNvSpPr txBox="1"/>
          <p:nvPr/>
        </p:nvSpPr>
        <p:spPr>
          <a:xfrm>
            <a:off x="850231" y="5053263"/>
            <a:ext cx="539014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/>
              <a:t>電気通信大学　情報理工学域</a:t>
            </a:r>
            <a:r>
              <a:rPr lang="en-US" altLang="ja-JP" dirty="0"/>
              <a:t>Ⅲ</a:t>
            </a:r>
            <a:r>
              <a:rPr lang="ja-JP" altLang="en-US"/>
              <a:t>類　小嶋一輝</a:t>
            </a:r>
            <a:endParaRPr lang="en-US" altLang="ja-JP" dirty="0"/>
          </a:p>
          <a:p>
            <a:r>
              <a:rPr kumimoji="1" lang="en-US" altLang="ja-JP" dirty="0"/>
              <a:t>2026</a:t>
            </a:r>
            <a:r>
              <a:rPr kumimoji="1" lang="ja-JP" altLang="en-US"/>
              <a:t>年</a:t>
            </a:r>
            <a:r>
              <a:rPr kumimoji="1" lang="en-US" altLang="ja-JP" dirty="0"/>
              <a:t>11</a:t>
            </a:r>
            <a:r>
              <a:rPr kumimoji="1" lang="ja-JP" altLang="en-US"/>
              <a:t>月</a:t>
            </a:r>
          </a:p>
        </p:txBody>
      </p:sp>
    </p:spTree>
    <p:extLst>
      <p:ext uri="{BB962C8B-B14F-4D97-AF65-F5344CB8AC3E}">
        <p14:creationId xmlns:p14="http://schemas.microsoft.com/office/powerpoint/2010/main" val="4172862066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LLM は決算発表文から株価材料を読み取れるが、</a:t>
            </a:r>
          </a:p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運用成績の向上に結び付く証拠は、検証を重ねるほど弱まった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研究の全体像</a:t>
            </a:r>
          </a:p>
        </p:txBody>
      </p:sp>
      <p:sp>
        <p:nvSpPr>
          <p:cNvPr id="4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6" name="段階1"/>
          <p:cNvSpPr/>
          <p:nvPr/>
        </p:nvSpPr>
        <p:spPr>
          <a:xfrm>
            <a:off x="1417320" y="1783080"/>
            <a:ext cx="2706624" cy="548640"/>
          </a:xfrm>
          <a:prstGeom prst="homePlat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527048" y="1783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① 数値予想を使う</a:t>
            </a:r>
          </a:p>
        </p:txBody>
      </p:sp>
      <p:sp>
        <p:nvSpPr>
          <p:cNvPr id="8" name="段階2"/>
          <p:cNvSpPr/>
          <p:nvPr/>
        </p:nvSpPr>
        <p:spPr>
          <a:xfrm>
            <a:off x="4032504" y="1783080"/>
            <a:ext cx="2706624" cy="548640"/>
          </a:xfrm>
          <a:prstGeom prst="chevron">
            <a:avLst/>
          </a:prstGeom>
          <a:solidFill>
            <a:srgbClr val="7E7F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25112" y="1783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② 決算発表文を読む</a:t>
            </a:r>
          </a:p>
        </p:txBody>
      </p:sp>
      <p:sp>
        <p:nvSpPr>
          <p:cNvPr id="10" name="段階3"/>
          <p:cNvSpPr/>
          <p:nvPr/>
        </p:nvSpPr>
        <p:spPr>
          <a:xfrm>
            <a:off x="6647688" y="1783080"/>
            <a:ext cx="2706624" cy="548640"/>
          </a:xfrm>
          <a:prstGeom prst="chevron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0296" y="1783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③ 大型株で運用</a:t>
            </a:r>
          </a:p>
        </p:txBody>
      </p:sp>
      <p:sp>
        <p:nvSpPr>
          <p:cNvPr id="12" name="段階4"/>
          <p:cNvSpPr/>
          <p:nvPr/>
        </p:nvSpPr>
        <p:spPr>
          <a:xfrm>
            <a:off x="9262872" y="1783080"/>
            <a:ext cx="2523744" cy="548640"/>
          </a:xfrm>
          <a:prstGeom prst="chevron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17830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④ 小型株で運用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487168"/>
            <a:ext cx="914400" cy="11430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" y="2523744"/>
            <a:ext cx="804672" cy="10698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検証内容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3721608"/>
            <a:ext cx="914400" cy="132588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" y="3758184"/>
            <a:ext cx="804672" cy="12527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結果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417320" y="2487168"/>
            <a:ext cx="2523744" cy="11430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08760" y="2523744"/>
            <a:ext cx="2340863" cy="10698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直近 1 か月の日次リターンを渡し、翌月のリターンを数値で予想させて BLM のビューとする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417320" y="3721608"/>
            <a:ext cx="2523744" cy="13258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08760" y="3758184"/>
            <a:ext cx="2340863" cy="12527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直近の値動きをなぞるのみ</a:t>
            </a:r>
          </a:p>
          <a:p>
            <a:pPr algn="l">
              <a:spcAft>
                <a:spcPts val="300"/>
              </a:spcAft>
            </a:pPr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予想と入力月の平均リターンの相関 0.89。固有の予測力は検出できず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32504" y="2487168"/>
            <a:ext cx="2523744" cy="11430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23944" y="2523744"/>
            <a:ext cx="2340863" cy="10698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決算発表文を採点させ、発表を挟む 2 取引日の株価反応を説明できるかを検定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032504" y="3721608"/>
            <a:ext cx="2523744" cy="13258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23944" y="3758184"/>
            <a:ext cx="2340863" cy="12527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株価反応を有意に説明</a:t>
            </a:r>
          </a:p>
          <a:p>
            <a:pPr algn="l">
              <a:spcAft>
                <a:spcPts val="300"/>
              </a:spcAft>
            </a:pPr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+120bp／1 標準偏差（t 9.4）。アナリスト予想などを統制しても残存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47688" y="2487168"/>
            <a:ext cx="2523744" cy="11430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739127" y="2523744"/>
            <a:ext cx="2340863" cy="10698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点数を月次・日次の BLM に入れ、時価総額加重を上回るかを検定（S&amp;P500）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47688" y="3721608"/>
            <a:ext cx="2523744" cy="13258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39127" y="3758184"/>
            <a:ext cx="2340863" cy="12527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市場平均を上回らず</a:t>
            </a:r>
          </a:p>
          <a:p>
            <a:pPr algn="l">
              <a:spcAft>
                <a:spcPts val="300"/>
              </a:spcAft>
            </a:pPr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情報は発表当日に株価へ織り込まれ、翌日以降には残らない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262872" y="2487168"/>
            <a:ext cx="2523744" cy="11430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354312" y="2523744"/>
            <a:ext cx="2340863" cy="10698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情報の織り込みが遅い小型株で、発表後の値動きの予測と BLM の超過収益を検定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62872" y="3721608"/>
            <a:ext cx="2523744" cy="1325880"/>
          </a:xfrm>
          <a:prstGeom prst="rect">
            <a:avLst/>
          </a:prstGeom>
          <a:solidFill>
            <a:srgbClr val="F1F2F1"/>
          </a:solidFill>
          <a:ln w="12700">
            <a:solidFill>
              <a:srgbClr val="197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54312" y="3758184"/>
            <a:ext cx="2340863" cy="12527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300"/>
              </a:spcAft>
            </a:pPr>
            <a:r>
              <a:rPr sz="125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2 標本で優位、3 標本目で確認できず</a:t>
            </a:r>
          </a:p>
          <a:p>
            <a:pPr algn="l">
              <a:spcAft>
                <a:spcPts val="300"/>
              </a:spcAft>
            </a:pPr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事前登録した検定は不支持。変動率の予測のみ 3 標本で成立</a:t>
            </a:r>
          </a:p>
        </p:txBody>
      </p:sp>
      <p:sp>
        <p:nvSpPr>
          <p:cNvPr id="34" name="Trapezoid 33"/>
          <p:cNvSpPr/>
          <p:nvPr/>
        </p:nvSpPr>
        <p:spPr>
          <a:xfrm rot="10800000">
            <a:off x="1417320" y="5157216"/>
            <a:ext cx="10369296" cy="256032"/>
          </a:xfrm>
          <a:prstGeom prst="trapezoid">
            <a:avLst>
              <a:gd name="adj" fmla="val 40000"/>
            </a:avLst>
          </a:prstGeom>
          <a:solidFill>
            <a:srgbClr val="BA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まとめ"/>
          <p:cNvSpPr/>
          <p:nvPr/>
        </p:nvSpPr>
        <p:spPr>
          <a:xfrm>
            <a:off x="411480" y="5504688"/>
            <a:ext cx="11365992" cy="56692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541264"/>
            <a:ext cx="11183112" cy="49377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読み取りは有効だが超過収益は立証できず、3 標本で成立したのはリスク（変動率）の予測のみ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元論文の手法を再現した結果、LLM の数値予想は直近の値動きをなぞるのみで、</a:t>
            </a:r>
          </a:p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固有の予測力は確認されなかった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元論文（arXiv:2504.14345）の再現</a:t>
            </a: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00" b="1" lang="ja-JP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gpt-4o-mini、S&amp;P500 構成銘柄 約 490 社 × 30 か月（回答 44 万個）。IC は予想と翌月リターンの相関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99615" y="1783080"/>
            <a:ext cx="116713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BLM の仕組み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1929384"/>
            <a:ext cx="154241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212465" y="1929384"/>
            <a:ext cx="154241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457200" y="2212848"/>
            <a:ext cx="2194560" cy="713232"/>
          </a:xfrm>
          <a:prstGeom prst="ellipse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2212848"/>
            <a:ext cx="1920240" cy="7132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市場の均衡</a:t>
            </a:r>
          </a:p>
          <a:p>
            <a:pPr algn="ctr"/>
            <a:r>
              <a:rPr sz="10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時価総額の比率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292608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＋</a:t>
            </a:r>
          </a:p>
        </p:txBody>
      </p:sp>
      <p:sp>
        <p:nvSpPr>
          <p:cNvPr id="29" name="Oval 28"/>
          <p:cNvSpPr/>
          <p:nvPr/>
        </p:nvSpPr>
        <p:spPr>
          <a:xfrm>
            <a:off x="457200" y="3200400"/>
            <a:ext cx="2194560" cy="713232"/>
          </a:xfrm>
          <a:prstGeom prst="ellipse">
            <a:avLst/>
          </a:prstGeom>
          <a:solidFill>
            <a:srgbClr val="7578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94360" y="3200400"/>
            <a:ext cx="1920240" cy="71323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LLM の見通し</a:t>
            </a:r>
          </a:p>
          <a:p>
            <a:pPr algn="ctr"/>
            <a:r>
              <a:rPr sz="1000" b="0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平均＝ビュー、分散＝Ω</a:t>
            </a:r>
          </a:p>
        </p:txBody>
      </p:sp>
      <p:sp>
        <p:nvSpPr>
          <p:cNvPr id="31" name="Isosceles Triangle 30"/>
          <p:cNvSpPr/>
          <p:nvPr/>
        </p:nvSpPr>
        <p:spPr>
          <a:xfrm rot="5400000">
            <a:off x="2743200" y="2926080"/>
            <a:ext cx="256032" cy="256032"/>
          </a:xfrm>
          <a:prstGeom prst="triangle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08960" y="2377440"/>
            <a:ext cx="1645920" cy="1353312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154679" y="2414016"/>
            <a:ext cx="1554480" cy="12801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Black–Litterman</a:t>
            </a:r>
          </a:p>
          <a:p>
            <a:pPr algn="ctr"/>
            <a:r>
              <a:rPr sz="1100" b="0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で混合</a:t>
            </a:r>
          </a:p>
        </p:txBody>
      </p:sp>
      <p:sp>
        <p:nvSpPr>
          <p:cNvPr id="34" name="Isosceles Triangle 33"/>
          <p:cNvSpPr/>
          <p:nvPr/>
        </p:nvSpPr>
        <p:spPr>
          <a:xfrm rot="10800000">
            <a:off x="3813048" y="3785615"/>
            <a:ext cx="237744" cy="182880"/>
          </a:xfrm>
          <a:prstGeom prst="triangle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108960" y="4023360"/>
            <a:ext cx="1645920" cy="54864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54679" y="4059936"/>
            <a:ext cx="1554480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最適化 → 投資比率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11480" y="4800600"/>
            <a:ext cx="4343400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sz="11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確信度 Ω が小さいほど、比率は LLM の予想どおりに動く</a:t>
            </a:r>
          </a:p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sz="11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元論文は Llama・Gemma・Qwen の予想で、等金額・平均分散を上回ったと報告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1783080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観点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074920" y="2112264"/>
            <a:ext cx="11430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355080" y="178308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再現結果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6400800" y="2112264"/>
            <a:ext cx="3108959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10012680" y="1783080"/>
            <a:ext cx="176479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示唆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058400" y="2112264"/>
            <a:ext cx="167335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5029200" y="2212848"/>
            <a:ext cx="1234440" cy="88696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84064" y="2249424"/>
            <a:ext cx="1124712" cy="8138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なぞり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0" y="2212848"/>
            <a:ext cx="219456" cy="219456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0" y="2212848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A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355080" y="2212848"/>
            <a:ext cx="3200400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46520" y="2249424"/>
            <a:ext cx="3017520" cy="8138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予想は入力した値動きの写し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予想と入力月の平均リターンの相関 0.89</a:t>
            </a:r>
          </a:p>
        </p:txBody>
      </p:sp>
      <p:sp>
        <p:nvSpPr>
          <p:cNvPr id="50" name="Oval 49"/>
          <p:cNvSpPr/>
          <p:nvPr/>
        </p:nvSpPr>
        <p:spPr>
          <a:xfrm>
            <a:off x="9646919" y="2519172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646919" y="25191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0012680" y="2212848"/>
            <a:ext cx="1764792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104119" y="2249424"/>
            <a:ext cx="1581912" cy="8138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数値の中で最も目立つ信号を写すのみ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0" y="3191256"/>
            <a:ext cx="1234440" cy="88696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84064" y="3227832"/>
            <a:ext cx="1124712" cy="8138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固有の予測力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029200" y="3191256"/>
            <a:ext cx="219456" cy="219456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0" y="3191256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355080" y="3191256"/>
            <a:ext cx="3200400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46520" y="3227832"/>
            <a:ext cx="3017520" cy="8138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入力で説明できない部分は当たらない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IC −0.004（95% 区間の上限 +0.027）</a:t>
            </a:r>
          </a:p>
        </p:txBody>
      </p:sp>
      <p:sp>
        <p:nvSpPr>
          <p:cNvPr id="60" name="Oval 59"/>
          <p:cNvSpPr/>
          <p:nvPr/>
        </p:nvSpPr>
        <p:spPr>
          <a:xfrm>
            <a:off x="9646919" y="3497580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46919" y="34975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012680" y="3191256"/>
            <a:ext cx="1764792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104119" y="3227832"/>
            <a:ext cx="1581912" cy="8138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数値の処理は統計モデルに任せるべき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0" y="4169664"/>
            <a:ext cx="1234440" cy="88696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84064" y="4206240"/>
            <a:ext cx="1124712" cy="8138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確信度 Ω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0" y="4169664"/>
            <a:ext cx="219456" cy="219456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0" y="4169664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355080" y="4169664"/>
            <a:ext cx="3200400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446520" y="4206240"/>
            <a:ext cx="3017520" cy="8138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Ω が過小で、見通しがビューに偏る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事後期待リターンの 99.9% がビュー側</a:t>
            </a:r>
          </a:p>
        </p:txBody>
      </p:sp>
      <p:sp>
        <p:nvSpPr>
          <p:cNvPr id="70" name="Oval 69"/>
          <p:cNvSpPr/>
          <p:nvPr/>
        </p:nvSpPr>
        <p:spPr>
          <a:xfrm>
            <a:off x="9646919" y="4475988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646919" y="44759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72" name="Rectangle 71"/>
          <p:cNvSpPr/>
          <p:nvPr/>
        </p:nvSpPr>
        <p:spPr>
          <a:xfrm>
            <a:off x="10012680" y="4169664"/>
            <a:ext cx="1764792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0104119" y="4206240"/>
            <a:ext cx="1581912" cy="8138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市場の均衡がほぼ使われない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029200" y="5148072"/>
            <a:ext cx="1234440" cy="88696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84064" y="5184648"/>
            <a:ext cx="1124712" cy="8138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最適化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0" y="5148072"/>
            <a:ext cx="219456" cy="219456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9200" y="5148072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355080" y="5148072"/>
            <a:ext cx="3200400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446520" y="5184648"/>
            <a:ext cx="3017520" cy="8138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SLSQP が途中で停止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「収束」と報告するが、入力の僅かな差で解が変わる</a:t>
            </a:r>
          </a:p>
        </p:txBody>
      </p:sp>
      <p:sp>
        <p:nvSpPr>
          <p:cNvPr id="80" name="Oval 79"/>
          <p:cNvSpPr/>
          <p:nvPr/>
        </p:nvSpPr>
        <p:spPr>
          <a:xfrm>
            <a:off x="9646919" y="5454396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646919" y="54543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012680" y="5148072"/>
            <a:ext cx="1764792" cy="88696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0104119" y="5184648"/>
            <a:ext cx="1581912" cy="8138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成績が計算の作りに左右される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そこで問いを改め、決算発表文を LLM に採点させたところ、</a:t>
            </a:r>
          </a:p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点数は発表直後 2 日間の株価反応を有意に説明した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決算発表文の読み取り（実験 2・3）</a:t>
            </a: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00" b="1" lang="ja-JP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統制は数値の驚き（SUE・売上）、辞書・FinBERT・TF-IDF、発表前リターン、規模、業種・四半期の固定効果。5 分位の図は探索で、判定には用いていない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49449" y="1783080"/>
            <a:ext cx="177038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読み取りと評価の流れ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1929384"/>
            <a:ext cx="14922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3765550" y="1929384"/>
            <a:ext cx="149225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411480" y="2212848"/>
            <a:ext cx="1051560" cy="7315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6344" y="2249424"/>
            <a:ext cx="941831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入力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536192" y="2212848"/>
            <a:ext cx="3721608" cy="73152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627632" y="2249424"/>
            <a:ext cx="3538728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決算発表文（EX-99.1）の先頭 15,000 字。S&amp;P500、2023-11〜2026-08 の 5,374 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035808"/>
            <a:ext cx="1051560" cy="7315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6344" y="3072384"/>
            <a:ext cx="941831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読み取り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36192" y="3035808"/>
            <a:ext cx="3721608" cy="73152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627632" y="3072384"/>
            <a:ext cx="3538728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gpt-4o-mini（学習なし、温度 0）が語調・今後の見通し・ガイダンスの変化を −2〜+2 で回答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858768"/>
            <a:ext cx="1051560" cy="7315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66344" y="3895344"/>
            <a:ext cx="941831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出力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536192" y="3858768"/>
            <a:ext cx="3721608" cy="73152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27632" y="3895344"/>
            <a:ext cx="3538728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合成点数 ＝ 語調 ＋ 見通し ＋ ガイダンスの変化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4681728"/>
            <a:ext cx="1051560" cy="7315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6344" y="4718304"/>
            <a:ext cx="941831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評価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36192" y="4681728"/>
            <a:ext cx="3721608" cy="73152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27632" y="4718304"/>
            <a:ext cx="3538728" cy="65836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発表を挟む 2 取引日の超過リターン（同業種の指数比）に回帰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5532120"/>
            <a:ext cx="1051560" cy="658368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" y="5568696"/>
            <a:ext cx="941831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事前登録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536192" y="5532120"/>
            <a:ext cx="3721608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197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627632" y="5568696"/>
            <a:ext cx="3538728" cy="58521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株価反応を計算する前に計画と評価コードを固定し、1 回のみ実行。以降の実験も同方式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57403" y="1783080"/>
            <a:ext cx="4040505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点数の 5 分位別：発表を挟む 2 日間の超過リターン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577840" y="1929384"/>
            <a:ext cx="1033843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743628" y="1929384"/>
            <a:ext cx="1033844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9" name="5 分位"/>
          <p:cNvGraphicFramePr>
            <a:graphicFrameLocks noGrp="1"/>
          </p:cNvGraphicFramePr>
          <p:nvPr/>
        </p:nvGraphicFramePr>
        <p:xfrm>
          <a:off x="5577840" y="2121408"/>
          <a:ext cx="6199632" cy="26974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0" name="Rectangle 49"/>
          <p:cNvSpPr/>
          <p:nvPr/>
        </p:nvSpPr>
        <p:spPr>
          <a:xfrm>
            <a:off x="5577840" y="4956048"/>
            <a:ext cx="2377440" cy="54864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32703" y="4992624"/>
            <a:ext cx="226771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統制後の係数（実験 2）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28431" y="4956048"/>
            <a:ext cx="3749039" cy="54864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119871" y="4992624"/>
            <a:ext cx="3566159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+120bp</a:t>
            </a:r>
            <a:r>
              <a:rPr sz="12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／1 標準偏差（t 9.4）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577840" y="5577840"/>
            <a:ext cx="2377440" cy="54864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32703" y="5614416"/>
            <a:ext cx="2267712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＋アナリスト予想（実験 3）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028431" y="5577840"/>
            <a:ext cx="3749039" cy="54864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119871" y="5614416"/>
            <a:ext cx="3566159" cy="47548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+116bp</a:t>
            </a:r>
            <a:r>
              <a:rPr sz="12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（t 9.4）、効果の 97% が残存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7 つの手法を同一条件で比較した結果、学習なしの大規模 LLM が最も高い説明力を示し、</a:t>
            </a:r>
          </a:p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先読みのない小型 LLM も従来手法を上回った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文章を数値化する手法の比較（実験 4・5・10・11）</a:t>
            </a: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00" b="1" lang="ja-JP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説明力は、数値の驚き等の統制に加えたときの決定係数の増分（ポイント）。幅は実験ごとの値で、学習ありの手法はいずれも 2 日間の反応を正解とした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1755648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モデル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14400" y="2084831"/>
            <a:ext cx="2514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3566160" y="1755648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何を学習させたか（入力 → 正解）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3611879" y="2084831"/>
            <a:ext cx="251460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263640" y="175564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学習の方法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309359" y="2084831"/>
            <a:ext cx="265176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098280" y="1755648"/>
            <a:ext cx="267919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説明力（R² の増分）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144000" y="2084831"/>
            <a:ext cx="258775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行1"/>
          <p:cNvSpPr/>
          <p:nvPr/>
        </p:nvSpPr>
        <p:spPr>
          <a:xfrm>
            <a:off x="411480" y="2176272"/>
            <a:ext cx="11365992" cy="420624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02920" y="2249424"/>
            <a:ext cx="274320" cy="274320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22494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2176272"/>
            <a:ext cx="26060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gpt-4o-mini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OpenAI、規模は非公開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2176272"/>
            <a:ext cx="26060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学習なし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指示のみで −2〜+2 を回答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63640" y="2176272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ゼロショット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例示なしで質問のみ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144000" y="2304288"/>
            <a:ext cx="827074" cy="164592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971074" y="2304288"/>
            <a:ext cx="197510" cy="164592"/>
          </a:xfrm>
          <a:prstGeom prst="rect">
            <a:avLst/>
          </a:prstGeom>
          <a:solidFill>
            <a:srgbClr val="9CC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241737" y="2176272"/>
            <a:ext cx="10058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2.01〜2.49</a:t>
            </a:r>
          </a:p>
        </p:txBody>
      </p:sp>
      <p:sp>
        <p:nvSpPr>
          <p:cNvPr id="40" name="行2"/>
          <p:cNvSpPr/>
          <p:nvPr/>
        </p:nvSpPr>
        <p:spPr>
          <a:xfrm>
            <a:off x="411480" y="2624328"/>
            <a:ext cx="11365992" cy="420624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2920" y="2697480"/>
            <a:ext cx="274320" cy="2743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02920" y="269748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68680" y="2624328"/>
            <a:ext cx="26060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FinBERT（追加学習）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1.1 億パラメータ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566160" y="2624328"/>
            <a:ext cx="26060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文章 → 株価反応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先頭 512 トークン、約 1.4 万本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263640" y="2624328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全体の追加学習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全パラメータを更新（2 エポック）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144000" y="2752344"/>
            <a:ext cx="345643" cy="16459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489643" y="2752344"/>
            <a:ext cx="69951" cy="164592"/>
          </a:xfrm>
          <a:prstGeom prst="rect">
            <a:avLst/>
          </a:prstGeom>
          <a:solidFill>
            <a:srgbClr val="BA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32746" y="2624328"/>
            <a:ext cx="10058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0.84〜1.01</a:t>
            </a:r>
          </a:p>
        </p:txBody>
      </p:sp>
      <p:sp>
        <p:nvSpPr>
          <p:cNvPr id="49" name="行3"/>
          <p:cNvSpPr/>
          <p:nvPr/>
        </p:nvSpPr>
        <p:spPr>
          <a:xfrm>
            <a:off x="411480" y="3072384"/>
            <a:ext cx="11365992" cy="420624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02920" y="3145536"/>
            <a:ext cx="274320" cy="274320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31455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" y="3072384"/>
            <a:ext cx="26060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ChronoGPT＋リッジ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15.5 億、先読みなし（年次版）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566160" y="3072384"/>
            <a:ext cx="26060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内部ベクトル → 反応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1,536 次元、四半期ごとに再学習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263640" y="3072384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線形プローブ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LLM は固定し、リッジ回帰のみ学習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44000" y="3200400"/>
            <a:ext cx="115214" cy="164592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9259214" y="3200400"/>
            <a:ext cx="127558" cy="164592"/>
          </a:xfrm>
          <a:prstGeom prst="rect">
            <a:avLst/>
          </a:prstGeom>
          <a:solidFill>
            <a:srgbClr val="9CC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459925" y="3072384"/>
            <a:ext cx="10058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0.28〜0.59</a:t>
            </a:r>
          </a:p>
        </p:txBody>
      </p:sp>
      <p:sp>
        <p:nvSpPr>
          <p:cNvPr id="58" name="行4"/>
          <p:cNvSpPr/>
          <p:nvPr/>
        </p:nvSpPr>
        <p:spPr>
          <a:xfrm>
            <a:off x="411480" y="3520439"/>
            <a:ext cx="11365992" cy="420624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3593591"/>
            <a:ext cx="274320" cy="2743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02920" y="359359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4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" y="3520439"/>
            <a:ext cx="26060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TF-IDF＋リッジ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語彙 2 万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566160" y="3520439"/>
            <a:ext cx="26060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単語の重み → 反応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全文、四半期ごとに再学習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63640" y="3520439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リッジ回帰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反応と結び付く単語を学習</a:t>
            </a:r>
          </a:p>
        </p:txBody>
      </p:sp>
      <p:sp>
        <p:nvSpPr>
          <p:cNvPr id="64" name="Rectangle 63"/>
          <p:cNvSpPr/>
          <p:nvPr/>
        </p:nvSpPr>
        <p:spPr>
          <a:xfrm>
            <a:off x="9144000" y="3648456"/>
            <a:ext cx="27432" cy="16459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68688" y="3648456"/>
            <a:ext cx="127558" cy="164592"/>
          </a:xfrm>
          <a:prstGeom prst="rect">
            <a:avLst/>
          </a:prstGeom>
          <a:solidFill>
            <a:srgbClr val="BA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369399" y="3520439"/>
            <a:ext cx="10058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0.06〜0.37</a:t>
            </a:r>
          </a:p>
        </p:txBody>
      </p:sp>
      <p:sp>
        <p:nvSpPr>
          <p:cNvPr id="67" name="行5"/>
          <p:cNvSpPr/>
          <p:nvPr/>
        </p:nvSpPr>
        <p:spPr>
          <a:xfrm>
            <a:off x="411480" y="3968496"/>
            <a:ext cx="11365992" cy="420624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2920" y="4041648"/>
            <a:ext cx="274320" cy="2743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40416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68680" y="3968496"/>
            <a:ext cx="26060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FinBERT（学習なし）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1.1 億パラメータ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566160" y="3968496"/>
            <a:ext cx="26060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学習なし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先頭 200 文を 1 文ずつ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263640" y="3968496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肯定 − 否定の確率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金融文で学習済みの分類器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144000" y="4096511"/>
            <a:ext cx="98755" cy="16459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315907" y="3968496"/>
            <a:ext cx="10058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0.24</a:t>
            </a:r>
          </a:p>
        </p:txBody>
      </p:sp>
      <p:sp>
        <p:nvSpPr>
          <p:cNvPr id="75" name="行6"/>
          <p:cNvSpPr/>
          <p:nvPr/>
        </p:nvSpPr>
        <p:spPr>
          <a:xfrm>
            <a:off x="411480" y="4416552"/>
            <a:ext cx="11365992" cy="420624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02920" y="4489704"/>
            <a:ext cx="274320" cy="274320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920" y="44897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68680" y="4416552"/>
            <a:ext cx="26060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ChronoGPT＋LoRA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15.5 億中 256 万（0.17%）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566160" y="4416552"/>
            <a:ext cx="26060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文章 → 反応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先頭 1,792 トークン、約 1.4 万本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263640" y="4416552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LoRA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各層に低ランク行列を追加（7.6 時間）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144000" y="4544568"/>
            <a:ext cx="53492" cy="164592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270644" y="4416552"/>
            <a:ext cx="10058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0.13</a:t>
            </a:r>
          </a:p>
        </p:txBody>
      </p:sp>
      <p:sp>
        <p:nvSpPr>
          <p:cNvPr id="83" name="行7"/>
          <p:cNvSpPr/>
          <p:nvPr/>
        </p:nvSpPr>
        <p:spPr>
          <a:xfrm>
            <a:off x="411480" y="4864608"/>
            <a:ext cx="11365992" cy="420624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502920" y="4937760"/>
            <a:ext cx="274320" cy="27432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02920" y="493776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68680" y="4864608"/>
            <a:ext cx="26060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辞書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Loughran–McDonald 金融辞書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3566160" y="4864608"/>
            <a:ext cx="26060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学習なし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全文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263640" y="4864608"/>
            <a:ext cx="274320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500"/>
              </a:lnSpc>
            </a:pPr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単語の計数</a:t>
            </a:r>
          </a:p>
          <a:p>
            <a:pPr algn="l">
              <a:lnSpc>
                <a:spcPts val="1250"/>
              </a:lnSpc>
            </a:pPr>
            <a:r>
              <a:rPr sz="9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肯定語と否定語の数の差</a:t>
            </a:r>
          </a:p>
        </p:txBody>
      </p:sp>
      <p:sp>
        <p:nvSpPr>
          <p:cNvPr id="89" name="Rectangle 88"/>
          <p:cNvSpPr/>
          <p:nvPr/>
        </p:nvSpPr>
        <p:spPr>
          <a:xfrm>
            <a:off x="9144000" y="4992624"/>
            <a:ext cx="27432" cy="16459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9244584" y="4864608"/>
            <a:ext cx="1005840" cy="420624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0.02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11480" y="5376672"/>
            <a:ext cx="914400" cy="82296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66344" y="5413248"/>
            <a:ext cx="804672" cy="7498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示唆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417320" y="5376672"/>
            <a:ext cx="10360152" cy="82296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536192" y="544068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大規模 LLM は学習なしで最強</a:t>
            </a:r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（汎用の読解力が有効）</a:t>
            </a:r>
          </a:p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株価反応で追加学習すると伸びる</a:t>
            </a:r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（FinBERT 0.24 → 0.84〜1.01）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675120" y="5440680"/>
            <a:ext cx="502920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LoRA はリッジに劣る</a:t>
            </a:r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（約 1.4 万本に対し学習量 256 万は過大）</a:t>
            </a:r>
          </a:p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先読みのない LLM も従来 NLP 3 手法の合計を上回る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一方、大型株では情報が発表当日に株価へ織り込まれるため、</a:t>
            </a:r>
          </a:p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読み取りを用いた運用は市場平均を上回らない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大型株（S&amp;P500）での運用（実験 7・8・9）</a:t>
            </a: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00" b="1" lang="ja-JP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左図は点数の上位・中位・下位 20% の発表（各約 1,075 本）の平均。同業種の指数との差を発表 5 日前から累積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32501" y="1783080"/>
            <a:ext cx="2667317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点数 3 分類別の累積超過リターン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1929384"/>
            <a:ext cx="1775301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945538" y="1929384"/>
            <a:ext cx="1775302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26" name="前後のグラフ"/>
          <p:cNvGraphicFramePr>
            <a:graphicFrameLocks noGrp="1"/>
          </p:cNvGraphicFramePr>
          <p:nvPr/>
        </p:nvGraphicFramePr>
        <p:xfrm>
          <a:off x="411480" y="2121408"/>
          <a:ext cx="6309360" cy="3200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3429000" y="27614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発表当日に動き終わり、以降は横ばい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59876" y="1783080"/>
            <a:ext cx="145288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運用方法別の結果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995160" y="1929384"/>
            <a:ext cx="1618996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0158476" y="1929384"/>
            <a:ext cx="1618996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6995160" y="2212848"/>
            <a:ext cx="1463040" cy="9144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50024" y="2249424"/>
            <a:ext cx="1353312" cy="8412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発表翌日に購入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31352" y="2212848"/>
            <a:ext cx="3246120" cy="914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22792" y="2249424"/>
            <a:ext cx="3063239" cy="8412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ほぼ動かない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翌日の超過リターン +3.6bp（t 0.93）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995160" y="3236976"/>
            <a:ext cx="1463040" cy="9144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050024" y="3273552"/>
            <a:ext cx="1353312" cy="8412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月次 BLM</a:t>
            </a:r>
          </a:p>
          <a:p>
            <a:pPr algn="ctr"/>
            <a:r>
              <a:rPr sz="1000" b="0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約 10 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531352" y="3236976"/>
            <a:ext cx="3246120" cy="914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22792" y="3273552"/>
            <a:ext cx="3063239" cy="8412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市場平均と同等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費用控除後 +0.003%／月（t 0.04）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95160" y="4261104"/>
            <a:ext cx="1463040" cy="9144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0024" y="4297680"/>
            <a:ext cx="1353312" cy="8412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日次 BLM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531352" y="4261104"/>
            <a:ext cx="3246120" cy="914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622792" y="4297680"/>
            <a:ext cx="3063239" cy="8412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費用で大きく劣後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費用控除後 年 −20%（1 日の回転率 42%）</a:t>
            </a:r>
          </a:p>
        </p:txBody>
      </p:sp>
      <p:sp>
        <p:nvSpPr>
          <p:cNvPr id="43" name="Trapezoid 42"/>
          <p:cNvSpPr/>
          <p:nvPr/>
        </p:nvSpPr>
        <p:spPr>
          <a:xfrm rot="10800000">
            <a:off x="411480" y="5468112"/>
            <a:ext cx="11365992" cy="219456"/>
          </a:xfrm>
          <a:prstGeom prst="trapezoid">
            <a:avLst>
              <a:gd name="adj" fmla="val 40000"/>
            </a:avLst>
          </a:prstGeom>
          <a:solidFill>
            <a:srgbClr val="BA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まとめ"/>
          <p:cNvSpPr/>
          <p:nvPr/>
        </p:nvSpPr>
        <p:spPr>
          <a:xfrm>
            <a:off x="411480" y="5724144"/>
            <a:ext cx="11365992" cy="47548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5760720"/>
            <a:ext cx="11183112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見通しが価値を持つには未反映の情報が必要 → 情報の織り込みが遅い小型株で検証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情報の織り込みが遅い小型株では、読み取りが発表後の値動きを予測し、</a:t>
            </a:r>
          </a:p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BLM に組み込むと比較対象を上回った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小型株での予測と運用（実験 S1・S2・R1・G）</a:t>
            </a: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00" b="1" lang="ja-JP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片道 0.3% の売買費用を控除（2017-01〜2026-09）。ありえない日次リターンを除いた後の計算であり、探索的位置付け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67497" y="1783080"/>
            <a:ext cx="2580005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事前登録した予測の検定（t 値）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11480" y="1929384"/>
            <a:ext cx="1110297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193222" y="1929384"/>
            <a:ext cx="1110298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 25"/>
          <p:cNvSpPr/>
          <p:nvPr/>
        </p:nvSpPr>
        <p:spPr>
          <a:xfrm>
            <a:off x="2240280" y="2176272"/>
            <a:ext cx="1508760" cy="34747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67712" y="2212848"/>
            <a:ext cx="14538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元の 1,000 社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94760" y="2176272"/>
            <a:ext cx="1508760" cy="34747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22192" y="2212848"/>
            <a:ext cx="1453895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1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別の 1,000 社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2578608"/>
            <a:ext cx="1755648" cy="71323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6344" y="2615184"/>
            <a:ext cx="164591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ドリフト</a:t>
            </a:r>
          </a:p>
          <a:p>
            <a:pPr algn="ctr"/>
            <a:r>
              <a:rPr sz="1000" b="0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発表後 2〜60 日の値動き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0280" y="2578608"/>
            <a:ext cx="1508760" cy="71323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267712" y="2615184"/>
            <a:ext cx="1453895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t 3.20</a:t>
            </a:r>
          </a:p>
          <a:p>
            <a:pPr algn="ctr"/>
            <a:r>
              <a:rPr sz="10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+0.76%／SD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794760" y="2578608"/>
            <a:ext cx="1508760" cy="71323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22192" y="2615184"/>
            <a:ext cx="1453895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t 2.22</a:t>
            </a:r>
          </a:p>
          <a:p>
            <a:pPr algn="ctr"/>
            <a:r>
              <a:rPr sz="10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+0.54%／SD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3364991"/>
            <a:ext cx="1755648" cy="71323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66344" y="3401568"/>
            <a:ext cx="1645919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変動率</a:t>
            </a:r>
          </a:p>
          <a:p>
            <a:pPr algn="ctr"/>
            <a:r>
              <a:rPr sz="1000" b="0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発表後 2〜60 日の荒さ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240280" y="3364991"/>
            <a:ext cx="1508760" cy="71323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267712" y="3401568"/>
            <a:ext cx="1453895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t 4.01</a:t>
            </a:r>
          </a:p>
          <a:p>
            <a:pPr algn="ctr"/>
            <a:r>
              <a:rPr sz="10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+1.5%／SD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794760" y="3364991"/>
            <a:ext cx="1508760" cy="71323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822192" y="3401568"/>
            <a:ext cx="1453895" cy="6400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t 3.01</a:t>
            </a:r>
          </a:p>
          <a:p>
            <a:pPr algn="ctr"/>
            <a:r>
              <a:rPr sz="10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+1.06%／SD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353310" y="4224528"/>
            <a:ext cx="1008380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BLM の構成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11480" y="4370832"/>
            <a:ext cx="189611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3407410" y="4370832"/>
            <a:ext cx="1896110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11480" y="4590288"/>
            <a:ext cx="4892040" cy="1645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標本：</a:t>
            </a:r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米国小型株 1,000 社（浮動株時価総額 1,001〜3,000 位）、決算発表文 約 1.2 万本</a:t>
            </a:r>
          </a:p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見通し：</a:t>
            </a:r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ドリフトの点数（ChronoGPT＋リッジ、先読みなし）</a:t>
            </a:r>
          </a:p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比較対象：</a:t>
            </a:r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範囲の全社を時価総額に比例して保有</a:t>
            </a:r>
          </a:p>
          <a:p>
            <a:pPr marL="182880" indent="-182880">
              <a:spcAft>
                <a:spcPts val="3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sz="11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制約：</a:t>
            </a:r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比較対象からの乖離（TE）は年 3% 以内、四半期ごとに組み替え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31184" y="1783080"/>
            <a:ext cx="4492942" cy="29260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資産の推移（元の 1,000 社、2016 年末＝1、費用控除後）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5577840" y="1929384"/>
            <a:ext cx="807624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10969847" y="1929384"/>
            <a:ext cx="807625" cy="0"/>
          </a:xfrm>
          <a:prstGeom prst="line">
            <a:avLst/>
          </a:prstGeom>
          <a:ln w="9525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49" name="資産の推移"/>
          <p:cNvGraphicFramePr>
            <a:graphicFrameLocks noGrp="1"/>
          </p:cNvGraphicFramePr>
          <p:nvPr/>
        </p:nvGraphicFramePr>
        <p:xfrm>
          <a:off x="5577840" y="2121408"/>
          <a:ext cx="6199632" cy="40690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0" name="最後の値"/>
          <p:cNvSpPr/>
          <p:nvPr/>
        </p:nvSpPr>
        <p:spPr>
          <a:xfrm>
            <a:off x="6537960" y="2240280"/>
            <a:ext cx="3429000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525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629400" y="2276856"/>
            <a:ext cx="3246120" cy="8595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5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BLM 3.76 倍 ／ 比較対象 3.00 倍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差は年 +2.4%（費用控除後）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別の 1,000 社：3.47 倍 ／ 2.84 倍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 標本での優位は偽の点数では再現されず、読み取りの中身に由来するが、</a:t>
            </a:r>
          </a:p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売買費用に対しては脆弱である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優位の要因の確認（実験 G、探索）</a:t>
            </a: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00" b="1" lang="ja-JP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2017-01〜2026-09 の 2,449 日。結果は「元の 1,000 社・別の 1,000 社」の順。費用は BLM と比較対象の双方の売買に適用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1480" y="178308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観点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2112264"/>
            <a:ext cx="146304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2057400" y="1783080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問い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103120" y="2112264"/>
            <a:ext cx="269748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937760" y="178308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結果（元・別の 1,000 社）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983480" y="2112264"/>
            <a:ext cx="329184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78240" y="1783080"/>
            <a:ext cx="299923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解釈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8823960" y="2112264"/>
            <a:ext cx="290779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411480" y="2212848"/>
            <a:ext cx="1554480" cy="9784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6344" y="2249424"/>
            <a:ext cx="1444752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偽の点数</a:t>
            </a:r>
          </a:p>
          <a:p>
            <a:pPr algn="ctr"/>
            <a:r>
              <a:rPr sz="1000" b="0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（G1）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2212848"/>
            <a:ext cx="219456" cy="219456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0" y="2212848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57400" y="2212848"/>
            <a:ext cx="2788920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148840" y="2249424"/>
            <a:ext cx="2606039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点数を銘柄間でシャッフルした偽の BLM（100 回）でも同等の成績となるか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937760" y="2212848"/>
            <a:ext cx="3383280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0" y="2249424"/>
            <a:ext cx="3200400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本物以上は 100 回中 0 回（p 0.01）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偽物の平均は年 −1.0%・−1.3%、本物は +2.4%・+2.2%</a:t>
            </a:r>
          </a:p>
        </p:txBody>
      </p:sp>
      <p:sp>
        <p:nvSpPr>
          <p:cNvPr id="39" name="Oval 38"/>
          <p:cNvSpPr/>
          <p:nvPr/>
        </p:nvSpPr>
        <p:spPr>
          <a:xfrm>
            <a:off x="8412480" y="2564892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12480" y="25648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778240" y="2212848"/>
            <a:ext cx="2999232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869680" y="2249424"/>
            <a:ext cx="2816351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優位は点数の中身に由来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BLM の仕組みだけでは勝てない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" y="3282696"/>
            <a:ext cx="1554480" cy="9784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66344" y="3319272"/>
            <a:ext cx="1444752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既知の要因</a:t>
            </a:r>
          </a:p>
          <a:p>
            <a:pPr algn="ctr"/>
            <a:r>
              <a:rPr sz="1000" b="0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（G2）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3282696"/>
            <a:ext cx="219456" cy="219456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3282696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B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057400" y="3282696"/>
            <a:ext cx="2788920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148840" y="3319272"/>
            <a:ext cx="2606039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規模・割安・収益性・投資・市場・モメンタムの 6 因子で説明できるか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37760" y="3282696"/>
            <a:ext cx="3383280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29200" y="3319272"/>
            <a:ext cx="3200400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α 年 +1.9%・+1.6%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t 2.12・1.65。モメンタムへの傾きが強い</a:t>
            </a:r>
          </a:p>
        </p:txBody>
      </p:sp>
      <p:sp>
        <p:nvSpPr>
          <p:cNvPr id="51" name="Oval 50"/>
          <p:cNvSpPr/>
          <p:nvPr/>
        </p:nvSpPr>
        <p:spPr>
          <a:xfrm>
            <a:off x="8412480" y="3634740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412480" y="363474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778240" y="3282696"/>
            <a:ext cx="2999232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869680" y="3319272"/>
            <a:ext cx="2816351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一部は因子で説明、残余あり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差の約 2 割が因子による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11480" y="4352544"/>
            <a:ext cx="1554480" cy="97840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6344" y="4389120"/>
            <a:ext cx="1444752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売買費用</a:t>
            </a:r>
          </a:p>
          <a:p>
            <a:pPr algn="ctr"/>
            <a:r>
              <a:rPr sz="1000" b="0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（G5）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11480" y="4352544"/>
            <a:ext cx="219456" cy="219456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1480" y="4352544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057400" y="4352544"/>
            <a:ext cx="2788920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148840" y="4389120"/>
            <a:ext cx="2606039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売買費用が増えても優位は残るか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0" y="4352544"/>
            <a:ext cx="3383280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029200" y="4389120"/>
            <a:ext cx="3200400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片道 1% で有意でなくなる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0.5% で +1.9%・+1.7%、1% で +0.8%・+0.5%</a:t>
            </a:r>
          </a:p>
        </p:txBody>
      </p:sp>
      <p:sp>
        <p:nvSpPr>
          <p:cNvPr id="63" name="Oval 62"/>
          <p:cNvSpPr/>
          <p:nvPr/>
        </p:nvSpPr>
        <p:spPr>
          <a:xfrm>
            <a:off x="8412480" y="4704588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412480" y="470458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778240" y="4352544"/>
            <a:ext cx="2999232" cy="978408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869680" y="4389120"/>
            <a:ext cx="2816351" cy="9052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費用に脆弱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四半期ごとに保有の約 85% を入れ替えるため</a:t>
            </a:r>
          </a:p>
        </p:txBody>
      </p:sp>
      <p:sp>
        <p:nvSpPr>
          <p:cNvPr id="67" name="Trapezoid 66"/>
          <p:cNvSpPr/>
          <p:nvPr/>
        </p:nvSpPr>
        <p:spPr>
          <a:xfrm rot="10800000">
            <a:off x="411480" y="5468112"/>
            <a:ext cx="11365992" cy="219456"/>
          </a:xfrm>
          <a:prstGeom prst="trapezoid">
            <a:avLst>
              <a:gd name="adj" fmla="val 40000"/>
            </a:avLst>
          </a:prstGeom>
          <a:solidFill>
            <a:srgbClr val="BA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まとめ"/>
          <p:cNvSpPr/>
          <p:nvPr/>
        </p:nvSpPr>
        <p:spPr>
          <a:xfrm>
            <a:off x="411480" y="5724144"/>
            <a:ext cx="11365992" cy="47548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02920" y="5760720"/>
            <a:ext cx="11183112" cy="4023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2 標本は結果を見ながら繰り返し分析した探索的結果 → 未使用の標本で事前登録検定を実施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未使用の 400 社で事前登録した検定では BLM の優位は確認されず、</a:t>
            </a:r>
          </a:p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3 標本すべてで成立したのは変動率の予測のみであった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事前登録による確認（実験 G3）</a:t>
            </a:r>
          </a:p>
        </p:txBody>
      </p:sp>
      <p:sp>
        <p:nvSpPr>
          <p:cNvPr id="4" name="発表の流れ"/>
          <p:cNvSpPr/>
          <p:nvPr/>
        </p:nvSpPr>
        <p:spPr>
          <a:xfrm>
            <a:off x="8229600" y="1097280"/>
            <a:ext cx="3547872" cy="548640"/>
          </a:xfrm>
          <a:prstGeom prst="rect">
            <a:avLst/>
          </a:prstGeom>
          <a:solidFill>
            <a:srgbClr val="F1F2F1"/>
          </a:solidFill>
          <a:ln w="12700">
            <a:solidFill>
              <a:srgbClr val="BA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0" y="1124712"/>
            <a:ext cx="3547872" cy="1828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00" b="1" lang="ja-JP">
                <a:solidFill>
                  <a:srgbClr val="52555A"/>
                </a:solidFill>
                <a:latin typeface="メイリオ"/>
                <a:ea typeface="メイリオ"/>
                <a:cs typeface="メイリオ"/>
              </a:rPr>
              <a:t>本発表の流れ</a:t>
            </a:r>
          </a:p>
        </p:txBody>
      </p:sp>
      <p:sp>
        <p:nvSpPr>
          <p:cNvPr id="6" name="Rectangle 5"/>
          <p:cNvSpPr/>
          <p:nvPr/>
        </p:nvSpPr>
        <p:spPr>
          <a:xfrm>
            <a:off x="8284464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2752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元論文</a:t>
            </a:r>
          </a:p>
        </p:txBody>
      </p:sp>
      <p:sp>
        <p:nvSpPr>
          <p:cNvPr id="8" name="Isosceles Triangle 7"/>
          <p:cNvSpPr/>
          <p:nvPr/>
        </p:nvSpPr>
        <p:spPr>
          <a:xfrm rot="5400000">
            <a:off x="8901684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997696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15984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決算文</a:t>
            </a:r>
          </a:p>
        </p:txBody>
      </p:sp>
      <p:sp>
        <p:nvSpPr>
          <p:cNvPr id="11" name="Isosceles Triangle 10"/>
          <p:cNvSpPr/>
          <p:nvPr/>
        </p:nvSpPr>
        <p:spPr>
          <a:xfrm rot="5400000">
            <a:off x="9614916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9710928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29216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14" name="Isosceles Triangle 13"/>
          <p:cNvSpPr/>
          <p:nvPr/>
        </p:nvSpPr>
        <p:spPr>
          <a:xfrm rot="5400000">
            <a:off x="10328148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24160" y="1335024"/>
            <a:ext cx="585216" cy="246888"/>
          </a:xfrm>
          <a:prstGeom prst="rect">
            <a:avLst/>
          </a:prstGeom>
          <a:solidFill>
            <a:srgbClr val="D8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42448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小型株</a:t>
            </a:r>
          </a:p>
        </p:txBody>
      </p:sp>
      <p:sp>
        <p:nvSpPr>
          <p:cNvPr id="17" name="Isosceles Triangle 16"/>
          <p:cNvSpPr/>
          <p:nvPr/>
        </p:nvSpPr>
        <p:spPr>
          <a:xfrm rot="5400000">
            <a:off x="11041380" y="1426464"/>
            <a:ext cx="64008" cy="64008"/>
          </a:xfrm>
          <a:prstGeom prst="triangle">
            <a:avLst/>
          </a:prstGeom>
          <a:solidFill>
            <a:srgbClr val="9699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1137392" y="1335024"/>
            <a:ext cx="585216" cy="24688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5680" y="1371600"/>
            <a:ext cx="548640" cy="17373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8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検証</a:t>
            </a:r>
          </a:p>
        </p:txBody>
      </p:sp>
      <p:sp>
        <p:nvSpPr>
          <p:cNvPr id="20" name="脚注"/>
          <p:cNvSpPr txBox="1"/>
          <p:nvPr/>
        </p:nvSpPr>
        <p:spPr>
          <a:xfrm>
            <a:off x="411480" y="6291072"/>
            <a:ext cx="11365992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*1: 変動率・ドリフトは点数 1 標準偏差あたりの係数。偽の点数との比較でも、400 社では本物以上が 100 回中 12 回（p 0.13）</a:t>
            </a:r>
          </a:p>
        </p:txBody>
      </p:sp>
      <p:sp>
        <p:nvSpPr>
          <p:cNvPr id="21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1783080"/>
            <a:ext cx="914400" cy="9144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6344" y="1819656"/>
            <a:ext cx="804672" cy="8412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検定の設計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417320" y="1783080"/>
            <a:ext cx="10360152" cy="91440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554480" y="1819656"/>
            <a:ext cx="10149840" cy="8412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marL="182880" indent="-182880">
              <a:spcAft>
                <a:spcPts val="1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元・別のいずれの標本にも含まれない残り 400 社を使用</a:t>
            </a:r>
          </a:p>
          <a:p>
            <a:pPr marL="182880" indent="-182880">
              <a:spcAft>
                <a:spcPts val="1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データ掃除の規則と売買費用を計算前に固定し、1 回のみ実行</a:t>
            </a:r>
          </a:p>
          <a:p>
            <a:pPr marL="182880" indent="-182880">
              <a:spcAft>
                <a:spcPts val="100"/>
              </a:spcAft>
              <a:buClr>
                <a:srgbClr val="000000"/>
              </a:buClr>
              <a:buSzPct val="75000"/>
              <a:buFont typeface="Arial"/>
              <a:buChar char="■"/>
            </a:pPr>
            <a:r>
              <a:rPr sz="110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400 社では検出力が約 7 割にとどまることも事前に明記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11880" y="2880360"/>
            <a:ext cx="2679192" cy="4572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703320" y="2916936"/>
            <a:ext cx="249631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元の 1,000 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45936" y="2880360"/>
            <a:ext cx="2679192" cy="4572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37376" y="2916936"/>
            <a:ext cx="249631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別の 1,000 社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79992" y="2880360"/>
            <a:ext cx="2697480" cy="45720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71432" y="2916936"/>
            <a:ext cx="2514600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未使用の 400 社（事前登録）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3401568"/>
            <a:ext cx="3127248" cy="64008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66344" y="3438144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変動率の予測</a:t>
            </a:r>
          </a:p>
          <a:p>
            <a:pPr algn="ctr"/>
            <a:r>
              <a:rPr sz="1000" b="0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S2：発表後 2〜60 日の荒さ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11880" y="3401568"/>
            <a:ext cx="2679192" cy="6400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703320" y="3438144"/>
            <a:ext cx="249631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✓  </a:t>
            </a:r>
            <a:r>
              <a:rPr sz="13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+1.5%（t 4.01）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45936" y="3401568"/>
            <a:ext cx="2679192" cy="6400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37376" y="3438144"/>
            <a:ext cx="249631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✓  </a:t>
            </a:r>
            <a:r>
              <a:rPr sz="13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+1.06%（t 3.01）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79992" y="3401568"/>
            <a:ext cx="2697480" cy="640080"/>
          </a:xfrm>
          <a:prstGeom prst="rect">
            <a:avLst/>
          </a:prstGeom>
          <a:solidFill>
            <a:srgbClr val="F1F2F1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71432" y="3438144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✓  </a:t>
            </a:r>
            <a:r>
              <a:rPr sz="13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+2.04%（t 4.38）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1480" y="4096512"/>
            <a:ext cx="3127248" cy="64008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6344" y="4133088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ドリフトの予測</a:t>
            </a:r>
          </a:p>
          <a:p>
            <a:pPr algn="ctr"/>
            <a:r>
              <a:rPr sz="1000" b="0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S1：発表後 2〜60 日の値動き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11880" y="4096512"/>
            <a:ext cx="2679192" cy="6400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703320" y="4133088"/>
            <a:ext cx="249631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✓  </a:t>
            </a:r>
            <a:r>
              <a:rPr sz="13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+0.76%（t 3.20）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345936" y="4096512"/>
            <a:ext cx="2679192" cy="6400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37376" y="4133088"/>
            <a:ext cx="249631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✓  </a:t>
            </a:r>
            <a:r>
              <a:rPr sz="13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+0.54%（t 2.22）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079992" y="4096512"/>
            <a:ext cx="2697480" cy="640080"/>
          </a:xfrm>
          <a:prstGeom prst="rect">
            <a:avLst/>
          </a:prstGeom>
          <a:solidFill>
            <a:srgbClr val="F1F2F1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171432" y="4133088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C0281E"/>
                </a:solidFill>
                <a:latin typeface="メイリオ"/>
                <a:ea typeface="メイリオ"/>
                <a:cs typeface="メイリオ"/>
              </a:rPr>
              <a:t>✗  </a:t>
            </a:r>
            <a:r>
              <a:rPr sz="1300" b="1" lang="ja-JP">
                <a:solidFill>
                  <a:srgbClr val="C0281E"/>
                </a:solidFill>
                <a:latin typeface="メイリオ"/>
                <a:ea typeface="メイリオ"/>
                <a:cs typeface="メイリオ"/>
              </a:rPr>
              <a:t>+0.24%（t 0.66）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11480" y="4791456"/>
            <a:ext cx="3127248" cy="64008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66344" y="4828032"/>
            <a:ext cx="301752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3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BLM の優位</a:t>
            </a:r>
          </a:p>
          <a:p>
            <a:pPr algn="ctr"/>
            <a:r>
              <a:rPr sz="1000" b="0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費用控除後、年率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11880" y="4791456"/>
            <a:ext cx="2679192" cy="6400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703320" y="4828032"/>
            <a:ext cx="249631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–  </a:t>
            </a:r>
            <a:r>
              <a:rPr sz="1300" b="1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+2.4%（探索）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345936" y="4791456"/>
            <a:ext cx="2679192" cy="640080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37376" y="4828032"/>
            <a:ext cx="2496312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–  </a:t>
            </a:r>
            <a:r>
              <a:rPr sz="1300" b="1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+2.2%（探索）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079992" y="4791456"/>
            <a:ext cx="2697480" cy="640080"/>
          </a:xfrm>
          <a:prstGeom prst="rect">
            <a:avLst/>
          </a:prstGeom>
          <a:solidFill>
            <a:srgbClr val="F1F2F1"/>
          </a:solidFill>
          <a:ln w="1270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171432" y="4828032"/>
            <a:ext cx="2514600" cy="56692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500" b="1" lang="ja-JP">
                <a:solidFill>
                  <a:srgbClr val="C0281E"/>
                </a:solidFill>
                <a:latin typeface="メイリオ"/>
                <a:ea typeface="メイリオ"/>
                <a:cs typeface="メイリオ"/>
              </a:rPr>
              <a:t>✗  </a:t>
            </a:r>
            <a:r>
              <a:rPr sz="1300" b="1" lang="ja-JP">
                <a:solidFill>
                  <a:srgbClr val="C0281E"/>
                </a:solidFill>
                <a:latin typeface="メイリオ"/>
                <a:ea typeface="メイリオ"/>
                <a:cs typeface="メイリオ"/>
              </a:rPr>
              <a:t>+0.74%（p 0.25）</a:t>
            </a:r>
          </a:p>
        </p:txBody>
      </p:sp>
      <p:sp>
        <p:nvSpPr>
          <p:cNvPr id="57" name="Trapezoid 56"/>
          <p:cNvSpPr/>
          <p:nvPr/>
        </p:nvSpPr>
        <p:spPr>
          <a:xfrm rot="10800000">
            <a:off x="411480" y="5541264"/>
            <a:ext cx="11365992" cy="182880"/>
          </a:xfrm>
          <a:prstGeom prst="trapezoid">
            <a:avLst>
              <a:gd name="adj" fmla="val 40000"/>
            </a:avLst>
          </a:prstGeom>
          <a:solidFill>
            <a:srgbClr val="BA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まとめ"/>
          <p:cNvSpPr/>
          <p:nvPr/>
        </p:nvSpPr>
        <p:spPr>
          <a:xfrm>
            <a:off x="411480" y="5760720"/>
            <a:ext cx="11365992" cy="457200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5797296"/>
            <a:ext cx="11183112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BLM 不支持の主因は組み方ではなく、前段のドリフト予測がこの 400 社で弱かったこと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タイトル"/>
          <p:cNvSpPr txBox="1"/>
          <p:nvPr/>
        </p:nvSpPr>
        <p:spPr>
          <a:xfrm>
            <a:off x="411480" y="256032"/>
            <a:ext cx="11365992" cy="8229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LLM の読み取りは株価材料として有効だが、BLM による超過収益は立証に至らず、</a:t>
            </a:r>
          </a:p>
          <a:p>
            <a:pPr algn="l">
              <a:lnSpc>
                <a:spcPts val="3000"/>
              </a:lnSpc>
            </a:pPr>
            <a:r>
              <a:rPr sz="2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確実な成果はリスクの予測に限られる</a:t>
            </a:r>
          </a:p>
        </p:txBody>
      </p:sp>
      <p:sp>
        <p:nvSpPr>
          <p:cNvPr id="3" name="小見出し"/>
          <p:cNvSpPr txBox="1"/>
          <p:nvPr/>
        </p:nvSpPr>
        <p:spPr>
          <a:xfrm>
            <a:off x="411480" y="1216152"/>
            <a:ext cx="758952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500" b="1" lang="ja-JP">
                <a:solidFill>
                  <a:srgbClr val="1973EB"/>
                </a:solidFill>
                <a:latin typeface="メイリオ"/>
                <a:ea typeface="メイリオ"/>
                <a:cs typeface="メイリオ"/>
              </a:rPr>
              <a:t>結論と今後の課題</a:t>
            </a:r>
          </a:p>
        </p:txBody>
      </p:sp>
      <p:sp>
        <p:nvSpPr>
          <p:cNvPr id="4" name="ページ番号"/>
          <p:cNvSpPr txBox="1"/>
          <p:nvPr/>
        </p:nvSpPr>
        <p:spPr>
          <a:xfrm>
            <a:off x="411480" y="6528816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91072" y="6528816"/>
            <a:ext cx="5486400" cy="20116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/>
            <a:r>
              <a:rPr sz="900" b="0" lang="ja-JP">
                <a:solidFill>
                  <a:srgbClr val="7E7F7E"/>
                </a:solidFill>
                <a:latin typeface="メイリオ"/>
                <a:ea typeface="メイリオ"/>
                <a:cs typeface="メイリオ"/>
              </a:rPr>
              <a:t>情報工学工房 2026　LLM-BLM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78308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観点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57200" y="2112264"/>
            <a:ext cx="1371600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1965960" y="17830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本研究で言えること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11679" y="2112264"/>
            <a:ext cx="4480561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995160" y="1783080"/>
            <a:ext cx="4782312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残る課題・今後の方針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040880" y="2112264"/>
            <a:ext cx="4690872" cy="0"/>
          </a:xfrm>
          <a:prstGeom prst="line">
            <a:avLst/>
          </a:prstGeom>
          <a:ln w="12700">
            <a:solidFill>
              <a:srgbClr val="0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411480" y="2212848"/>
            <a:ext cx="1463040" cy="80467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" y="2249424"/>
            <a:ext cx="1353312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読み取り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2212848"/>
            <a:ext cx="219456" cy="219456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2212848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65960" y="2212848"/>
            <a:ext cx="4572000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57400" y="2249424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決算発表文から株価材料を読める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アナリスト予想・追加学習モデル・先読みのない LLM と比べても有効</a:t>
            </a:r>
          </a:p>
        </p:txBody>
      </p:sp>
      <p:sp>
        <p:nvSpPr>
          <p:cNvPr id="18" name="Oval 17"/>
          <p:cNvSpPr/>
          <p:nvPr/>
        </p:nvSpPr>
        <p:spPr>
          <a:xfrm>
            <a:off x="6629400" y="2478024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24780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2212848"/>
            <a:ext cx="4782312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86600" y="2249424"/>
            <a:ext cx="4599432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記憶の完全な排除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先読みの排除は ChronoGPT による傍証にとどまる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099815"/>
            <a:ext cx="1463040" cy="80467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" y="3136391"/>
            <a:ext cx="1353312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大型株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099815"/>
            <a:ext cx="219456" cy="219456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3099815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65960" y="3099815"/>
            <a:ext cx="4572000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057400" y="3136391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情報は発表当日に織り込まれる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月次・日次の BLM は費用控除後に市場平均を上回らない</a:t>
            </a:r>
          </a:p>
        </p:txBody>
      </p:sp>
      <p:sp>
        <p:nvSpPr>
          <p:cNvPr id="28" name="Oval 27"/>
          <p:cNvSpPr/>
          <p:nvPr/>
        </p:nvSpPr>
        <p:spPr>
          <a:xfrm>
            <a:off x="6629400" y="3364991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29400" y="336499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995160" y="3099815"/>
            <a:ext cx="4782312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86600" y="3136391"/>
            <a:ext cx="4599432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日中データでの検証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発表直後の数分〜数時間の反応は未検証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3986783"/>
            <a:ext cx="1463040" cy="80467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6344" y="4023359"/>
            <a:ext cx="1353312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小型株の予測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3986783"/>
            <a:ext cx="219456" cy="219456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480" y="3986783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965960" y="3986783"/>
            <a:ext cx="4572000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057400" y="4023359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変動率の予測は 3 標本で成立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ドリフトの予測は 3 標本中 2 標本で成立</a:t>
            </a:r>
          </a:p>
        </p:txBody>
      </p:sp>
      <p:sp>
        <p:nvSpPr>
          <p:cNvPr id="38" name="Oval 37"/>
          <p:cNvSpPr/>
          <p:nvPr/>
        </p:nvSpPr>
        <p:spPr>
          <a:xfrm>
            <a:off x="6629400" y="4251959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29400" y="42519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95160" y="3986783"/>
            <a:ext cx="4782312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086600" y="4023359"/>
            <a:ext cx="4599432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リスク管理への応用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変動率の予測を保有量や TE の配分に活用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4873752"/>
            <a:ext cx="1463040" cy="804672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66344" y="4910328"/>
            <a:ext cx="1353312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5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小型株の BLM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11480" y="4873752"/>
            <a:ext cx="219456" cy="219456"/>
          </a:xfrm>
          <a:prstGeom prst="rect">
            <a:avLst/>
          </a:prstGeom>
          <a:solidFill>
            <a:srgbClr val="197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11480" y="4873752"/>
            <a:ext cx="219456" cy="21945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0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965960" y="4873752"/>
            <a:ext cx="4572000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2057400" y="4910328"/>
            <a:ext cx="438912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事前登録した検定では優位を確認できず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 標本の年 +2.2〜2.4% は探索的結果</a:t>
            </a:r>
          </a:p>
        </p:txBody>
      </p:sp>
      <p:sp>
        <p:nvSpPr>
          <p:cNvPr id="48" name="Oval 47"/>
          <p:cNvSpPr/>
          <p:nvPr/>
        </p:nvSpPr>
        <p:spPr>
          <a:xfrm>
            <a:off x="6629400" y="5138928"/>
            <a:ext cx="274320" cy="27432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629400" y="513892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2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»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995160" y="4873752"/>
            <a:ext cx="4782312" cy="804672"/>
          </a:xfrm>
          <a:prstGeom prst="rect">
            <a:avLst/>
          </a:prstGeom>
          <a:solidFill>
            <a:srgbClr val="F1F2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86600" y="4910328"/>
            <a:ext cx="4599432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/>
            <a:r>
              <a:rPr sz="1200" b="1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✓ 前向きの検証</a:t>
            </a:r>
          </a:p>
          <a:p>
            <a:pPr algn="l"/>
            <a:r>
              <a:rPr sz="1050" b="0" lang="ja-JP">
                <a:solidFill>
                  <a:srgbClr val="000000"/>
                </a:solidFill>
                <a:latin typeface="メイリオ"/>
                <a:ea typeface="メイリオ"/>
                <a:cs typeface="メイリオ"/>
              </a:rPr>
              <a:t>2026 年 11 月以降の未見の決算発表で再検証</a:t>
            </a:r>
          </a:p>
        </p:txBody>
      </p:sp>
      <p:sp>
        <p:nvSpPr>
          <p:cNvPr id="52" name="まとめ"/>
          <p:cNvSpPr/>
          <p:nvPr/>
        </p:nvSpPr>
        <p:spPr>
          <a:xfrm>
            <a:off x="411480" y="5788152"/>
            <a:ext cx="11365992" cy="429768"/>
          </a:xfrm>
          <a:prstGeom prst="rect">
            <a:avLst/>
          </a:prstGeom>
          <a:solidFill>
            <a:srgbClr val="525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02920" y="5824728"/>
            <a:ext cx="11183112" cy="35661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/>
            <a:r>
              <a:rPr sz="1400" b="1" lang="ja-JP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事前登録と別標本での確認により、期待した結果が弱まる過程も含めて検証結果を示した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467</TotalTime>
  <Words>1300</Words>
  <Application>Microsoft Macintosh PowerPoint</Application>
  <PresentationFormat>ワイド画面</PresentationFormat>
  <Paragraphs>193</Paragraphs>
  <Slides>12</Slides>
  <Notes>10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8" baseType="lpstr">
      <vt:lpstr>メイリオ</vt:lpstr>
      <vt:lpstr>游ゴシック</vt:lpstr>
      <vt:lpstr>Arial</vt:lpstr>
      <vt:lpstr>Calibri</vt:lpstr>
      <vt:lpstr>Courier New</vt:lpstr>
      <vt:lpstr>DashVTI</vt:lpstr>
      <vt:lpstr>LLMによる株式リターン予測とポートフォリオ最適化の検証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k2313080</dc:creator>
  <cp:lastModifiedBy>k2313080</cp:lastModifiedBy>
  <cp:revision>17</cp:revision>
  <dcterms:created xsi:type="dcterms:W3CDTF">2026-10-11T07:13:42Z</dcterms:created>
  <dcterms:modified xsi:type="dcterms:W3CDTF">2026-10-13T03:14:05Z</dcterms:modified>
</cp:coreProperties>
</file>