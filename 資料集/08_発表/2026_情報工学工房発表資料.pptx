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2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56"/>
    <p:restoredTop sz="94227" autoAdjust="0"/>
  </p:normalViewPr>
  <p:slideViewPr>
    <p:cSldViewPr snapToGrid="0">
      <p:cViewPr varScale="1">
        <p:scale>
          <a:sx n="68" d="100"/>
          <a:sy n="68" d="100"/>
        </p:scale>
        <p:origin x="83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5255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AAD9-4060-887C-A38A82C1EA1F}"/>
              </c:ext>
            </c:extLst>
          </c:dPt>
          <c:dPt>
            <c:idx val="1"/>
            <c:invertIfNegative val="0"/>
            <c:bubble3D val="0"/>
            <c:spPr>
              <a:solidFill>
                <a:srgbClr val="5255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AAD9-4060-887C-A38A82C1EA1F}"/>
              </c:ext>
            </c:extLst>
          </c:dPt>
          <c:dPt>
            <c:idx val="2"/>
            <c:invertIfNegative val="0"/>
            <c:bubble3D val="0"/>
            <c:spPr>
              <a:solidFill>
                <a:srgbClr val="5255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AAD9-4060-887C-A38A82C1EA1F}"/>
              </c:ext>
            </c:extLst>
          </c:dPt>
          <c:dPt>
            <c:idx val="3"/>
            <c:invertIfNegative val="0"/>
            <c:bubble3D val="0"/>
            <c:spPr>
              <a:solidFill>
                <a:srgbClr val="5255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AAD9-4060-887C-A38A82C1EA1F}"/>
              </c:ext>
            </c:extLst>
          </c:dPt>
          <c:dPt>
            <c:idx val="4"/>
            <c:invertIfNegative val="0"/>
            <c:bubble3D val="0"/>
            <c:spPr>
              <a:solidFill>
                <a:srgbClr val="52555A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AAD9-4060-887C-A38A82C1EA1F}"/>
              </c:ext>
            </c:extLst>
          </c:dPt>
          <c:dPt>
            <c:idx val="5"/>
            <c:invertIfNegative val="0"/>
            <c:bubble3D val="0"/>
            <c:spPr>
              <a:solidFill>
                <a:srgbClr val="1973E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AAD9-4060-887C-A38A82C1EA1F}"/>
              </c:ext>
            </c:extLst>
          </c:dPt>
          <c:dPt>
            <c:idx val="6"/>
            <c:invertIfNegative val="0"/>
            <c:bubble3D val="0"/>
            <c:spPr>
              <a:solidFill>
                <a:srgbClr val="1973E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AAD9-4060-887C-A38A82C1EA1F}"/>
              </c:ext>
            </c:extLst>
          </c:dPt>
          <c:dPt>
            <c:idx val="7"/>
            <c:invertIfNegative val="0"/>
            <c:bubble3D val="0"/>
            <c:spPr>
              <a:solidFill>
                <a:srgbClr val="1973E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AAD9-4060-887C-A38A82C1EA1F}"/>
              </c:ext>
            </c:extLst>
          </c:dPt>
          <c:errBars>
            <c:errBarType val="both"/>
            <c:errValType val="cust"/>
            <c:noEndCap val="0"/>
            <c:plus>
              <c:numLit>
                <c:formatCode>General</c:formatCode>
                <c:ptCount val="8"/>
                <c:pt idx="0">
                  <c:v>0.73042545592125641</c:v>
                </c:pt>
                <c:pt idx="1">
                  <c:v>1.0481059664506522</c:v>
                </c:pt>
                <c:pt idx="2">
                  <c:v>0.75890791107899724</c:v>
                </c:pt>
                <c:pt idx="3">
                  <c:v>0.58950383773481985</c:v>
                </c:pt>
                <c:pt idx="4">
                  <c:v>0.28425614763694934</c:v>
                </c:pt>
                <c:pt idx="5">
                  <c:v>0.33156427982212705</c:v>
                </c:pt>
                <c:pt idx="6">
                  <c:v>0.60719691672028953</c:v>
                </c:pt>
                <c:pt idx="7">
                  <c:v>0.61249881813239293</c:v>
                </c:pt>
              </c:numLit>
            </c:plus>
            <c:minus>
              <c:numLit>
                <c:formatCode>General</c:formatCode>
                <c:ptCount val="8"/>
                <c:pt idx="0">
                  <c:v>0.73042545592125641</c:v>
                </c:pt>
                <c:pt idx="1">
                  <c:v>1.0481059664506522</c:v>
                </c:pt>
                <c:pt idx="2">
                  <c:v>0.75890791107899724</c:v>
                </c:pt>
                <c:pt idx="3">
                  <c:v>0.58950383773481985</c:v>
                </c:pt>
                <c:pt idx="4">
                  <c:v>0.28425614763694934</c:v>
                </c:pt>
                <c:pt idx="5">
                  <c:v>0.33156427982212705</c:v>
                </c:pt>
                <c:pt idx="6">
                  <c:v>0.60719691672028953</c:v>
                </c:pt>
                <c:pt idx="7">
                  <c:v>0.61249881813239293</c:v>
                </c:pt>
              </c:numLit>
            </c:minus>
            <c:spPr>
              <a:ln w="12700">
                <a:solidFill>
                  <a:srgbClr val="000000"/>
                </a:solidFill>
              </a:ln>
            </c:spPr>
          </c:errBars>
          <c:cat>
            <c:strRef>
              <c:f>Sheet1!$A$2:$A$9</c:f>
              <c:strCache>
                <c:ptCount val="8"/>
                <c:pt idx="0">
                  <c:v>≤−2
487本</c:v>
                </c:pt>
                <c:pt idx="1">
                  <c:v>−1
184本</c:v>
                </c:pt>
                <c:pt idx="2">
                  <c:v>0
272本</c:v>
                </c:pt>
                <c:pt idx="3">
                  <c:v>1
407本</c:v>
                </c:pt>
                <c:pt idx="4">
                  <c:v>2
1,631本</c:v>
                </c:pt>
                <c:pt idx="5">
                  <c:v>3
1,401本</c:v>
                </c:pt>
                <c:pt idx="6">
                  <c:v>4
393本</c:v>
                </c:pt>
                <c:pt idx="7">
                  <c:v>≥5
599本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-2.8242290459135386</c:v>
                </c:pt>
                <c:pt idx="1">
                  <c:v>-1.5464373227521211</c:v>
                </c:pt>
                <c:pt idx="2">
                  <c:v>-0.65275616992519392</c:v>
                </c:pt>
                <c:pt idx="3">
                  <c:v>-0.56747657332100232</c:v>
                </c:pt>
                <c:pt idx="4">
                  <c:v>-0.33261575850074232</c:v>
                </c:pt>
                <c:pt idx="5">
                  <c:v>0.52798057814376964</c:v>
                </c:pt>
                <c:pt idx="6">
                  <c:v>0.87050286975859892</c:v>
                </c:pt>
                <c:pt idx="7">
                  <c:v>1.4759633722026477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AD9-4060-887C-A38A82C1EA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ja-JP" sz="1050" b="0">
                    <a:solidFill>
                      <a:srgbClr val="52555A"/>
                    </a:solidFill>
                    <a:latin typeface="メイリオ"/>
                    <a:ea typeface="メイリオ"/>
                    <a:cs typeface="メイリオ"/>
                  </a:rPr>
                  <a:t>合成点数（3 項目 × −2〜+2 の和）と発表の本数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0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3"/>
          <c:min val="-4"/>
        </c:scaling>
        <c:delete val="0"/>
        <c:axPos val="l"/>
        <c:majorGridlines>
          <c:spPr>
            <a:ln>
              <a:solidFill>
                <a:srgbClr val="E3E4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ja-JP" sz="1050" b="0">
                    <a:solidFill>
                      <a:srgbClr val="52555A"/>
                    </a:solidFill>
                    <a:latin typeface="メイリオ"/>
                    <a:ea typeface="メイリオ"/>
                    <a:cs typeface="メイリオ"/>
                  </a:rPr>
                  <a:t>超過リターンの平均（%）</a:t>
                </a:r>
              </a:p>
            </c:rich>
          </c:tx>
          <c:overlay val="0"/>
        </c:title>
        <c:numFmt formatCode="\+0&quot;%&quot;;\−0&quot;%&quot;;0&quot;%&quot;" sourceLinked="0"/>
        <c:majorTickMark val="out"/>
        <c:minorTickMark val="none"/>
        <c:tickLblPos val="nextTo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0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-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lang="ja-JP" sz="1050" b="0">
          <a:solidFill>
            <a:srgbClr val="000000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点数 上位 20%</c:v>
                </c:pt>
              </c:strCache>
            </c:strRef>
          </c:tx>
          <c:spPr>
            <a:ln w="28575">
              <a:solidFill>
                <a:srgbClr val="1973EB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5 日前</c:v>
                </c:pt>
                <c:pt idx="5">
                  <c:v>発表日</c:v>
                </c:pt>
                <c:pt idx="10">
                  <c:v>5 日後</c:v>
                </c:pt>
                <c:pt idx="15">
                  <c:v>10 日後</c:v>
                </c:pt>
                <c:pt idx="20">
                  <c:v>15 日後</c:v>
                </c:pt>
                <c:pt idx="25">
                  <c:v>20 日後</c:v>
                </c:pt>
              </c:strCache>
            </c:strRef>
          </c:cat>
          <c:val>
            <c:numRef>
              <c:f>Sheet1!$B$2:$B$28</c:f>
              <c:numCache>
                <c:formatCode>General</c:formatCode>
                <c:ptCount val="27"/>
                <c:pt idx="0">
                  <c:v>7.0000000000000007E-2</c:v>
                </c:pt>
                <c:pt idx="1">
                  <c:v>0.245</c:v>
                </c:pt>
                <c:pt idx="2">
                  <c:v>0.30599999999999999</c:v>
                </c:pt>
                <c:pt idx="3">
                  <c:v>0.38200000000000001</c:v>
                </c:pt>
                <c:pt idx="4">
                  <c:v>0.54200000000000004</c:v>
                </c:pt>
                <c:pt idx="5">
                  <c:v>1.8109999999999999</c:v>
                </c:pt>
                <c:pt idx="6">
                  <c:v>1.8080000000000001</c:v>
                </c:pt>
                <c:pt idx="7">
                  <c:v>1.9159999999999999</c:v>
                </c:pt>
                <c:pt idx="8">
                  <c:v>2</c:v>
                </c:pt>
                <c:pt idx="9">
                  <c:v>2.0270000000000001</c:v>
                </c:pt>
                <c:pt idx="10">
                  <c:v>1.992</c:v>
                </c:pt>
                <c:pt idx="11">
                  <c:v>2.0670000000000002</c:v>
                </c:pt>
                <c:pt idx="12">
                  <c:v>2.0649999999999999</c:v>
                </c:pt>
                <c:pt idx="13">
                  <c:v>2.12</c:v>
                </c:pt>
                <c:pt idx="14">
                  <c:v>2.1190000000000002</c:v>
                </c:pt>
                <c:pt idx="15">
                  <c:v>2.149</c:v>
                </c:pt>
                <c:pt idx="16">
                  <c:v>2.1419999999999999</c:v>
                </c:pt>
                <c:pt idx="17">
                  <c:v>2.1040000000000001</c:v>
                </c:pt>
                <c:pt idx="18">
                  <c:v>2.2589999999999999</c:v>
                </c:pt>
                <c:pt idx="19">
                  <c:v>2.2280000000000002</c:v>
                </c:pt>
                <c:pt idx="20">
                  <c:v>2.1779999999999999</c:v>
                </c:pt>
                <c:pt idx="21">
                  <c:v>2.238</c:v>
                </c:pt>
                <c:pt idx="22">
                  <c:v>2.3519999999999999</c:v>
                </c:pt>
                <c:pt idx="23">
                  <c:v>2.3330000000000002</c:v>
                </c:pt>
                <c:pt idx="24">
                  <c:v>2.4039999999999999</c:v>
                </c:pt>
                <c:pt idx="25">
                  <c:v>2.3820000000000001</c:v>
                </c:pt>
                <c:pt idx="26">
                  <c:v>2.3290000000000002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D3-44D9-A63B-06F354FB1B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中位 20%</c:v>
                </c:pt>
              </c:strCache>
            </c:strRef>
          </c:tx>
          <c:spPr>
            <a:ln w="28575">
              <a:solidFill>
                <a:srgbClr val="96999B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5 日前</c:v>
                </c:pt>
                <c:pt idx="5">
                  <c:v>発表日</c:v>
                </c:pt>
                <c:pt idx="10">
                  <c:v>5 日後</c:v>
                </c:pt>
                <c:pt idx="15">
                  <c:v>10 日後</c:v>
                </c:pt>
                <c:pt idx="20">
                  <c:v>15 日後</c:v>
                </c:pt>
                <c:pt idx="25">
                  <c:v>20 日後</c:v>
                </c:pt>
              </c:strCache>
            </c:strRef>
          </c:cat>
          <c:val>
            <c:numRef>
              <c:f>Sheet1!$C$2:$C$28</c:f>
              <c:numCache>
                <c:formatCode>General</c:formatCode>
                <c:ptCount val="27"/>
                <c:pt idx="0">
                  <c:v>6.0999999999999999E-2</c:v>
                </c:pt>
                <c:pt idx="1">
                  <c:v>2.7E-2</c:v>
                </c:pt>
                <c:pt idx="2">
                  <c:v>0.107</c:v>
                </c:pt>
                <c:pt idx="3">
                  <c:v>0.14499999999999999</c:v>
                </c:pt>
                <c:pt idx="4">
                  <c:v>0.13900000000000001</c:v>
                </c:pt>
                <c:pt idx="5">
                  <c:v>4.7E-2</c:v>
                </c:pt>
                <c:pt idx="6">
                  <c:v>-8.6999999999999994E-2</c:v>
                </c:pt>
                <c:pt idx="7">
                  <c:v>-0.13300000000000001</c:v>
                </c:pt>
                <c:pt idx="8">
                  <c:v>-0.14699999999999999</c:v>
                </c:pt>
                <c:pt idx="9">
                  <c:v>-0.249</c:v>
                </c:pt>
                <c:pt idx="10">
                  <c:v>-0.307</c:v>
                </c:pt>
                <c:pt idx="11">
                  <c:v>-0.30199999999999999</c:v>
                </c:pt>
                <c:pt idx="12">
                  <c:v>-0.30399999999999999</c:v>
                </c:pt>
                <c:pt idx="13">
                  <c:v>-0.45300000000000001</c:v>
                </c:pt>
                <c:pt idx="14">
                  <c:v>-0.48199999999999998</c:v>
                </c:pt>
                <c:pt idx="15">
                  <c:v>-0.52800000000000002</c:v>
                </c:pt>
                <c:pt idx="16">
                  <c:v>-0.52500000000000002</c:v>
                </c:pt>
                <c:pt idx="17">
                  <c:v>-0.51400000000000001</c:v>
                </c:pt>
                <c:pt idx="18">
                  <c:v>-0.51800000000000002</c:v>
                </c:pt>
                <c:pt idx="19">
                  <c:v>-0.53700000000000003</c:v>
                </c:pt>
                <c:pt idx="20">
                  <c:v>-0.437</c:v>
                </c:pt>
                <c:pt idx="21">
                  <c:v>-0.42899999999999999</c:v>
                </c:pt>
                <c:pt idx="22">
                  <c:v>-0.39300000000000002</c:v>
                </c:pt>
                <c:pt idx="23">
                  <c:v>-0.51100000000000001</c:v>
                </c:pt>
                <c:pt idx="24">
                  <c:v>-0.45400000000000001</c:v>
                </c:pt>
                <c:pt idx="25">
                  <c:v>-0.436</c:v>
                </c:pt>
                <c:pt idx="26">
                  <c:v>-0.41199999999999998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D3-44D9-A63B-06F354FB1B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下位 20%</c:v>
                </c:pt>
              </c:strCache>
            </c:strRef>
          </c:tx>
          <c:spPr>
            <a:ln w="28575">
              <a:solidFill>
                <a:srgbClr val="000000"/>
              </a:solidFill>
            </a:ln>
          </c:spPr>
          <c:marker>
            <c:symbol val="none"/>
          </c:marker>
          <c:cat>
            <c:strRef>
              <c:f>Sheet1!$A$2:$A$28</c:f>
              <c:strCache>
                <c:ptCount val="27"/>
                <c:pt idx="0">
                  <c:v>5 日前</c:v>
                </c:pt>
                <c:pt idx="5">
                  <c:v>発表日</c:v>
                </c:pt>
                <c:pt idx="10">
                  <c:v>5 日後</c:v>
                </c:pt>
                <c:pt idx="15">
                  <c:v>10 日後</c:v>
                </c:pt>
                <c:pt idx="20">
                  <c:v>15 日後</c:v>
                </c:pt>
                <c:pt idx="25">
                  <c:v>20 日後</c:v>
                </c:pt>
              </c:strCache>
            </c:strRef>
          </c:cat>
          <c:val>
            <c:numRef>
              <c:f>Sheet1!$D$2:$D$28</c:f>
              <c:numCache>
                <c:formatCode>General</c:formatCode>
                <c:ptCount val="27"/>
                <c:pt idx="0">
                  <c:v>-0.182</c:v>
                </c:pt>
                <c:pt idx="1">
                  <c:v>-0.19400000000000001</c:v>
                </c:pt>
                <c:pt idx="2">
                  <c:v>-0.159</c:v>
                </c:pt>
                <c:pt idx="3">
                  <c:v>-0.185</c:v>
                </c:pt>
                <c:pt idx="4">
                  <c:v>-0.245</c:v>
                </c:pt>
                <c:pt idx="5">
                  <c:v>-2.0990000000000002</c:v>
                </c:pt>
                <c:pt idx="6">
                  <c:v>-2.2069999999999999</c:v>
                </c:pt>
                <c:pt idx="7">
                  <c:v>-2.2400000000000002</c:v>
                </c:pt>
                <c:pt idx="8">
                  <c:v>-2.2000000000000002</c:v>
                </c:pt>
                <c:pt idx="9">
                  <c:v>-2.1800000000000002</c:v>
                </c:pt>
                <c:pt idx="10">
                  <c:v>-2.1589999999999998</c:v>
                </c:pt>
                <c:pt idx="11">
                  <c:v>-2.2610000000000001</c:v>
                </c:pt>
                <c:pt idx="12">
                  <c:v>-2.2320000000000002</c:v>
                </c:pt>
                <c:pt idx="13">
                  <c:v>-2.274</c:v>
                </c:pt>
                <c:pt idx="14">
                  <c:v>-2.2109999999999999</c:v>
                </c:pt>
                <c:pt idx="15">
                  <c:v>-2.278</c:v>
                </c:pt>
                <c:pt idx="16">
                  <c:v>-2.331</c:v>
                </c:pt>
                <c:pt idx="17">
                  <c:v>-2.2829999999999999</c:v>
                </c:pt>
                <c:pt idx="18">
                  <c:v>-2.323</c:v>
                </c:pt>
                <c:pt idx="19">
                  <c:v>-2.339</c:v>
                </c:pt>
                <c:pt idx="20">
                  <c:v>-2.302</c:v>
                </c:pt>
                <c:pt idx="21">
                  <c:v>-2.298</c:v>
                </c:pt>
                <c:pt idx="22">
                  <c:v>-2.2730000000000001</c:v>
                </c:pt>
                <c:pt idx="23">
                  <c:v>-2.2970000000000002</c:v>
                </c:pt>
                <c:pt idx="24">
                  <c:v>-2.302</c:v>
                </c:pt>
                <c:pt idx="25">
                  <c:v>-2.2410000000000001</c:v>
                </c:pt>
                <c:pt idx="26">
                  <c:v>-2.2389999999999999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D3-44D9-A63B-06F354FB1B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ja-JP" sz="1050" b="0">
                    <a:solidFill>
                      <a:srgbClr val="52555A"/>
                    </a:solidFill>
                    <a:latin typeface="メイリオ"/>
                    <a:ea typeface="メイリオ"/>
                    <a:cs typeface="メイリオ"/>
                  </a:rPr>
                  <a:t>発表からの日数（取引日）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>
          <c:orientation val="minMax"/>
          <c:max val="3"/>
          <c:min val="-3"/>
        </c:scaling>
        <c:delete val="0"/>
        <c:axPos val="l"/>
        <c:majorGridlines>
          <c:spPr>
            <a:ln>
              <a:solidFill>
                <a:srgbClr val="E3E4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ja-JP" sz="1050" b="0">
                    <a:solidFill>
                      <a:srgbClr val="52555A"/>
                    </a:solidFill>
                    <a:latin typeface="メイリオ"/>
                    <a:ea typeface="メイリオ"/>
                    <a:cs typeface="メイリオ"/>
                  </a:rPr>
                  <a:t>同業種との差（累積、%）</a:t>
                </a:r>
              </a:p>
            </c:rich>
          </c:tx>
          <c:overlay val="0"/>
        </c:title>
        <c:numFmt formatCode="\+0&quot;%&quot;;\-0&quot;%&quot;;0&quot;%&quot;" sourceLinked="0"/>
        <c:majorTickMark val="out"/>
        <c:minorTickMark val="none"/>
        <c:tickLblPos val="nextTo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2118791784"/>
        <c:crosses val="autoZero"/>
        <c:crossBetween val="between"/>
        <c:majorUnit val="1"/>
      </c:valAx>
    </c:plotArea>
    <c:legend>
      <c:legendPos val="b"/>
      <c:overlay val="0"/>
      <c:txPr>
        <a:bodyPr/>
        <a:lstStyle/>
        <a:p>
          <a:pPr>
            <a:defRPr lang="ja-JP" sz="1100" b="0">
              <a:solidFill>
                <a:srgbClr val="000000"/>
              </a:solidFill>
              <a:latin typeface="メイリオ"/>
              <a:ea typeface="メイリオ"/>
              <a:cs typeface="メイリオ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lang="ja-JP" sz="1100" b="0">
          <a:solidFill>
            <a:srgbClr val="000000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BLM（読み取りの見通し）</c:v>
                </c:pt>
              </c:strCache>
            </c:strRef>
          </c:tx>
          <c:spPr>
            <a:ln w="28575">
              <a:solidFill>
                <a:srgbClr val="1973EB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2017</c:v>
                </c:pt>
                <c:pt idx="12">
                  <c:v>2018</c:v>
                </c:pt>
                <c:pt idx="24">
                  <c:v>2019</c:v>
                </c:pt>
                <c:pt idx="36">
                  <c:v>2020</c:v>
                </c:pt>
                <c:pt idx="48">
                  <c:v>2021</c:v>
                </c:pt>
                <c:pt idx="60">
                  <c:v>2022</c:v>
                </c:pt>
                <c:pt idx="72">
                  <c:v>2023</c:v>
                </c:pt>
                <c:pt idx="84">
                  <c:v>2024</c:v>
                </c:pt>
                <c:pt idx="96">
                  <c:v>2025</c:v>
                </c:pt>
                <c:pt idx="108">
                  <c:v>2026</c:v>
                </c:pt>
              </c:strCache>
            </c:strRef>
          </c:cat>
          <c:val>
            <c:numRef>
              <c:f>Sheet1!$B$2:$B$119</c:f>
              <c:numCache>
                <c:formatCode>General</c:formatCode>
                <c:ptCount val="118"/>
                <c:pt idx="0">
                  <c:v>1</c:v>
                </c:pt>
                <c:pt idx="1">
                  <c:v>1.0146608331239719</c:v>
                </c:pt>
                <c:pt idx="2">
                  <c:v>1.0449449587038924</c:v>
                </c:pt>
                <c:pt idx="3">
                  <c:v>1.0537479233860887</c:v>
                </c:pt>
                <c:pt idx="4">
                  <c:v>1.0819207793175663</c:v>
                </c:pt>
                <c:pt idx="5">
                  <c:v>1.0507234782016661</c:v>
                </c:pt>
                <c:pt idx="6">
                  <c:v>1.0827797234177172</c:v>
                </c:pt>
                <c:pt idx="7">
                  <c:v>1.1068399837577421</c:v>
                </c:pt>
                <c:pt idx="8">
                  <c:v>1.0907705307594318</c:v>
                </c:pt>
                <c:pt idx="9">
                  <c:v>1.1668642089163319</c:v>
                </c:pt>
                <c:pt idx="10">
                  <c:v>1.196793310559215</c:v>
                </c:pt>
                <c:pt idx="11">
                  <c:v>1.211410609952783</c:v>
                </c:pt>
                <c:pt idx="12">
                  <c:v>1.198292031235686</c:v>
                </c:pt>
                <c:pt idx="13">
                  <c:v>1.2394245813852023</c:v>
                </c:pt>
                <c:pt idx="14">
                  <c:v>1.185812522712661</c:v>
                </c:pt>
                <c:pt idx="15">
                  <c:v>1.2133738959179987</c:v>
                </c:pt>
                <c:pt idx="16">
                  <c:v>1.2348363974492762</c:v>
                </c:pt>
                <c:pt idx="17">
                  <c:v>1.3173511577676462</c:v>
                </c:pt>
                <c:pt idx="18">
                  <c:v>1.3304917629041129</c:v>
                </c:pt>
                <c:pt idx="19">
                  <c:v>1.3571439889669266</c:v>
                </c:pt>
                <c:pt idx="20">
                  <c:v>1.4356082865903841</c:v>
                </c:pt>
                <c:pt idx="21">
                  <c:v>1.4167645237066131</c:v>
                </c:pt>
                <c:pt idx="22">
                  <c:v>1.2657266110000278</c:v>
                </c:pt>
                <c:pt idx="23">
                  <c:v>1.2795819588224011</c:v>
                </c:pt>
                <c:pt idx="24">
                  <c:v>1.1312631631924628</c:v>
                </c:pt>
                <c:pt idx="25">
                  <c:v>1.2603370117341561</c:v>
                </c:pt>
                <c:pt idx="26">
                  <c:v>1.3431263601199577</c:v>
                </c:pt>
                <c:pt idx="27">
                  <c:v>1.3177884205058914</c:v>
                </c:pt>
                <c:pt idx="28">
                  <c:v>1.3690724144721516</c:v>
                </c:pt>
                <c:pt idx="29">
                  <c:v>1.2655303610507675</c:v>
                </c:pt>
                <c:pt idx="30">
                  <c:v>1.360485263189398</c:v>
                </c:pt>
                <c:pt idx="31">
                  <c:v>1.3699355267053992</c:v>
                </c:pt>
                <c:pt idx="32">
                  <c:v>1.2902773269020136</c:v>
                </c:pt>
                <c:pt idx="33">
                  <c:v>1.3143354627004662</c:v>
                </c:pt>
                <c:pt idx="34">
                  <c:v>1.3355923375726193</c:v>
                </c:pt>
                <c:pt idx="35">
                  <c:v>1.3977234678326758</c:v>
                </c:pt>
                <c:pt idx="36">
                  <c:v>1.4195528641725417</c:v>
                </c:pt>
                <c:pt idx="37">
                  <c:v>1.3485528070730259</c:v>
                </c:pt>
                <c:pt idx="38">
                  <c:v>1.238277110600952</c:v>
                </c:pt>
                <c:pt idx="39">
                  <c:v>0.95833686894583947</c:v>
                </c:pt>
                <c:pt idx="40">
                  <c:v>1.1250566824071779</c:v>
                </c:pt>
                <c:pt idx="41">
                  <c:v>1.2077779942027791</c:v>
                </c:pt>
                <c:pt idx="42">
                  <c:v>1.2650095211169361</c:v>
                </c:pt>
                <c:pt idx="43">
                  <c:v>1.3098216107565597</c:v>
                </c:pt>
                <c:pt idx="44">
                  <c:v>1.3710423764038637</c:v>
                </c:pt>
                <c:pt idx="45">
                  <c:v>1.3114607003423333</c:v>
                </c:pt>
                <c:pt idx="46">
                  <c:v>1.3589939870208099</c:v>
                </c:pt>
                <c:pt idx="47">
                  <c:v>1.6298221995598043</c:v>
                </c:pt>
                <c:pt idx="48">
                  <c:v>1.7726009797957922</c:v>
                </c:pt>
                <c:pt idx="49">
                  <c:v>1.8398309348687036</c:v>
                </c:pt>
                <c:pt idx="50">
                  <c:v>2.000445350131959</c:v>
                </c:pt>
                <c:pt idx="51">
                  <c:v>2.0813336223085006</c:v>
                </c:pt>
                <c:pt idx="52">
                  <c:v>2.1290500748405083</c:v>
                </c:pt>
                <c:pt idx="53">
                  <c:v>2.1733449282447279</c:v>
                </c:pt>
                <c:pt idx="54">
                  <c:v>2.1949280316666622</c:v>
                </c:pt>
                <c:pt idx="55">
                  <c:v>2.1614508200055789</c:v>
                </c:pt>
                <c:pt idx="56">
                  <c:v>2.2154082696829693</c:v>
                </c:pt>
                <c:pt idx="57">
                  <c:v>2.1576013843813437</c:v>
                </c:pt>
                <c:pt idx="58">
                  <c:v>2.2534464103273839</c:v>
                </c:pt>
                <c:pt idx="59">
                  <c:v>2.2065664816900092</c:v>
                </c:pt>
                <c:pt idx="60">
                  <c:v>2.2671100142514726</c:v>
                </c:pt>
                <c:pt idx="61">
                  <c:v>2.0974372719310681</c:v>
                </c:pt>
                <c:pt idx="62">
                  <c:v>2.1073678132556055</c:v>
                </c:pt>
                <c:pt idx="63">
                  <c:v>2.1417150717334432</c:v>
                </c:pt>
                <c:pt idx="64">
                  <c:v>1.9316255670059095</c:v>
                </c:pt>
                <c:pt idx="65">
                  <c:v>1.908445070689998</c:v>
                </c:pt>
                <c:pt idx="66">
                  <c:v>1.7641025429026631</c:v>
                </c:pt>
                <c:pt idx="67">
                  <c:v>1.95643155685301</c:v>
                </c:pt>
                <c:pt idx="68">
                  <c:v>1.8662593336603801</c:v>
                </c:pt>
                <c:pt idx="69">
                  <c:v>1.6746458412008978</c:v>
                </c:pt>
                <c:pt idx="70">
                  <c:v>1.8415628554913317</c:v>
                </c:pt>
                <c:pt idx="71">
                  <c:v>1.8832659808187906</c:v>
                </c:pt>
                <c:pt idx="72">
                  <c:v>1.7696923012469561</c:v>
                </c:pt>
                <c:pt idx="73">
                  <c:v>1.9927099649148676</c:v>
                </c:pt>
                <c:pt idx="74">
                  <c:v>1.9608107589002359</c:v>
                </c:pt>
                <c:pt idx="75">
                  <c:v>1.8719569161634919</c:v>
                </c:pt>
                <c:pt idx="76">
                  <c:v>1.8177649356845205</c:v>
                </c:pt>
                <c:pt idx="77">
                  <c:v>1.8047991141709767</c:v>
                </c:pt>
                <c:pt idx="78">
                  <c:v>1.9345907743987556</c:v>
                </c:pt>
                <c:pt idx="79">
                  <c:v>2.0669134876730939</c:v>
                </c:pt>
                <c:pt idx="80">
                  <c:v>1.9611196919270542</c:v>
                </c:pt>
                <c:pt idx="81">
                  <c:v>1.8525510713047437</c:v>
                </c:pt>
                <c:pt idx="82">
                  <c:v>1.7154825751549259</c:v>
                </c:pt>
                <c:pt idx="83">
                  <c:v>1.8926603974457088</c:v>
                </c:pt>
                <c:pt idx="84">
                  <c:v>2.1277451362575976</c:v>
                </c:pt>
                <c:pt idx="85">
                  <c:v>2.0466888261612644</c:v>
                </c:pt>
                <c:pt idx="86">
                  <c:v>2.1565080928279419</c:v>
                </c:pt>
                <c:pt idx="87">
                  <c:v>2.2662720491518913</c:v>
                </c:pt>
                <c:pt idx="88">
                  <c:v>2.1297465749962372</c:v>
                </c:pt>
                <c:pt idx="89">
                  <c:v>2.3044536051942304</c:v>
                </c:pt>
                <c:pt idx="90">
                  <c:v>2.2733731346552379</c:v>
                </c:pt>
                <c:pt idx="91">
                  <c:v>2.509378931549783</c:v>
                </c:pt>
                <c:pt idx="92">
                  <c:v>2.5064931006010074</c:v>
                </c:pt>
                <c:pt idx="93">
                  <c:v>2.5657103606450717</c:v>
                </c:pt>
                <c:pt idx="94">
                  <c:v>2.5676661410006503</c:v>
                </c:pt>
                <c:pt idx="95">
                  <c:v>2.9787957734277328</c:v>
                </c:pt>
                <c:pt idx="96">
                  <c:v>2.7882829624749674</c:v>
                </c:pt>
                <c:pt idx="97">
                  <c:v>2.8463643926167261</c:v>
                </c:pt>
                <c:pt idx="98">
                  <c:v>2.6471853813410986</c:v>
                </c:pt>
                <c:pt idx="99">
                  <c:v>2.4752589081220582</c:v>
                </c:pt>
                <c:pt idx="100">
                  <c:v>2.4304068062335631</c:v>
                </c:pt>
                <c:pt idx="101">
                  <c:v>2.5633886523578435</c:v>
                </c:pt>
                <c:pt idx="102">
                  <c:v>2.7344494418428709</c:v>
                </c:pt>
                <c:pt idx="103">
                  <c:v>2.7923599744612875</c:v>
                </c:pt>
                <c:pt idx="104">
                  <c:v>3.0878606452687896</c:v>
                </c:pt>
                <c:pt idx="105">
                  <c:v>3.1617044723882981</c:v>
                </c:pt>
                <c:pt idx="106">
                  <c:v>3.1521538765366297</c:v>
                </c:pt>
                <c:pt idx="107">
                  <c:v>3.2106266957366154</c:v>
                </c:pt>
                <c:pt idx="108">
                  <c:v>3.2601771639924833</c:v>
                </c:pt>
                <c:pt idx="109">
                  <c:v>3.4381444692937211</c:v>
                </c:pt>
                <c:pt idx="110">
                  <c:v>3.4909356582377713</c:v>
                </c:pt>
                <c:pt idx="111">
                  <c:v>3.2857256751399619</c:v>
                </c:pt>
                <c:pt idx="112">
                  <c:v>3.6285769529046514</c:v>
                </c:pt>
                <c:pt idx="113">
                  <c:v>3.7712343238774095</c:v>
                </c:pt>
                <c:pt idx="114">
                  <c:v>3.9921251575044372</c:v>
                </c:pt>
                <c:pt idx="115">
                  <c:v>3.9580836721185229</c:v>
                </c:pt>
                <c:pt idx="116">
                  <c:v>4.0006395400956078</c:v>
                </c:pt>
                <c:pt idx="117">
                  <c:v>3.7624246930247458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1-4B28-BB3F-9E59F4969ED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比較対象（範囲の全社）</c:v>
                </c:pt>
              </c:strCache>
            </c:strRef>
          </c:tx>
          <c:spPr>
            <a:ln w="28575">
              <a:solidFill>
                <a:srgbClr val="52555A"/>
              </a:solidFill>
            </a:ln>
          </c:spPr>
          <c:marker>
            <c:symbol val="none"/>
          </c:marker>
          <c:cat>
            <c:strRef>
              <c:f>Sheet1!$A$2:$A$119</c:f>
              <c:strCache>
                <c:ptCount val="118"/>
                <c:pt idx="0">
                  <c:v>2017</c:v>
                </c:pt>
                <c:pt idx="12">
                  <c:v>2018</c:v>
                </c:pt>
                <c:pt idx="24">
                  <c:v>2019</c:v>
                </c:pt>
                <c:pt idx="36">
                  <c:v>2020</c:v>
                </c:pt>
                <c:pt idx="48">
                  <c:v>2021</c:v>
                </c:pt>
                <c:pt idx="60">
                  <c:v>2022</c:v>
                </c:pt>
                <c:pt idx="72">
                  <c:v>2023</c:v>
                </c:pt>
                <c:pt idx="84">
                  <c:v>2024</c:v>
                </c:pt>
                <c:pt idx="96">
                  <c:v>2025</c:v>
                </c:pt>
                <c:pt idx="108">
                  <c:v>2026</c:v>
                </c:pt>
              </c:strCache>
            </c:strRef>
          </c:cat>
          <c:val>
            <c:numRef>
              <c:f>Sheet1!$C$2:$C$119</c:f>
              <c:numCache>
                <c:formatCode>General</c:formatCode>
                <c:ptCount val="118"/>
                <c:pt idx="0">
                  <c:v>1</c:v>
                </c:pt>
                <c:pt idx="1">
                  <c:v>1.0081608049277557</c:v>
                </c:pt>
                <c:pt idx="2">
                  <c:v>1.0328643708102669</c:v>
                </c:pt>
                <c:pt idx="3">
                  <c:v>1.0350423471501342</c:v>
                </c:pt>
                <c:pt idx="4">
                  <c:v>1.0564415527846764</c:v>
                </c:pt>
                <c:pt idx="5">
                  <c:v>1.0362367353247384</c:v>
                </c:pt>
                <c:pt idx="6">
                  <c:v>1.0678457093090892</c:v>
                </c:pt>
                <c:pt idx="7">
                  <c:v>1.0803386249293592</c:v>
                </c:pt>
                <c:pt idx="8">
                  <c:v>1.0643890119601092</c:v>
                </c:pt>
                <c:pt idx="9">
                  <c:v>1.1376511051705041</c:v>
                </c:pt>
                <c:pt idx="10">
                  <c:v>1.1562507516351239</c:v>
                </c:pt>
                <c:pt idx="11">
                  <c:v>1.182652088868573</c:v>
                </c:pt>
                <c:pt idx="12">
                  <c:v>1.162290291771944</c:v>
                </c:pt>
                <c:pt idx="13">
                  <c:v>1.1969812913923774</c:v>
                </c:pt>
                <c:pt idx="14">
                  <c:v>1.1484150938678506</c:v>
                </c:pt>
                <c:pt idx="15">
                  <c:v>1.1648590811472934</c:v>
                </c:pt>
                <c:pt idx="16">
                  <c:v>1.1692895878835761</c:v>
                </c:pt>
                <c:pt idx="17">
                  <c:v>1.2468829119346372</c:v>
                </c:pt>
                <c:pt idx="18">
                  <c:v>1.2668009725560887</c:v>
                </c:pt>
                <c:pt idx="19">
                  <c:v>1.2989930170259458</c:v>
                </c:pt>
                <c:pt idx="20">
                  <c:v>1.3519303409091588</c:v>
                </c:pt>
                <c:pt idx="21">
                  <c:v>1.3300353034700352</c:v>
                </c:pt>
                <c:pt idx="22">
                  <c:v>1.1834666482737422</c:v>
                </c:pt>
                <c:pt idx="23">
                  <c:v>1.2099144246403803</c:v>
                </c:pt>
                <c:pt idx="24">
                  <c:v>1.0685115571355126</c:v>
                </c:pt>
                <c:pt idx="25">
                  <c:v>1.1997428557390004</c:v>
                </c:pt>
                <c:pt idx="26">
                  <c:v>1.2714126905793295</c:v>
                </c:pt>
                <c:pt idx="27">
                  <c:v>1.2435218955491711</c:v>
                </c:pt>
                <c:pt idx="28">
                  <c:v>1.2940802553778323</c:v>
                </c:pt>
                <c:pt idx="29">
                  <c:v>1.1789166409782326</c:v>
                </c:pt>
                <c:pt idx="30">
                  <c:v>1.2711042712797203</c:v>
                </c:pt>
                <c:pt idx="31">
                  <c:v>1.2758402110819023</c:v>
                </c:pt>
                <c:pt idx="32">
                  <c:v>1.2084966633491592</c:v>
                </c:pt>
                <c:pt idx="33">
                  <c:v>1.2446263563184718</c:v>
                </c:pt>
                <c:pt idx="34">
                  <c:v>1.2629285480846946</c:v>
                </c:pt>
                <c:pt idx="35">
                  <c:v>1.3153645667479938</c:v>
                </c:pt>
                <c:pt idx="36">
                  <c:v>1.3491092358539907</c:v>
                </c:pt>
                <c:pt idx="37">
                  <c:v>1.2932633657411903</c:v>
                </c:pt>
                <c:pt idx="38">
                  <c:v>1.1801013326468552</c:v>
                </c:pt>
                <c:pt idx="39">
                  <c:v>0.92140487153803574</c:v>
                </c:pt>
                <c:pt idx="40">
                  <c:v>1.0940385790034459</c:v>
                </c:pt>
                <c:pt idx="41">
                  <c:v>1.1730322535640196</c:v>
                </c:pt>
                <c:pt idx="42">
                  <c:v>1.2258792650745156</c:v>
                </c:pt>
                <c:pt idx="43">
                  <c:v>1.2613535787544818</c:v>
                </c:pt>
                <c:pt idx="44">
                  <c:v>1.3289061833642855</c:v>
                </c:pt>
                <c:pt idx="45">
                  <c:v>1.2667053868254725</c:v>
                </c:pt>
                <c:pt idx="46">
                  <c:v>1.2943395412868643</c:v>
                </c:pt>
                <c:pt idx="47">
                  <c:v>1.5688413681102908</c:v>
                </c:pt>
                <c:pt idx="48">
                  <c:v>1.7082774467432582</c:v>
                </c:pt>
                <c:pt idx="49">
                  <c:v>1.797189755580519</c:v>
                </c:pt>
                <c:pt idx="50">
                  <c:v>1.9318104856829119</c:v>
                </c:pt>
                <c:pt idx="51">
                  <c:v>1.991466070378745</c:v>
                </c:pt>
                <c:pt idx="52">
                  <c:v>2.0346775232491745</c:v>
                </c:pt>
                <c:pt idx="53">
                  <c:v>2.0804335554172186</c:v>
                </c:pt>
                <c:pt idx="54">
                  <c:v>2.0920705121987773</c:v>
                </c:pt>
                <c:pt idx="55">
                  <c:v>2.0366498853908412</c:v>
                </c:pt>
                <c:pt idx="56">
                  <c:v>2.0839829471356954</c:v>
                </c:pt>
                <c:pt idx="57">
                  <c:v>2.0439494304277384</c:v>
                </c:pt>
                <c:pt idx="58">
                  <c:v>2.1232041981502348</c:v>
                </c:pt>
                <c:pt idx="59">
                  <c:v>2.0565626692706198</c:v>
                </c:pt>
                <c:pt idx="60">
                  <c:v>2.1097843545472639</c:v>
                </c:pt>
                <c:pt idx="61">
                  <c:v>1.9507574252672857</c:v>
                </c:pt>
                <c:pt idx="62">
                  <c:v>1.9598191416930275</c:v>
                </c:pt>
                <c:pt idx="63">
                  <c:v>1.9960329590397179</c:v>
                </c:pt>
                <c:pt idx="64">
                  <c:v>1.7863469037670294</c:v>
                </c:pt>
                <c:pt idx="65">
                  <c:v>1.7847686146037274</c:v>
                </c:pt>
                <c:pt idx="66">
                  <c:v>1.6523532443746614</c:v>
                </c:pt>
                <c:pt idx="67">
                  <c:v>1.8281657327293293</c:v>
                </c:pt>
                <c:pt idx="68">
                  <c:v>1.7620465666498677</c:v>
                </c:pt>
                <c:pt idx="69">
                  <c:v>1.5779513271030401</c:v>
                </c:pt>
                <c:pt idx="70">
                  <c:v>1.7482711474509878</c:v>
                </c:pt>
                <c:pt idx="71">
                  <c:v>1.8028429567259974</c:v>
                </c:pt>
                <c:pt idx="72">
                  <c:v>1.688882292546813</c:v>
                </c:pt>
                <c:pt idx="73">
                  <c:v>1.9119392197606651</c:v>
                </c:pt>
                <c:pt idx="74">
                  <c:v>1.8688354231332409</c:v>
                </c:pt>
                <c:pt idx="75">
                  <c:v>1.7929747072869699</c:v>
                </c:pt>
                <c:pt idx="76">
                  <c:v>1.742413828328454</c:v>
                </c:pt>
                <c:pt idx="77">
                  <c:v>1.7310182250063557</c:v>
                </c:pt>
                <c:pt idx="78">
                  <c:v>1.8736715739055139</c:v>
                </c:pt>
                <c:pt idx="79">
                  <c:v>2.0067220743689185</c:v>
                </c:pt>
                <c:pt idx="80">
                  <c:v>1.8952073770939992</c:v>
                </c:pt>
                <c:pt idx="81">
                  <c:v>1.7737092882207264</c:v>
                </c:pt>
                <c:pt idx="82">
                  <c:v>1.6490953135980924</c:v>
                </c:pt>
                <c:pt idx="83">
                  <c:v>1.8097810124967004</c:v>
                </c:pt>
                <c:pt idx="84">
                  <c:v>2.0468080651875447</c:v>
                </c:pt>
                <c:pt idx="85">
                  <c:v>1.9535957017423582</c:v>
                </c:pt>
                <c:pt idx="86">
                  <c:v>2.0431606808698133</c:v>
                </c:pt>
                <c:pt idx="87">
                  <c:v>2.1124104807533595</c:v>
                </c:pt>
                <c:pt idx="88">
                  <c:v>1.9694469648952651</c:v>
                </c:pt>
                <c:pt idx="89">
                  <c:v>2.0815471835095347</c:v>
                </c:pt>
                <c:pt idx="90">
                  <c:v>2.0403788481160166</c:v>
                </c:pt>
                <c:pt idx="91">
                  <c:v>2.2421048995116917</c:v>
                </c:pt>
                <c:pt idx="92">
                  <c:v>2.2039704540323268</c:v>
                </c:pt>
                <c:pt idx="93">
                  <c:v>2.2394174554166519</c:v>
                </c:pt>
                <c:pt idx="94">
                  <c:v>2.2039268635738085</c:v>
                </c:pt>
                <c:pt idx="95">
                  <c:v>2.4861785735687567</c:v>
                </c:pt>
                <c:pt idx="96">
                  <c:v>2.3395394625741281</c:v>
                </c:pt>
                <c:pt idx="97">
                  <c:v>2.3962198191578756</c:v>
                </c:pt>
                <c:pt idx="98">
                  <c:v>2.240617106673064</c:v>
                </c:pt>
                <c:pt idx="99">
                  <c:v>2.0771566116913278</c:v>
                </c:pt>
                <c:pt idx="100">
                  <c:v>2.0159044827784496</c:v>
                </c:pt>
                <c:pt idx="101">
                  <c:v>2.1294758171207855</c:v>
                </c:pt>
                <c:pt idx="102">
                  <c:v>2.2635145298033907</c:v>
                </c:pt>
                <c:pt idx="103">
                  <c:v>2.2979174279900669</c:v>
                </c:pt>
                <c:pt idx="104">
                  <c:v>2.4903222285401321</c:v>
                </c:pt>
                <c:pt idx="105">
                  <c:v>2.5329379253958408</c:v>
                </c:pt>
                <c:pt idx="106">
                  <c:v>2.5260578569396563</c:v>
                </c:pt>
                <c:pt idx="107">
                  <c:v>2.5678544622134054</c:v>
                </c:pt>
                <c:pt idx="108">
                  <c:v>2.5798059463227001</c:v>
                </c:pt>
                <c:pt idx="109">
                  <c:v>2.7123547688082486</c:v>
                </c:pt>
                <c:pt idx="110">
                  <c:v>2.7359288180246728</c:v>
                </c:pt>
                <c:pt idx="111">
                  <c:v>2.6283367576343641</c:v>
                </c:pt>
                <c:pt idx="112">
                  <c:v>2.9015355285092954</c:v>
                </c:pt>
                <c:pt idx="113">
                  <c:v>3.0512643270680004</c:v>
                </c:pt>
                <c:pt idx="114">
                  <c:v>3.1911550610288599</c:v>
                </c:pt>
                <c:pt idx="115">
                  <c:v>3.1515276530552088</c:v>
                </c:pt>
                <c:pt idx="116">
                  <c:v>3.192269848602443</c:v>
                </c:pt>
                <c:pt idx="117">
                  <c:v>3.0018989889772487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FE1-4B28-BB3F-9E59F4969ED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2140495176"/>
        <c:crosses val="autoZero"/>
        <c:auto val="1"/>
        <c:lblAlgn val="ctr"/>
        <c:lblOffset val="100"/>
        <c:tickLblSkip val="12"/>
        <c:tickMarkSkip val="12"/>
        <c:noMultiLvlLbl val="0"/>
      </c:catAx>
      <c:valAx>
        <c:axId val="2140495176"/>
        <c:scaling>
          <c:orientation val="minMax"/>
          <c:max val="5"/>
          <c:min val="0"/>
        </c:scaling>
        <c:delete val="0"/>
        <c:axPos val="l"/>
        <c:majorGridlines>
          <c:spPr>
            <a:ln>
              <a:solidFill>
                <a:srgbClr val="E3E4E3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ja-JP" sz="1050" b="0">
                    <a:solidFill>
                      <a:srgbClr val="52555A"/>
                    </a:solidFill>
                    <a:latin typeface="メイリオ"/>
                    <a:ea typeface="メイリオ"/>
                    <a:cs typeface="メイリオ"/>
                  </a:rPr>
                  <a:t>資産（2016 年末＝1）</a:t>
                </a:r>
              </a:p>
            </c:rich>
          </c:tx>
          <c:overlay val="0"/>
        </c:title>
        <c:numFmt formatCode="0" sourceLinked="0"/>
        <c:majorTickMark val="out"/>
        <c:minorTickMark val="none"/>
        <c:tickLblPos val="nextTo"/>
        <c:spPr>
          <a:ln>
            <a:solidFill>
              <a:srgbClr val="BABBBB"/>
            </a:solidFill>
          </a:ln>
        </c:spPr>
        <c:txPr>
          <a:bodyPr/>
          <a:lstStyle/>
          <a:p>
            <a:pPr>
              <a:def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defRPr>
            </a:pPr>
            <a:endParaRPr lang="ja-JP"/>
          </a:p>
        </c:txPr>
        <c:crossAx val="2118791784"/>
        <c:crosses val="autoZero"/>
        <c:crossBetween val="between"/>
        <c:majorUnit val="1"/>
      </c:valAx>
    </c:plotArea>
    <c:legend>
      <c:legendPos val="b"/>
      <c:overlay val="0"/>
      <c:txPr>
        <a:bodyPr/>
        <a:lstStyle/>
        <a:p>
          <a:pPr>
            <a:defRPr lang="ja-JP" sz="1100" b="0">
              <a:solidFill>
                <a:srgbClr val="000000"/>
              </a:solidFill>
              <a:latin typeface="メイリオ"/>
              <a:ea typeface="メイリオ"/>
              <a:cs typeface="メイリオ"/>
            </a:defRPr>
          </a:pPr>
          <a:endParaRPr lang="ja-JP"/>
        </a:p>
      </c:txPr>
    </c:legend>
    <c:plotVisOnly val="1"/>
    <c:dispBlanksAs val="gap"/>
    <c:showDLblsOverMax val="0"/>
  </c:chart>
  <c:txPr>
    <a:bodyPr/>
    <a:lstStyle/>
    <a:p>
      <a:pPr>
        <a:defRPr lang="ja-JP" sz="1100" b="0">
          <a:solidFill>
            <a:srgbClr val="000000"/>
          </a:solidFill>
          <a:latin typeface="メイリオ"/>
          <a:ea typeface="メイリオ"/>
          <a:cs typeface="メイリオ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D3A03-8659-4152-9B8F-7B0DD20BC6B1}" type="datetimeFigureOut">
              <a:rPr kumimoji="1" lang="ja-JP" altLang="en-US" smtClean="0"/>
              <a:t>2026/10/28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7DB54F-0B18-4EE3-9F53-46B6494808F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8448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 </a:t>
            </a:r>
            <a:r>
              <a:rPr dirty="0" err="1"/>
              <a:t>に株を選ばせたら儲かるか、という研究の発表です</a:t>
            </a:r>
            <a:r>
              <a:rPr dirty="0"/>
              <a:t>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最初に結論です。数字だけを見せると、AI は先月の動きをまねするだけでした。決算の文章を読ませると、発表直後の株価と合う点数を付けられました。でも大型株では、市場もその日のうちに読んでいて儲かりません。小型株では 2 つの標本で勝てましたが、まだ見ていない 3 つ目の標本では確かめられませんでした。最後まで残ったのは、値動きの荒さ、つまりリスクの予測です。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Black-Litterman モデルは、市場の平均的な見方から出発して、予想に自信がある分だけ比率をずらす方法です。元の論文は、AI に過去 1 か月の値動きを見せて来月を予想させ、これに入れると勝てたと報告しています。再現すると、AI の予想は先月の値動きと相関 0.89 で、ほぼ写しているだけでした。それを除いた AI ならではの当たりはほぼ 0。しかも自信が強すぎて、市場の見方を 99.9% 捨てていました。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そこで、AI が得意な文章を読ませることにしました。決算発表は会社が 3 か月ごとに出す成績表で、出た直後に株価が大きく動きます。gpt-4o-mini に読ませて採点させ、点数ごとに発表直後 2 日間の株価の動きを平均したのが右の図です。点数が −2 以下の発表は平均 -2.8%、5 以上は +1.5% で、その間もほぼ点数の順に並びます。黒い線は 95% の信頼区間です。数値の驚きなどを統制した回帰でも、点数 1 標準偏差あたり 1.2% で、t 値は 9.4、偶然ではまず起きません。ズルをしないように、株価の反応を計算する前に計画とプログラムを固定して、1 回だけ実行しています。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情報工学として一番面白いのがこの比較です。同じ発表文を 7 つの方法で数にして、株価の動きをどれだけ説明できるかを比べました。右の数字は決定係数、つまり株価の動きのばらつきのうち何 % を説明できたかの上乗せです。たとえば実験 2 では、数値の驚きや従来の文章の点数など、今までの材料だけだと 1.6% しか説明できませんでしたが、gpt-4o-mini の点数を足すと 3.7% になりました。この 2.2 ポイントの上乗せを、手法ごとに並べています。学習させたモデルは、どれも発表直後 2 日の株価の動きを正解にしています。一番強かったのは、学習させていない gpt-4o-mini でした。FinBERT は、全体を株価で追加学習させると 4 倍ほど伸びました。一方、ChronoGPT の中まで LoRA で学習させると、中を動かさずにリッジ回帰を置くだけの方法に負けました。約 1 万 4 千本の発表に対して、学習する重みが 256 万個と多すぎたためと考えています。また、2015 年までの文章しか知らない ChronoGPT でも、従来の方法 3 つを合わせたものに勝ちました。答えを覚えていたのではない、という確認にもなっています。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では儲かるか。左のグラフは、AI の点数で発表を 3 グループに分け、発表の 5 日前から 20 日後まで、同じ業種の株と比べて何 % 上がったかを足し上げたものです。点数の高い発表は上がり、低い発表は下がりますが、動くのはほぼ発表の日だけで、そのあとは横ばいです。翌日に買ってもほぼ動かず、毎月組み替えて約 10 年運用しても市場の平均とほぼ同じ、毎日組み替えると手数料で年マイナス 20% でした。AI が読めることは、市場もその日のうちに読んでいます。そこで、注目が少なく、情報がゆっくり株価に入る小型株に移りました。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小型株で何を予測したかを先に説明します。決算発表文を</a:t>
            </a:r>
            <a:r>
              <a:rPr dirty="0"/>
              <a:t>、</a:t>
            </a:r>
            <a:r>
              <a:rPr lang="ja-JP" altLang="en-US" dirty="0"/>
              <a:t>先読みの心配がなくかなり昔まで遡ることができるため</a:t>
            </a:r>
            <a:r>
              <a:rPr dirty="0"/>
              <a:t> </a:t>
            </a:r>
            <a:r>
              <a:rPr dirty="0" err="1"/>
              <a:t>ChronoGPT</a:t>
            </a:r>
            <a:r>
              <a:rPr dirty="0"/>
              <a:t> に読ませ、中の数字の並び、1,536 </a:t>
            </a:r>
            <a:r>
              <a:rPr dirty="0" err="1"/>
              <a:t>個を取り出します。ChronoGPT</a:t>
            </a:r>
            <a:r>
              <a:rPr dirty="0"/>
              <a:t> 自体は学習させません。その数字の並びから、2 つのことを当てる小さな回帰を学習させます。1 </a:t>
            </a:r>
            <a:r>
              <a:rPr dirty="0" err="1"/>
              <a:t>つ目は発表後リターン、発表の後</a:t>
            </a:r>
            <a:r>
              <a:rPr dirty="0"/>
              <a:t> 2 </a:t>
            </a:r>
            <a:r>
              <a:rPr dirty="0" err="1"/>
              <a:t>か月ほどで株価が指数より上がるか下がるかです。こちらは発表直後</a:t>
            </a:r>
            <a:r>
              <a:rPr dirty="0"/>
              <a:t> 2 日の株価の反応を正解に学習させ、その点数が、反応の後も同じ向きに動き続ける分を当てるかを見ます。2 つ目は変動率、発表の後に値動きがいつもより荒れるかです。回帰は四半期ごとに、その時点で結果が分かっていた過去の発表だけで学び直すので、未来の株価は使っていません。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米国の小型株 1,000 社、約 1 万 2 千本の決算発表で、先読みのない ChronoGPT とリッジの点数を使いました。事前登録した検定で、点数は2〜60 日の上昇・下落、つまり発表後リターンと、値動きの荒さを予測しました。どちらも、重ならない別の 1,000 社で再現しています。そこで、この点数を BLM の見通しに入れ、四半期ごとに組み直しました。右のグラフが資産の推移です。2016 年末を 1 とすると、売買の費用を引いた後で、BLM は約 3.8 倍、範囲の全社を時価総額に比例して持つ相手は 3.0 倍でした。年にすると 2.4% の差です。BLM への入れ方は、点数そのものではなく銘柄の間の順位を使い、順位の高い銘柄ほど期待リターンを少し上乗せする、という形です。上乗せの大きさは、点数と将来のリターンの相関を 0.05 と置いて、その銘柄の値動きの大きさに比例させました。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前のページの勝ちが AI の読み取りのおかげかを、3 つ確かめました。1 つ目、点数を銘柄の間でシャッフルした偽物を 100 回作ると、本物に届いたものは 1 回もありません。2 つ目、規模や割安さ、モメンタムといった、よく知られた要因を除いても年 1.6〜1.9% 残りました。3 つ目、ただし費用には弱く、片道 1% にすると有意でなくなります。ただ、この 2 つの標本では、株価データの誤りを除く規則を結果を見てから決めました。直すと数字は下がる方向でしたが、結果を見て決めた以上、ここまでは探索の扱いです。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そこで、どちらの標本にも入っていない残りの 400 社で、やり方と規則と判定の基準を先に全部固定して記録し、1 回だけ計算しました。400 社では検出力が 7 割ほどしかないことも、先に書いておきました。結果、BLM の勝ちは年 0.74% で、有意ではありませんでした。その前の段階の発表後リターンの予測も、この 400 社でははっきりしませんでした。ただし幅が広く、前の 2 つの標本の値もその幅の中に入っているので、効果がないのか、400 社では小さすぎて見えないのかは、まだ区別できません。一方、値動きの荒さの予測は、やり方を先に固定したこの検定でも成り立ち、3 つの標本すべてで再現しました。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まとめです。AI は決算の文章を読めます。ただし大型株では、その情報は発表の日に株価に入ります。小型株では、値動きの荒さの予測は 3 つの標本すべてで成り立ちましたが、BLM で勝てることは、事前登録した検定では確かめられませんでした。学んだのは、事前登録すると、うまくいかなかったことも隠せない、ということです。今後は、確かに残ったリスクの予測を運用の管理に使うこと、11 月以降のまだ誰も見ていない決算で確かめることを考えています。以上です。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87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733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2978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>
                <a:latin typeface="メイリオ" panose="020B0604030504040204" pitchFamily="34" charset="-128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40080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8928" y="2633472"/>
            <a:ext cx="5212080" cy="3566160"/>
          </a:xfrm>
        </p:spPr>
        <p:txBody>
          <a:bodyPr/>
          <a:lstStyle>
            <a:lvl1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1pPr>
            <a:lvl2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2pPr>
            <a:lvl3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3pPr>
            <a:lvl4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4pPr>
            <a:lvl5pPr>
              <a:defRPr baseline="0">
                <a:latin typeface="メイリオ" panose="020B0604030504040204" pitchFamily="34" charset="-128"/>
                <a:ea typeface="メイリオ" panose="020B0604030504040204" pitchFamily="34" charset="-128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591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0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50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051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3932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50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639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437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9974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50" b="0" cap="none" spc="1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255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20" r:id="rId1"/>
    <p:sldLayoutId id="2147484021" r:id="rId2"/>
    <p:sldLayoutId id="2147484022" r:id="rId3"/>
    <p:sldLayoutId id="2147484023" r:id="rId4"/>
    <p:sldLayoutId id="2147484012" r:id="rId5"/>
    <p:sldLayoutId id="2147484013" r:id="rId6"/>
    <p:sldLayoutId id="2147484019" r:id="rId7"/>
    <p:sldLayoutId id="2147484014" r:id="rId8"/>
    <p:sldLayoutId id="2147484015" r:id="rId9"/>
    <p:sldLayoutId id="2147484016" r:id="rId10"/>
    <p:sldLayoutId id="2147484017" r:id="rId11"/>
    <p:sldLayoutId id="2147484018" r:id="rId12"/>
  </p:sldLayoutIdLst>
  <p:hf sldNum="0" hdr="0" ftr="0" dt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b="1" kern="1200" spc="130" baseline="0">
          <a:solidFill>
            <a:schemeClr val="tx1"/>
          </a:solidFill>
          <a:latin typeface="メイリオ" panose="020B0604030504040204" pitchFamily="34" charset="-128"/>
          <a:ea typeface="メイリオ" panose="020B0604030504040204" pitchFamily="34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 spc="1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 spc="1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 spc="1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 spc="1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9072B756-DCA1-308F-27A8-57C919FD8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3232" y="1010091"/>
            <a:ext cx="7628663" cy="268224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00000"/>
              </a:lnSpc>
            </a:pPr>
            <a:r>
              <a:rPr kumimoji="1" lang="en-US" altLang="ja-JP" sz="4000" dirty="0">
                <a:solidFill>
                  <a:schemeClr val="tx1"/>
                </a:solidFill>
              </a:rPr>
              <a:t>LLM</a:t>
            </a:r>
            <a:r>
              <a:rPr kumimoji="1" lang="ja-JP" altLang="en-US" sz="4000">
                <a:solidFill>
                  <a:schemeClr val="tx1"/>
                </a:solidFill>
              </a:rPr>
              <a:t>による株式リターン予測とポートフォリオ最適化の検証</a:t>
            </a:r>
            <a:endParaRPr kumimoji="1" lang="en-US" altLang="ja-JP" sz="4000" dirty="0">
              <a:solidFill>
                <a:schemeClr val="tx1"/>
              </a:solidFill>
            </a:endParaRPr>
          </a:p>
        </p:txBody>
      </p:sp>
      <p:cxnSp>
        <p:nvCxnSpPr>
          <p:cNvPr id="23" name="Straight Connector 12">
            <a:extLst>
              <a:ext uri="{FF2B5EF4-FFF2-40B4-BE49-F238E27FC236}">
                <a16:creationId xmlns:a16="http://schemas.microsoft.com/office/drawing/2014/main" id="{84EE7F79-08E8-405E-9B6D-B1560F348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1585" y="1027306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図 3">
            <a:extLst>
              <a:ext uri="{FF2B5EF4-FFF2-40B4-BE49-F238E27FC236}">
                <a16:creationId xmlns:a16="http://schemas.microsoft.com/office/drawing/2014/main" id="{4996B3B9-B6E6-EB51-833D-AAF372262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2016" y="0"/>
            <a:ext cx="1369984" cy="898351"/>
          </a:xfrm>
          <a:prstGeom prst="rect">
            <a:avLst/>
          </a:prstGeom>
        </p:spPr>
      </p:pic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23563D55-188B-3B5C-E67B-FF350828676B}"/>
              </a:ext>
            </a:extLst>
          </p:cNvPr>
          <p:cNvSpPr txBox="1"/>
          <p:nvPr/>
        </p:nvSpPr>
        <p:spPr>
          <a:xfrm>
            <a:off x="850231" y="5053263"/>
            <a:ext cx="76286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電気通信大学　情報理工学域</a:t>
            </a:r>
            <a:r>
              <a:rPr lang="en-US" altLang="ja-JP" dirty="0"/>
              <a:t>Ⅲ</a:t>
            </a:r>
            <a:r>
              <a:rPr lang="ja-JP" altLang="en-US" dirty="0"/>
              <a:t>類　</a:t>
            </a:r>
            <a:r>
              <a:rPr lang="en-US" altLang="ja-JP" dirty="0"/>
              <a:t>2313080</a:t>
            </a:r>
            <a:r>
              <a:rPr lang="ja-JP" altLang="en-US" dirty="0"/>
              <a:t>　小嶋一輝</a:t>
            </a:r>
            <a:endParaRPr lang="en-US" altLang="ja-JP" dirty="0"/>
          </a:p>
          <a:p>
            <a:r>
              <a:rPr kumimoji="1" lang="en-US" altLang="ja-JP" dirty="0"/>
              <a:t>2026</a:t>
            </a:r>
            <a:r>
              <a:rPr kumimoji="1" lang="ja-JP" altLang="en-US" dirty="0"/>
              <a:t>年</a:t>
            </a:r>
            <a:r>
              <a:rPr kumimoji="1" lang="en-US" altLang="ja-JP" dirty="0"/>
              <a:t>11</a:t>
            </a:r>
            <a:r>
              <a:rPr kumimoji="1" lang="ja-JP" altLang="en-US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4172862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LLM は決算発表文から株価材料を読み取れるが、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運用成績の向上に結び付く証拠は、検証を重ねるほど弱まった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研究の全体像</a:t>
            </a:r>
          </a:p>
        </p:txBody>
      </p:sp>
      <p:sp>
        <p:nvSpPr>
          <p:cNvPr id="4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6" name="段階1"/>
          <p:cNvSpPr/>
          <p:nvPr/>
        </p:nvSpPr>
        <p:spPr>
          <a:xfrm>
            <a:off x="1417320" y="1783080"/>
            <a:ext cx="2706624" cy="548640"/>
          </a:xfrm>
          <a:prstGeom prst="homePlat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27048" y="1783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① 数値予想を使う</a:t>
            </a:r>
          </a:p>
        </p:txBody>
      </p:sp>
      <p:sp>
        <p:nvSpPr>
          <p:cNvPr id="8" name="段階2"/>
          <p:cNvSpPr/>
          <p:nvPr/>
        </p:nvSpPr>
        <p:spPr>
          <a:xfrm>
            <a:off x="4032504" y="1783080"/>
            <a:ext cx="2706624" cy="548640"/>
          </a:xfrm>
          <a:prstGeom prst="chevron">
            <a:avLst/>
          </a:prstGeom>
          <a:solidFill>
            <a:srgbClr val="7E7F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325112" y="1783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② 決算発表文を読む</a:t>
            </a:r>
          </a:p>
        </p:txBody>
      </p:sp>
      <p:sp>
        <p:nvSpPr>
          <p:cNvPr id="10" name="段階3"/>
          <p:cNvSpPr/>
          <p:nvPr/>
        </p:nvSpPr>
        <p:spPr>
          <a:xfrm>
            <a:off x="6647688" y="1783080"/>
            <a:ext cx="2706624" cy="548640"/>
          </a:xfrm>
          <a:prstGeom prst="chevron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40296" y="1783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③ 大型株で運用</a:t>
            </a:r>
          </a:p>
        </p:txBody>
      </p:sp>
      <p:sp>
        <p:nvSpPr>
          <p:cNvPr id="12" name="段階4"/>
          <p:cNvSpPr/>
          <p:nvPr/>
        </p:nvSpPr>
        <p:spPr>
          <a:xfrm>
            <a:off x="9262872" y="1783080"/>
            <a:ext cx="2523744" cy="548640"/>
          </a:xfrm>
          <a:prstGeom prst="chevron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555480" y="1783080"/>
            <a:ext cx="2194560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④ 小型株で運用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487168"/>
            <a:ext cx="914400" cy="11430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6344" y="2523744"/>
            <a:ext cx="804672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検証内容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721608"/>
            <a:ext cx="914400" cy="132588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6344" y="3758184"/>
            <a:ext cx="804672" cy="1252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17320" y="2487168"/>
            <a:ext cx="2523744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508760" y="2523744"/>
            <a:ext cx="234086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直近 1 か月の日次リターンを渡し、翌月のリターンを数値で予想させて BLM のビューとする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17320" y="3721608"/>
            <a:ext cx="2523744" cy="13258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3758184"/>
            <a:ext cx="2340863" cy="1252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直近の値動きをなぞるのみ</a:t>
            </a:r>
          </a:p>
          <a:p>
            <a:pPr algn="l">
              <a:spcAft>
                <a:spcPts val="300"/>
              </a:spcAft>
            </a:pP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予想と入力月の平均リターンの相関 0.89。固有の予測力は検出できず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32504" y="2487168"/>
            <a:ext cx="2523744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23944" y="2523744"/>
            <a:ext cx="234086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決算発表文を採点させ、発表を挟む 2 取引日の株価反応を説明できるかを検定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32504" y="3721608"/>
            <a:ext cx="2523744" cy="13258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23944" y="3758184"/>
            <a:ext cx="2340863" cy="1252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株価反応を有意に説明</a:t>
            </a:r>
          </a:p>
          <a:p>
            <a:pPr algn="l">
              <a:spcAft>
                <a:spcPts val="300"/>
              </a:spcAft>
            </a:pP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+120bp／1 標準偏差（t 9.4）。アナリスト予想などを統制しても残存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47688" y="2487168"/>
            <a:ext cx="2523744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39127" y="2523744"/>
            <a:ext cx="234086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点数を月次・日次の BLM に入れ、時価総額加重を上回るかを検定（S&amp;P500）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47688" y="3721608"/>
            <a:ext cx="2523744" cy="13258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39127" y="3758184"/>
            <a:ext cx="2340863" cy="1252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市場平均を上回らず</a:t>
            </a:r>
          </a:p>
          <a:p>
            <a:pPr algn="l">
              <a:spcAft>
                <a:spcPts val="300"/>
              </a:spcAft>
            </a:pP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情報は発表当日に株価へ織り込まれ、翌日以降には残らない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62872" y="2487168"/>
            <a:ext cx="2523744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354312" y="2523744"/>
            <a:ext cx="234086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情報の織り込みが遅い小型株で、発表後の値動きの予測と BLM の超過収益を検定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262872" y="3721608"/>
            <a:ext cx="2523744" cy="1325880"/>
          </a:xfrm>
          <a:prstGeom prst="rect">
            <a:avLst/>
          </a:prstGeom>
          <a:solidFill>
            <a:srgbClr val="F1F2F1"/>
          </a:solidFill>
          <a:ln w="12700">
            <a:solidFill>
              <a:srgbClr val="197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354312" y="3758184"/>
            <a:ext cx="2340863" cy="12527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5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2 標本で優位、3 標本目で</a:t>
            </a:r>
            <a:r>
              <a:rPr lang="ja-JP" altLang="en-US" sz="125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銘柄数が少ないため</a:t>
            </a:r>
            <a:r>
              <a:rPr lang="ja-JP" sz="125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確認できず</a:t>
            </a:r>
          </a:p>
          <a:p>
            <a:pPr algn="l">
              <a:spcAft>
                <a:spcPts val="300"/>
              </a:spcAft>
            </a:pP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変動率の予測のみ 3 標本で成立</a:t>
            </a:r>
            <a:endParaRPr lang="en-US" altLang="ja-JP" sz="1100" b="0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  <a:p>
            <a:pPr algn="l">
              <a:spcAft>
                <a:spcPts val="300"/>
              </a:spcAft>
            </a:pPr>
            <a:endParaRPr lang="ja-JP" sz="1100" b="0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4" name="Trapezoid 33"/>
          <p:cNvSpPr/>
          <p:nvPr/>
        </p:nvSpPr>
        <p:spPr>
          <a:xfrm rot="10800000">
            <a:off x="1417320" y="5157216"/>
            <a:ext cx="10369296" cy="256032"/>
          </a:xfrm>
          <a:prstGeom prst="trapezoid">
            <a:avLst>
              <a:gd name="adj" fmla="val 40000"/>
            </a:avLst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まとめ"/>
          <p:cNvSpPr/>
          <p:nvPr/>
        </p:nvSpPr>
        <p:spPr>
          <a:xfrm>
            <a:off x="411480" y="5504688"/>
            <a:ext cx="11365992" cy="56692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5541264"/>
            <a:ext cx="11183112" cy="49377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読み取りは有効だが超過収益は立証できず、3 標本で成立したのはリスク（変動率）の予測のみ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元論文の手法を再現した結果、LLM の数値予想は直近の値動きをなぞるのみで、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固有の予測力は確認されなかった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元論文（arXiv:2504.14345）の再現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gpt-4o-mini、S&amp;P500 構成銘柄 約 490 社 × 30 か月（回答 44 万個）。IC は予想と翌月リターンの相関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99615" y="1783080"/>
            <a:ext cx="116713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BLM の仕組み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1929384"/>
            <a:ext cx="154241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212465" y="1929384"/>
            <a:ext cx="154241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57200" y="2212848"/>
            <a:ext cx="2194560" cy="713232"/>
          </a:xfrm>
          <a:prstGeom prst="ellipse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94360" y="2212848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市場の均衡</a:t>
            </a:r>
          </a:p>
          <a:p>
            <a:pPr algn="ctr"/>
            <a:r>
              <a:rPr lang="ja-JP" sz="10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時価総額の比率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2926080"/>
            <a:ext cx="36576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4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＋</a:t>
            </a:r>
          </a:p>
        </p:txBody>
      </p:sp>
      <p:sp>
        <p:nvSpPr>
          <p:cNvPr id="29" name="Oval 28"/>
          <p:cNvSpPr/>
          <p:nvPr/>
        </p:nvSpPr>
        <p:spPr>
          <a:xfrm>
            <a:off x="457200" y="3200400"/>
            <a:ext cx="2194560" cy="713232"/>
          </a:xfrm>
          <a:prstGeom prst="ellipse">
            <a:avLst/>
          </a:prstGeom>
          <a:solidFill>
            <a:srgbClr val="7578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3200400"/>
            <a:ext cx="1920240" cy="71323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LLM の見通し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平均＝ビュー、分散＝Ω</a:t>
            </a:r>
          </a:p>
        </p:txBody>
      </p:sp>
      <p:sp>
        <p:nvSpPr>
          <p:cNvPr id="31" name="Isosceles Triangle 30"/>
          <p:cNvSpPr/>
          <p:nvPr/>
        </p:nvSpPr>
        <p:spPr>
          <a:xfrm rot="5400000">
            <a:off x="2743200" y="2926080"/>
            <a:ext cx="256032" cy="256032"/>
          </a:xfrm>
          <a:prstGeom prst="triangl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108960" y="2377440"/>
            <a:ext cx="1645920" cy="1353312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54679" y="2414016"/>
            <a:ext cx="1554480" cy="12801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Black–Litterman</a:t>
            </a:r>
          </a:p>
          <a:p>
            <a:pPr algn="ctr"/>
            <a:r>
              <a:rPr lang="ja-JP" sz="11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で混合</a:t>
            </a:r>
          </a:p>
        </p:txBody>
      </p:sp>
      <p:sp>
        <p:nvSpPr>
          <p:cNvPr id="34" name="Isosceles Triangle 33"/>
          <p:cNvSpPr/>
          <p:nvPr/>
        </p:nvSpPr>
        <p:spPr>
          <a:xfrm rot="10800000">
            <a:off x="3813048" y="3785615"/>
            <a:ext cx="237744" cy="182880"/>
          </a:xfrm>
          <a:prstGeom prst="triangle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108960" y="4023360"/>
            <a:ext cx="1645920" cy="54864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54679" y="4059936"/>
            <a:ext cx="1554480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最適化 → 投資比率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4800600"/>
            <a:ext cx="4343400" cy="1371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確信度 Ω が小さいほど、比率は LLM の予想どおりに動く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元論文は Llama・Gemma・Qwen の予想で、等金額・平均分散を上回ったと報告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1783080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観点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074920" y="2112264"/>
            <a:ext cx="11430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355080" y="178308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再現結果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400800" y="2112264"/>
            <a:ext cx="3108959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012680" y="1783080"/>
            <a:ext cx="176479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示唆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0058400" y="2112264"/>
            <a:ext cx="167335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029200" y="2212848"/>
            <a:ext cx="1234440" cy="88696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84064" y="2249424"/>
            <a:ext cx="11247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なぞり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2212848"/>
            <a:ext cx="3200400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46520" y="2249424"/>
            <a:ext cx="3017520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予想は入力した値動きの写し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予想と入力月の平均リターンの相関 0.89</a:t>
            </a:r>
          </a:p>
        </p:txBody>
      </p:sp>
      <p:sp>
        <p:nvSpPr>
          <p:cNvPr id="50" name="Oval 49"/>
          <p:cNvSpPr/>
          <p:nvPr/>
        </p:nvSpPr>
        <p:spPr>
          <a:xfrm>
            <a:off x="9646919" y="2519172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646919" y="251917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12680" y="2212848"/>
            <a:ext cx="1764792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0104119" y="2249424"/>
            <a:ext cx="15819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数値の中で最も目立つ信号を写すのみ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0" y="3191256"/>
            <a:ext cx="1234440" cy="88696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084064" y="3227832"/>
            <a:ext cx="11247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固有の予測力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355080" y="3191256"/>
            <a:ext cx="3200400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46520" y="3227832"/>
            <a:ext cx="3017520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入力で説明できない部分は当たらない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IC −0.004（95% 区間の上限 +0.027）</a:t>
            </a:r>
          </a:p>
        </p:txBody>
      </p:sp>
      <p:sp>
        <p:nvSpPr>
          <p:cNvPr id="60" name="Oval 59"/>
          <p:cNvSpPr/>
          <p:nvPr/>
        </p:nvSpPr>
        <p:spPr>
          <a:xfrm>
            <a:off x="9646919" y="349758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9646919" y="349758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012680" y="3191256"/>
            <a:ext cx="1764792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10104119" y="3227832"/>
            <a:ext cx="15819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数値の処理は統計モデルに任せるべき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29200" y="4169664"/>
            <a:ext cx="1234440" cy="88696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5084064" y="4206240"/>
            <a:ext cx="11247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確信度 Ω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55080" y="4169664"/>
            <a:ext cx="3200400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6446520" y="4206240"/>
            <a:ext cx="3017520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 Ω が過小で、見通しがビューに偏る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事後期待リターンの 99.9% がビュー側</a:t>
            </a:r>
          </a:p>
        </p:txBody>
      </p:sp>
      <p:sp>
        <p:nvSpPr>
          <p:cNvPr id="70" name="Oval 69"/>
          <p:cNvSpPr/>
          <p:nvPr/>
        </p:nvSpPr>
        <p:spPr>
          <a:xfrm>
            <a:off x="9646919" y="4475988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9646919" y="44759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12680" y="4169664"/>
            <a:ext cx="1764792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10104119" y="4206240"/>
            <a:ext cx="15819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市場の均衡がほぼ使われない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5148072"/>
            <a:ext cx="1234440" cy="88696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5084064" y="5184648"/>
            <a:ext cx="11247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最適化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5148072"/>
            <a:ext cx="3200400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446520" y="5184648"/>
            <a:ext cx="3017520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 SLSQP が途中で停止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「収束」と報告するが、入力の僅かな差で解が変わる</a:t>
            </a:r>
          </a:p>
        </p:txBody>
      </p:sp>
      <p:sp>
        <p:nvSpPr>
          <p:cNvPr id="80" name="Oval 79"/>
          <p:cNvSpPr/>
          <p:nvPr/>
        </p:nvSpPr>
        <p:spPr>
          <a:xfrm>
            <a:off x="9646919" y="5454396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9646919" y="545439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12680" y="5148072"/>
            <a:ext cx="1764792" cy="88696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/>
          <p:cNvSpPr txBox="1"/>
          <p:nvPr/>
        </p:nvSpPr>
        <p:spPr>
          <a:xfrm>
            <a:off x="10104119" y="5184648"/>
            <a:ext cx="1581912" cy="8138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成績が計算の作りに左右される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そこで問いを改め、決算発表文を LLM に採点させたところ、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点数は発表直後 2 日間の株価反応を有意に説明した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決算発表文の読み取り</a:t>
            </a:r>
            <a:r>
              <a:rPr lang="ja-JP" altLang="en-US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を行う</a:t>
            </a:r>
            <a:endParaRPr lang="ja-JP" sz="1500" b="1" dirty="0">
              <a:solidFill>
                <a:srgbClr val="1973EB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統制は数値の驚き・辞書・FinBERT・TF-IDF・発表前リターン・規模・業種と四半期の固定効果。図は統制なしの平均と 95% 区間（発表日でクラスタ）、両端の点数はまとめた。探索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49449" y="1783080"/>
            <a:ext cx="17703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読み取りと評価の流れ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1929384"/>
            <a:ext cx="14922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65550" y="1929384"/>
            <a:ext cx="149225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11480" y="2212848"/>
            <a:ext cx="1051560" cy="7315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66344" y="2249424"/>
            <a:ext cx="941831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入力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536192" y="2212848"/>
            <a:ext cx="3721608" cy="73152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627632" y="2249424"/>
            <a:ext cx="353872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決算発表文（EX-99.1）の先頭 15,000 字。S&amp;P500、2023-11〜2026-08 の 5,374 本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3035808"/>
            <a:ext cx="1051560" cy="7315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" y="3072384"/>
            <a:ext cx="941831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読み取り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36192" y="3035808"/>
            <a:ext cx="3721608" cy="73152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27632" y="3072384"/>
            <a:ext cx="353872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gpt-4o-mini（学習なし、温度 0）が語調・今後の見通し・ガイダンスの変化を −2〜+2 で回答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11480" y="3858768"/>
            <a:ext cx="1051560" cy="7315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66344" y="3895344"/>
            <a:ext cx="941831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出力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536192" y="3858768"/>
            <a:ext cx="3721608" cy="73152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627632" y="3895344"/>
            <a:ext cx="353872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合成点数 ＝ 語調 ＋ 見通し ＋ ガイダンスの変化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1480" y="4681728"/>
            <a:ext cx="1051560" cy="7315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66344" y="4718304"/>
            <a:ext cx="941831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評価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536192" y="4681728"/>
            <a:ext cx="3721608" cy="73152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627632" y="4718304"/>
            <a:ext cx="3538728" cy="6583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発表を挟む 2 取引日の超過リターン（同業種の指数比）に回帰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532120"/>
            <a:ext cx="1051560" cy="658368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" y="5568696"/>
            <a:ext cx="941831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事前登録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36192" y="5532120"/>
            <a:ext cx="3721608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97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627632" y="5568696"/>
            <a:ext cx="3538728" cy="58521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株価反応を計算する前に計画と評価コードを固定し、1 回のみ実行。以降の実験も同方式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57403" y="1783080"/>
            <a:ext cx="4040505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合成点数別：発表を挟む 2 日間の超過リターン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577840" y="1929384"/>
            <a:ext cx="1033843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743628" y="1929384"/>
            <a:ext cx="1033844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5577840" y="4956048"/>
            <a:ext cx="2377440" cy="54864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632703" y="4992624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統制後の係数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028431" y="4956048"/>
            <a:ext cx="3749039" cy="54864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19871" y="4992624"/>
            <a:ext cx="3566159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+120bp</a:t>
            </a:r>
            <a:r>
              <a:rPr lang="ja-JP" sz="12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／1 標準偏差（t 9.4）</a:t>
            </a:r>
          </a:p>
          <a:p>
            <a:pPr algn="l"/>
            <a:r>
              <a:rPr lang="ja-JP" sz="1000" b="0" dirty="0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数値の驚き・従来の文章分析などを差し引いても残る効果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77840" y="5577840"/>
            <a:ext cx="2377440" cy="54864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632703" y="5614416"/>
            <a:ext cx="2267712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＋アナリスト予想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028431" y="5577840"/>
            <a:ext cx="3749039" cy="54864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19871" y="5614416"/>
            <a:ext cx="3566159" cy="4754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+116bp</a:t>
            </a:r>
            <a:r>
              <a:rPr lang="ja-JP" sz="12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（t 9.4）、効果の 97% が残存</a:t>
            </a:r>
          </a:p>
          <a:p>
            <a:pPr algn="l"/>
            <a:r>
              <a:rPr lang="ja-JP" sz="1000" b="0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アナリスト予想との差を加えても、ほとんど減らない</a:t>
            </a:r>
          </a:p>
        </p:txBody>
      </p:sp>
      <p:graphicFrame>
        <p:nvGraphicFramePr>
          <p:cNvPr id="58" name="点数別"/>
          <p:cNvGraphicFramePr>
            <a:graphicFrameLocks noGrp="1"/>
          </p:cNvGraphicFramePr>
          <p:nvPr/>
        </p:nvGraphicFramePr>
        <p:xfrm>
          <a:off x="5577840" y="2121408"/>
          <a:ext cx="6199632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7 つの手法を同一条件で比較した結果、学習なしの大規模 LLM が最も高い説明力を示し、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先読みのない小型 LLM も従来手法を上回った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文章を数値化する手法の比較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pt＝% ポイント（R² が 0.01 増えると 1pt）。幅は実験ごとの値で、基準の R² も実験ごとに異なる。学習ありの手法はいずれも 2 日間の反応を正解とした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175564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モデル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2084831"/>
            <a:ext cx="2514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66160" y="175564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何を学習させたか（入力 → 正解）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611879" y="2084831"/>
            <a:ext cx="251460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63640" y="175564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学習の方法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09359" y="2084831"/>
            <a:ext cx="26517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9098280" y="1755648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説明力（R² の上乗せ、pt）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144000" y="2084831"/>
            <a:ext cx="258775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行1"/>
          <p:cNvSpPr/>
          <p:nvPr/>
        </p:nvSpPr>
        <p:spPr>
          <a:xfrm>
            <a:off x="411480" y="2130552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2197342"/>
            <a:ext cx="274320" cy="274320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219734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" y="2130552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gpt-4o-mini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OpenAI、規模は非公開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2130552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学習なし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指示のみで −2〜+2 を回答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130552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ゼロショット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例示なしで質問のみ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2247436"/>
            <a:ext cx="827074" cy="164592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971074" y="2247436"/>
            <a:ext cx="197510" cy="164592"/>
          </a:xfrm>
          <a:prstGeom prst="rect">
            <a:avLst/>
          </a:prstGeom>
          <a:solidFill>
            <a:srgbClr val="9CC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241737" y="2130552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+2.01〜2.49pt</a:t>
            </a:r>
          </a:p>
        </p:txBody>
      </p:sp>
      <p:sp>
        <p:nvSpPr>
          <p:cNvPr id="40" name="行2"/>
          <p:cNvSpPr/>
          <p:nvPr/>
        </p:nvSpPr>
        <p:spPr>
          <a:xfrm>
            <a:off x="411480" y="2537460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02920" y="2604250"/>
            <a:ext cx="274320" cy="2743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260425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25374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FinBERT（追加学習）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1.1 億パラメータ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66160" y="253746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文章 → 株価反応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先頭 512 トークン、約 1.4 万本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63640" y="253746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全体の追加学習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全パラメータを更新（2 エポック）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0" y="2654344"/>
            <a:ext cx="345643" cy="16459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489643" y="2654344"/>
            <a:ext cx="69951" cy="164592"/>
          </a:xfrm>
          <a:prstGeom prst="rect">
            <a:avLst/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632746" y="253746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+0.84〜1.01pt</a:t>
            </a:r>
          </a:p>
        </p:txBody>
      </p:sp>
      <p:sp>
        <p:nvSpPr>
          <p:cNvPr id="49" name="行3"/>
          <p:cNvSpPr/>
          <p:nvPr/>
        </p:nvSpPr>
        <p:spPr>
          <a:xfrm>
            <a:off x="411480" y="2944368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02920" y="3011158"/>
            <a:ext cx="274320" cy="274320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2920" y="301115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68680" y="2944368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ChronoGPT＋リッジ</a:t>
            </a:r>
          </a:p>
          <a:p>
            <a:pPr algn="l">
              <a:lnSpc>
                <a:spcPts val="1250"/>
              </a:lnSpc>
            </a:pPr>
            <a:r>
              <a:rPr lang="ja-JP" sz="95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15.5 億、先読みなし（年次版）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566160" y="2944368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内部ベクトル → 反応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1,536 次元、四半期ごとに再学習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263640" y="2944368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線形プローブ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LLM は固定し、リッジ回帰のみ学習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00" y="3061252"/>
            <a:ext cx="115214" cy="164592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9259214" y="3061252"/>
            <a:ext cx="127558" cy="164592"/>
          </a:xfrm>
          <a:prstGeom prst="rect">
            <a:avLst/>
          </a:prstGeom>
          <a:solidFill>
            <a:srgbClr val="9CC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59925" y="2944368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+0.28〜0.59pt</a:t>
            </a:r>
          </a:p>
        </p:txBody>
      </p:sp>
      <p:sp>
        <p:nvSpPr>
          <p:cNvPr id="58" name="行4"/>
          <p:cNvSpPr/>
          <p:nvPr/>
        </p:nvSpPr>
        <p:spPr>
          <a:xfrm>
            <a:off x="411480" y="3351275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502920" y="3418066"/>
            <a:ext cx="274320" cy="2743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02920" y="3418066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" y="3351275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TF-IDF＋リッジ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語彙 2 万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566160" y="3351275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単語の重み → 反応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全文、四半期ごとに再学習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63640" y="3351275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リッジ回帰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反応と結び付く単語を学習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144000" y="3468160"/>
            <a:ext cx="27432" cy="16459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9168688" y="3468160"/>
            <a:ext cx="127558" cy="164592"/>
          </a:xfrm>
          <a:prstGeom prst="rect">
            <a:avLst/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69399" y="3351275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+0.06〜0.37pt</a:t>
            </a:r>
          </a:p>
        </p:txBody>
      </p:sp>
      <p:sp>
        <p:nvSpPr>
          <p:cNvPr id="67" name="行5"/>
          <p:cNvSpPr/>
          <p:nvPr/>
        </p:nvSpPr>
        <p:spPr>
          <a:xfrm>
            <a:off x="411480" y="3758184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502920" y="3824974"/>
            <a:ext cx="274320" cy="2743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382497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68680" y="375818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FinBERT（学習なし）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1.1 億パラメータ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566160" y="3758184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学習なし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先頭 200 文を 1 文ずつ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263640" y="3758184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肯定 − 否定の確率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金融文で学習済みの分類器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144000" y="3875067"/>
            <a:ext cx="98755" cy="16459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9315907" y="3758184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+0.24pt</a:t>
            </a:r>
          </a:p>
        </p:txBody>
      </p:sp>
      <p:sp>
        <p:nvSpPr>
          <p:cNvPr id="75" name="行6"/>
          <p:cNvSpPr/>
          <p:nvPr/>
        </p:nvSpPr>
        <p:spPr>
          <a:xfrm>
            <a:off x="411480" y="4165091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02920" y="4231882"/>
            <a:ext cx="274320" cy="274320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02920" y="423188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68680" y="4165091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ChronoGPT＋LoRA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15.5 億中 256 万（0.17%）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66160" y="4165091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文章 → 反応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先頭 1,792 トークン、約 1.4 万本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263640" y="4165091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LoRA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各層に低ランク行列を追加（7.6 時間）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44000" y="4281976"/>
            <a:ext cx="53492" cy="164592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9270644" y="4165091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+0.13pt</a:t>
            </a:r>
          </a:p>
        </p:txBody>
      </p:sp>
      <p:sp>
        <p:nvSpPr>
          <p:cNvPr id="83" name="行7"/>
          <p:cNvSpPr/>
          <p:nvPr/>
        </p:nvSpPr>
        <p:spPr>
          <a:xfrm>
            <a:off x="411480" y="4572000"/>
            <a:ext cx="11365992" cy="38404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502920" y="4638790"/>
            <a:ext cx="274320" cy="2743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502920" y="463879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8680" y="45720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辞書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Loughran–McDonald 金融辞書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66160" y="4572000"/>
            <a:ext cx="2606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学習なし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全文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4572000"/>
            <a:ext cx="27432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ts val="1500"/>
              </a:lnSpc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単語の計数</a:t>
            </a:r>
          </a:p>
          <a:p>
            <a:pPr algn="l">
              <a:lnSpc>
                <a:spcPts val="1250"/>
              </a:lnSpc>
            </a:pPr>
            <a:r>
              <a:rPr lang="ja-JP" sz="9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肯定語と否定語の数の差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144000" y="4688884"/>
            <a:ext cx="27432" cy="16459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TextBox 89"/>
          <p:cNvSpPr txBox="1"/>
          <p:nvPr/>
        </p:nvSpPr>
        <p:spPr>
          <a:xfrm>
            <a:off x="9244584" y="4572000"/>
            <a:ext cx="146304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+0.02pt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11480" y="5376672"/>
            <a:ext cx="914400" cy="82296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466344" y="5413248"/>
            <a:ext cx="804672" cy="7498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示唆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417320" y="5376672"/>
            <a:ext cx="10360152" cy="82296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536192" y="54406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大規模 LLM は学習なしで最強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（汎用の読解力が有効）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株価反応で追加学習すると伸びる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（FinBERT 0.24 → 0.84〜1.01）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675120" y="5440680"/>
            <a:ext cx="502920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LoRA はリッジに劣る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（約 1.4 万本に対し学習量 256 万は過大）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先読みのない LLM も従来 NLP 3 手法の合計を上回る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11480" y="5029200"/>
            <a:ext cx="914400" cy="29260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448056" y="5065776"/>
            <a:ext cx="84124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R² の見方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417320" y="5029200"/>
            <a:ext cx="10360152" cy="2926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1536192" y="5065776"/>
            <a:ext cx="101224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 日の株価反応のばらつきのうち説明できた割合。例：実験 2 では従来の材料だけで </a:t>
            </a: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1.6%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 → gpt-4o-mini を足すと </a:t>
            </a: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3.7%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（</a:t>
            </a:r>
            <a:r>
              <a:rPr lang="ja-JP" sz="11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+2.2pt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一方、大型株では情報が発表当日に株価へ織り込まれるため、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読み取りを用いた運用は市場平均を上回らない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大型株（S&amp;P500）での運用（実験 7・8・9）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左図は点数の上位・中位・下位 20% の発表（各約 1,075 本）の平均。同業種の指数との差を発表 5 日前から累積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501" y="1783080"/>
            <a:ext cx="2667317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点数 3 分類別の累積超過リターン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1929384"/>
            <a:ext cx="1775301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945538" y="1929384"/>
            <a:ext cx="177530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6" name="前後のグラフ"/>
          <p:cNvGraphicFramePr>
            <a:graphicFrameLocks noGrp="1"/>
          </p:cNvGraphicFramePr>
          <p:nvPr/>
        </p:nvGraphicFramePr>
        <p:xfrm>
          <a:off x="411480" y="2121408"/>
          <a:ext cx="6309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429000" y="2761488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発表当日に動き終わり、以降は横ばい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59876" y="1783080"/>
            <a:ext cx="14528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運用方法別の結果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995160" y="1929384"/>
            <a:ext cx="1618996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0158476" y="1929384"/>
            <a:ext cx="1618996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6995160" y="2212848"/>
            <a:ext cx="1463040" cy="9144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050024" y="2249424"/>
            <a:ext cx="135331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発表翌日に購入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31352" y="2212848"/>
            <a:ext cx="3246120" cy="914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622792" y="2249424"/>
            <a:ext cx="3063239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ほぼ動かない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翌日の超過リターン +3.6bp（t 0.93）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95160" y="3236976"/>
            <a:ext cx="1463040" cy="9144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050024" y="3273552"/>
            <a:ext cx="135331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月次 BLM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約 10 年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31352" y="3236976"/>
            <a:ext cx="3246120" cy="914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22792" y="3273552"/>
            <a:ext cx="3063239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市場平均と同等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費用控除後 +0.003%／月（t 0.04）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995160" y="4261104"/>
            <a:ext cx="1463040" cy="9144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050024" y="4297680"/>
            <a:ext cx="135331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日次 BLM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31352" y="4261104"/>
            <a:ext cx="3246120" cy="914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22792" y="4297680"/>
            <a:ext cx="3063239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費用で大きく劣後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費用控除後 年 −20%（1 日の回転率 42%）</a:t>
            </a:r>
          </a:p>
        </p:txBody>
      </p:sp>
      <p:sp>
        <p:nvSpPr>
          <p:cNvPr id="43" name="Trapezoid 42"/>
          <p:cNvSpPr/>
          <p:nvPr/>
        </p:nvSpPr>
        <p:spPr>
          <a:xfrm rot="10800000">
            <a:off x="411480" y="5468112"/>
            <a:ext cx="11365992" cy="219456"/>
          </a:xfrm>
          <a:prstGeom prst="trapezoid">
            <a:avLst>
              <a:gd name="adj" fmla="val 40000"/>
            </a:avLst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まとめ"/>
          <p:cNvSpPr/>
          <p:nvPr/>
        </p:nvSpPr>
        <p:spPr>
          <a:xfrm>
            <a:off x="411480" y="5724144"/>
            <a:ext cx="11365992" cy="47548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920" y="5760720"/>
            <a:ext cx="1118311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見通しが価値を持つには未反映の情報が必要 → 情報の織り込みが遅い小型株で検証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小型株では、決算発表文の LLM 内部ベクトルから発表後リターンと変動率を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それぞれ予測し、学習には過去に確定した結果のみを用いる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2 つの予測の作り方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IWM は米国小型株の指数 ETF。リターンはいずれも IWM との差。BLM には発表後リターンの点数を見通しとして入れる（次ページ）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決算発表文"/>
          <p:cNvSpPr/>
          <p:nvPr/>
        </p:nvSpPr>
        <p:spPr>
          <a:xfrm>
            <a:off x="411480" y="1874519"/>
            <a:ext cx="1325880" cy="242316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" y="1911095"/>
            <a:ext cx="1216152" cy="2350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ja-JP" sz="13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決算発表文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EX-99.1 の本文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小型株 1,000 社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2015〜2026 年</a:t>
            </a:r>
          </a:p>
        </p:txBody>
      </p:sp>
      <p:sp>
        <p:nvSpPr>
          <p:cNvPr id="25" name="ChronoGPT"/>
          <p:cNvSpPr/>
          <p:nvPr/>
        </p:nvSpPr>
        <p:spPr>
          <a:xfrm>
            <a:off x="1920240" y="1874519"/>
            <a:ext cx="1508760" cy="2423160"/>
          </a:xfrm>
          <a:prstGeom prst="rect">
            <a:avLst/>
          </a:prstGeom>
          <a:solidFill>
            <a:srgbClr val="197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975104" y="1911095"/>
            <a:ext cx="1399031" cy="2350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ChronoGPT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15.5 億パラメータ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2015 年までの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文章のみで学習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本体は固定</a:t>
            </a:r>
          </a:p>
        </p:txBody>
      </p:sp>
      <p:sp>
        <p:nvSpPr>
          <p:cNvPr id="27" name="内部ベクトル"/>
          <p:cNvSpPr/>
          <p:nvPr/>
        </p:nvSpPr>
        <p:spPr>
          <a:xfrm>
            <a:off x="3611880" y="1874519"/>
            <a:ext cx="1234440" cy="242316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666744" y="1911095"/>
            <a:ext cx="1124712" cy="23500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200"/>
              </a:spcAft>
            </a:pPr>
            <a:r>
              <a:rPr lang="ja-JP" sz="13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内部ベクトル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最終層の平均</a:t>
            </a:r>
          </a:p>
          <a:p>
            <a:pPr algn="ctr">
              <a:spcAft>
                <a:spcPts val="2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1,536 次元</a:t>
            </a:r>
          </a:p>
        </p:txBody>
      </p:sp>
      <p:sp>
        <p:nvSpPr>
          <p:cNvPr id="29" name="Isosceles Triangle 28"/>
          <p:cNvSpPr/>
          <p:nvPr/>
        </p:nvSpPr>
        <p:spPr>
          <a:xfrm rot="5400000">
            <a:off x="1819656" y="304038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Isosceles Triangle 29"/>
          <p:cNvSpPr/>
          <p:nvPr/>
        </p:nvSpPr>
        <p:spPr>
          <a:xfrm rot="5400000">
            <a:off x="3511296" y="304038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Isosceles Triangle 30"/>
          <p:cNvSpPr/>
          <p:nvPr/>
        </p:nvSpPr>
        <p:spPr>
          <a:xfrm rot="5400000">
            <a:off x="4901184" y="240030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47488" y="1874519"/>
            <a:ext cx="1261872" cy="11430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102351" y="1911095"/>
            <a:ext cx="115214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発表後リターン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2〜60 日の上昇・下落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874519"/>
            <a:ext cx="2011680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1911095"/>
            <a:ext cx="1828800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リッジ回帰を学習</a:t>
            </a:r>
          </a:p>
          <a:p>
            <a:pPr algn="l">
              <a:spcAft>
                <a:spcPts val="3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正解：発表をはさむ 2 日の株価反応</a:t>
            </a:r>
          </a:p>
        </p:txBody>
      </p:sp>
      <p:sp>
        <p:nvSpPr>
          <p:cNvPr id="36" name="Isosceles Triangle 35"/>
          <p:cNvSpPr/>
          <p:nvPr/>
        </p:nvSpPr>
        <p:spPr>
          <a:xfrm rot="5400000">
            <a:off x="8449056" y="240030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595360" y="1874519"/>
            <a:ext cx="1371600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86800" y="1911095"/>
            <a:ext cx="1188720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点数</a:t>
            </a:r>
          </a:p>
          <a:p>
            <a:pPr algn="ctr">
              <a:spcAft>
                <a:spcPts val="3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市場が好感しそうな度合い</a:t>
            </a:r>
          </a:p>
        </p:txBody>
      </p:sp>
      <p:sp>
        <p:nvSpPr>
          <p:cNvPr id="39" name="Isosceles Triangle 38"/>
          <p:cNvSpPr/>
          <p:nvPr/>
        </p:nvSpPr>
        <p:spPr>
          <a:xfrm rot="5400000">
            <a:off x="10003536" y="240030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0149840" y="1874519"/>
            <a:ext cx="1627632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241280" y="1911095"/>
            <a:ext cx="1444752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評価</a:t>
            </a:r>
          </a:p>
          <a:p>
            <a:pPr algn="l">
              <a:spcAft>
                <a:spcPts val="300"/>
              </a:spcAft>
            </a:pPr>
            <a:r>
              <a:rPr lang="ja-JP" sz="10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発表後 2〜60 日のリターンに回帰。2 日の反応・数値の驚き・規模を統制</a:t>
            </a:r>
          </a:p>
        </p:txBody>
      </p:sp>
      <p:sp>
        <p:nvSpPr>
          <p:cNvPr id="42" name="Isosceles Triangle 41"/>
          <p:cNvSpPr/>
          <p:nvPr/>
        </p:nvSpPr>
        <p:spPr>
          <a:xfrm rot="5400000">
            <a:off x="4901184" y="368046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047488" y="3154680"/>
            <a:ext cx="1261872" cy="11430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02351" y="3191256"/>
            <a:ext cx="1152143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変動率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2〜60 日の値動きの荒さ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3154680"/>
            <a:ext cx="2011680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3191256"/>
            <a:ext cx="1828800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リッジ回帰を学習</a:t>
            </a:r>
          </a:p>
          <a:p>
            <a:pPr algn="l">
              <a:spcAft>
                <a:spcPts val="3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正解：変動率の驚き（発表後 2〜60 日 ÷ 発表前 60 日）</a:t>
            </a:r>
          </a:p>
        </p:txBody>
      </p:sp>
      <p:sp>
        <p:nvSpPr>
          <p:cNvPr id="47" name="Isosceles Triangle 46"/>
          <p:cNvSpPr/>
          <p:nvPr/>
        </p:nvSpPr>
        <p:spPr>
          <a:xfrm rot="5400000">
            <a:off x="8449056" y="368046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8595360" y="3154680"/>
            <a:ext cx="1371600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686800" y="3191256"/>
            <a:ext cx="1188720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点数</a:t>
            </a:r>
          </a:p>
          <a:p>
            <a:pPr algn="ctr">
              <a:spcAft>
                <a:spcPts val="300"/>
              </a:spcAft>
            </a:pPr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いつもより荒れそうな度合い</a:t>
            </a:r>
          </a:p>
        </p:txBody>
      </p:sp>
      <p:sp>
        <p:nvSpPr>
          <p:cNvPr id="50" name="Isosceles Triangle 49"/>
          <p:cNvSpPr/>
          <p:nvPr/>
        </p:nvSpPr>
        <p:spPr>
          <a:xfrm rot="5400000">
            <a:off x="10003536" y="3680460"/>
            <a:ext cx="91440" cy="91440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10149840" y="3154680"/>
            <a:ext cx="1627632" cy="11430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41280" y="3191256"/>
            <a:ext cx="1444752" cy="10698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300"/>
              </a:spcAft>
            </a:pPr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評価</a:t>
            </a:r>
          </a:p>
          <a:p>
            <a:pPr algn="l">
              <a:spcAft>
                <a:spcPts val="300"/>
              </a:spcAft>
            </a:pPr>
            <a:r>
              <a:rPr lang="ja-JP" sz="10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発表後 2〜60 日の変動率に回帰。過去の変動率・2 日の反応の大きさ・規模を統制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4462272"/>
            <a:ext cx="1325880" cy="86868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66344" y="4498848"/>
            <a:ext cx="1216152" cy="7955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学習と評価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4462272"/>
            <a:ext cx="9948672" cy="8686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947672" y="4498848"/>
            <a:ext cx="9692640" cy="80467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リッジは四半期ごとに学び直す：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その四半期が始まる前に結果が確定した発表（2015 年〜）だけで学習し、その四半期の発表に点数を付ける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評価は 2020 年以降の発表：</a:t>
            </a:r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業種・四半期の固定効果を入れ、点数 1 標準偏差あたりの差を t 値で判定。計画とコードは計算前に固定</a:t>
            </a:r>
          </a:p>
        </p:txBody>
      </p:sp>
      <p:sp>
        <p:nvSpPr>
          <p:cNvPr id="57" name="Trapezoid 56"/>
          <p:cNvSpPr/>
          <p:nvPr/>
        </p:nvSpPr>
        <p:spPr>
          <a:xfrm rot="10800000">
            <a:off x="411480" y="5422392"/>
            <a:ext cx="11365992" cy="201168"/>
          </a:xfrm>
          <a:prstGeom prst="trapezoid">
            <a:avLst>
              <a:gd name="adj" fmla="val 40000"/>
            </a:avLst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まとめ"/>
          <p:cNvSpPr/>
          <p:nvPr/>
        </p:nvSpPr>
        <p:spPr>
          <a:xfrm>
            <a:off x="411480" y="5669280"/>
            <a:ext cx="11365992" cy="50292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705856"/>
            <a:ext cx="11183112" cy="42976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LLM 本体は動かさず、過去の結果だけで小さな回帰を学ぶ → 先読みなしで 2 つの予測を作る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情報の織り込みが遅い小型株では、読み取りが発表後の値動きを予測し、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BLM に組み込むと比較対象を上回った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小型株での予測と運用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1 標準偏差あたり＝点数が 1 標準偏差高い発表ほど、発表後リターン（変動率）がどれだけ高いか。BLM は片道 0.3% の費用を控除（2017-01〜2026-09）、ありえない日次リターンを除いた探索的な計算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67497" y="1783080"/>
            <a:ext cx="2580005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事前登録した予測の検定（t 値）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11480" y="1929384"/>
            <a:ext cx="1110297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193222" y="1929384"/>
            <a:ext cx="1110298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2240280" y="2176272"/>
            <a:ext cx="1508760" cy="3474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67712" y="2212848"/>
            <a:ext cx="14538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元の 1,000 社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794760" y="2176272"/>
            <a:ext cx="1508760" cy="3474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822192" y="2212848"/>
            <a:ext cx="1453895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1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別の 1,000 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2578608"/>
            <a:ext cx="1755648" cy="71323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6344" y="2615184"/>
            <a:ext cx="1645919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発表後リターン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2〜60 日の上昇・下落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40280" y="2578608"/>
            <a:ext cx="1508760" cy="71323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267712" y="2615184"/>
            <a:ext cx="145389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t 3.20</a:t>
            </a:r>
          </a:p>
          <a:p>
            <a:pPr algn="ctr"/>
            <a:r>
              <a:rPr lang="ja-JP" sz="100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 標準偏差あたり +0.76%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94760" y="2578608"/>
            <a:ext cx="1508760" cy="71323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822192" y="2615184"/>
            <a:ext cx="145389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t 2.22</a:t>
            </a:r>
          </a:p>
          <a:p>
            <a:pPr algn="ctr"/>
            <a:r>
              <a:rPr lang="ja-JP" sz="100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 標準偏差あたり +0.54%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3364991"/>
            <a:ext cx="1755648" cy="71323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6344" y="3401568"/>
            <a:ext cx="1645919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変動率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発表後 2〜60 日の荒さ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40280" y="3364991"/>
            <a:ext cx="1508760" cy="71323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267712" y="3401568"/>
            <a:ext cx="145389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t 4.01</a:t>
            </a:r>
          </a:p>
          <a:p>
            <a:pPr algn="ctr"/>
            <a:r>
              <a:rPr lang="ja-JP" sz="100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 標準偏差あたり</a:t>
            </a:r>
          </a:p>
          <a:p>
            <a:pPr algn="ctr"/>
            <a:r>
              <a:rPr lang="ja-JP" sz="100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1.5% 増し</a:t>
            </a:r>
          </a:p>
          <a:p>
            <a:pPr algn="ctr"/>
            <a:r>
              <a:rPr lang="ja-JP" sz="1000" b="0" dirty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（年 40% → 40.6%）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794760" y="3364991"/>
            <a:ext cx="1508760" cy="71323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822192" y="3401568"/>
            <a:ext cx="1453895" cy="6400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t 3.01</a:t>
            </a:r>
          </a:p>
          <a:p>
            <a:pPr algn="ctr"/>
            <a:r>
              <a:rPr lang="ja-JP" sz="10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 標準偏差あたり</a:t>
            </a:r>
            <a:endParaRPr lang="ja-JP" sz="1000" b="0" dirty="0">
              <a:solidFill>
                <a:srgbClr val="7E7F7E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lang="ja-JP" sz="10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1.06% 増し</a:t>
            </a:r>
            <a:endParaRPr lang="ja-JP" sz="1000" b="0" dirty="0">
              <a:solidFill>
                <a:srgbClr val="7E7F7E"/>
              </a:solidFill>
              <a:latin typeface="メイリオ"/>
              <a:ea typeface="メイリオ"/>
              <a:cs typeface="メイリオ"/>
            </a:endParaRPr>
          </a:p>
          <a:p>
            <a:pPr algn="ctr"/>
            <a:r>
              <a:rPr lang="ja-JP" sz="10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（年 40% → 40.4%）</a:t>
            </a:r>
            <a:endParaRPr lang="ja-JP" sz="1000" b="0" dirty="0">
              <a:solidFill>
                <a:srgbClr val="7E7F7E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353310" y="4224528"/>
            <a:ext cx="1008380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BLM の構成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11480" y="4370832"/>
            <a:ext cx="189611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07410" y="4370832"/>
            <a:ext cx="1896110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1480" y="4590288"/>
            <a:ext cx="4892040" cy="16459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標本：</a:t>
            </a: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米国小型株 1,000 社（浮動株時価総額 1,001〜3,000 位）、決算発表文 約 1.2 万本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見通し：</a:t>
            </a: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発表後リターンの点数の銘柄間の順位 z（平均 0・標準偏差 1）に応じ、均衡の期待リターンに IC 0.05 × 変動率 × z を上乗せ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比較対象：</a:t>
            </a: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範囲の全社を時価総額に比例して保有</a:t>
            </a:r>
          </a:p>
          <a:p>
            <a:pPr marL="182880" indent="-182880">
              <a:spcAft>
                <a:spcPts val="3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制約：</a:t>
            </a: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比較対象からの乖離（TE）は年 3% 以内、四半期ごとに組み替え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1184" y="1783080"/>
            <a:ext cx="449294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資産の推移（元の 1,000 社、2016 年末＝1、費用控除後）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577840" y="1929384"/>
            <a:ext cx="807624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0969847" y="1929384"/>
            <a:ext cx="807625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9" name="資産の推移"/>
          <p:cNvGraphicFramePr>
            <a:graphicFrameLocks noGrp="1"/>
          </p:cNvGraphicFramePr>
          <p:nvPr/>
        </p:nvGraphicFramePr>
        <p:xfrm>
          <a:off x="5577840" y="2121408"/>
          <a:ext cx="6199632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0" name="最後の値"/>
          <p:cNvSpPr/>
          <p:nvPr/>
        </p:nvSpPr>
        <p:spPr>
          <a:xfrm>
            <a:off x="6537960" y="2240280"/>
            <a:ext cx="342900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5255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629400" y="2276856"/>
            <a:ext cx="3246120" cy="8595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5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BLM 3.76 倍 ／ 比較対象 3.00 倍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差は年 +2.4%（費用控除後）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別の 1,000 社：3.47 倍 ／ 2.84 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 標本での優位は偽の点数では再現されず、読み取りの中身に由来するが、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売買費用に対しては脆弱である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優位の要因の確認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2017-01〜2026-09 の 2,449 日。結果は「元の 1,000 社・別の 1,000 社」の順。費用は BLM と比較対象の双方の売買に適用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178308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観点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7200" y="2112264"/>
            <a:ext cx="14630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057400" y="1783080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問い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103120" y="2112264"/>
            <a:ext cx="269748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937760" y="178308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結果（元・別の 1,000 社）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983480" y="2112264"/>
            <a:ext cx="329184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778240" y="1783080"/>
            <a:ext cx="299923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解釈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823960" y="2112264"/>
            <a:ext cx="290779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11480" y="2212848"/>
            <a:ext cx="1554480" cy="9784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66344" y="2249424"/>
            <a:ext cx="1444752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偽の点数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2212848"/>
            <a:ext cx="278892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148840" y="2249424"/>
            <a:ext cx="2606039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点数を銘柄間でシャッフルした偽の BLM（100 回）でも同等の成績となるか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37760" y="2212848"/>
            <a:ext cx="338328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029200" y="2249424"/>
            <a:ext cx="3200400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本物以上は 100 回中 0 回（p 0.01）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偽物の平均は年 −1.0%・−1.3%、本物は +2.4%・+2.2%</a:t>
            </a:r>
          </a:p>
        </p:txBody>
      </p:sp>
      <p:sp>
        <p:nvSpPr>
          <p:cNvPr id="39" name="Oval 38"/>
          <p:cNvSpPr/>
          <p:nvPr/>
        </p:nvSpPr>
        <p:spPr>
          <a:xfrm>
            <a:off x="8412480" y="2564892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12480" y="256489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778240" y="2212848"/>
            <a:ext cx="2999232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869680" y="2249424"/>
            <a:ext cx="2816351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優位は点数の中身に由来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BLM の仕組みだけでは勝てない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" y="3282696"/>
            <a:ext cx="1554480" cy="97840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66344" y="3319272"/>
            <a:ext cx="1444752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既知の要因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057400" y="3282696"/>
            <a:ext cx="278892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2148840" y="3319272"/>
            <a:ext cx="2606039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規模・割安・収益性・投資・市場・モメンタムの 6 因子で説明できるか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937760" y="3282696"/>
            <a:ext cx="338328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029200" y="3319272"/>
            <a:ext cx="3200400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α 年 +1.9%・+1.6%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t 2.12・1.65。モメンタムへの傾きが強い</a:t>
            </a:r>
          </a:p>
        </p:txBody>
      </p:sp>
      <p:sp>
        <p:nvSpPr>
          <p:cNvPr id="51" name="Oval 50"/>
          <p:cNvSpPr/>
          <p:nvPr/>
        </p:nvSpPr>
        <p:spPr>
          <a:xfrm>
            <a:off x="8412480" y="3634740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12480" y="3634740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3282696"/>
            <a:ext cx="2999232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869680" y="3319272"/>
            <a:ext cx="2816351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一部は因子で説明、残余あり</a:t>
            </a:r>
          </a:p>
          <a:p>
            <a:pPr algn="l"/>
            <a:r>
              <a:rPr lang="en-US" altLang="ja-JP" sz="105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LLM</a:t>
            </a:r>
            <a:r>
              <a:rPr lang="ja-JP" altLang="en-US" sz="105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は</a:t>
            </a:r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約 2 割が因子による</a:t>
            </a:r>
            <a:r>
              <a:rPr lang="ja-JP" altLang="en-US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が</a:t>
            </a:r>
            <a:r>
              <a:rPr lang="ja-JP" altLang="en-US" sz="105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８割は文章内容から点数を決めている</a:t>
            </a:r>
            <a:endParaRPr lang="ja-JP" sz="1050" b="0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411480" y="4352544"/>
            <a:ext cx="1554480" cy="978408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4" y="4389120"/>
            <a:ext cx="1444752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売買費用</a:t>
            </a:r>
          </a:p>
          <a:p>
            <a:pPr algn="ctr"/>
            <a:endParaRPr lang="ja-JP" sz="1000" b="0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2057400" y="4352544"/>
            <a:ext cx="278892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148840" y="4389120"/>
            <a:ext cx="2606039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10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売買費用が増えても優位は残るか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937760" y="4352544"/>
            <a:ext cx="3383280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029200" y="4389120"/>
            <a:ext cx="3200400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片道 1% で有意でなくなる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0.5% で +1.9%・+1.7%、1% で +0.8%・+0.5%</a:t>
            </a:r>
          </a:p>
        </p:txBody>
      </p:sp>
      <p:sp>
        <p:nvSpPr>
          <p:cNvPr id="63" name="Oval 62"/>
          <p:cNvSpPr/>
          <p:nvPr/>
        </p:nvSpPr>
        <p:spPr>
          <a:xfrm>
            <a:off x="8412480" y="4704588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412480" y="470458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78240" y="4352544"/>
            <a:ext cx="2999232" cy="978408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869680" y="4389120"/>
            <a:ext cx="2816351" cy="9052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altLang="en-US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　</a:t>
            </a:r>
            <a:r>
              <a:rPr lang="ja-JP" sz="1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費用に脆弱</a:t>
            </a:r>
          </a:p>
          <a:p>
            <a:pPr algn="l"/>
            <a:r>
              <a:rPr lang="ja-JP" sz="105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四半期ごとに保有の約 85% を入れ替えるため</a:t>
            </a:r>
          </a:p>
        </p:txBody>
      </p:sp>
      <p:sp>
        <p:nvSpPr>
          <p:cNvPr id="67" name="Trapezoid 66"/>
          <p:cNvSpPr/>
          <p:nvPr/>
        </p:nvSpPr>
        <p:spPr>
          <a:xfrm rot="10800000">
            <a:off x="411480" y="5468112"/>
            <a:ext cx="11365992" cy="219456"/>
          </a:xfrm>
          <a:prstGeom prst="trapezoid">
            <a:avLst>
              <a:gd name="adj" fmla="val 40000"/>
            </a:avLst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まとめ"/>
          <p:cNvSpPr/>
          <p:nvPr/>
        </p:nvSpPr>
        <p:spPr>
          <a:xfrm>
            <a:off x="411480" y="5724144"/>
            <a:ext cx="11365992" cy="47548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02920" y="5760720"/>
            <a:ext cx="11183112" cy="4023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 標本では価格の誤りを除く規則を結果を見てから決めた → 規則を先に固定し、残り 400 社で確認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やり方を先に固定した 400 社の検定では BLM の優位は確認されず、</a:t>
            </a:r>
          </a:p>
          <a:p>
            <a:pPr algn="l">
              <a:lnSpc>
                <a:spcPts val="3000"/>
              </a:lnSpc>
            </a:pPr>
            <a:r>
              <a:rPr lang="ja-JP" sz="2200" b="1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3 標本すべてで成立したのは変動率の予測のみであった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 dirty="0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やり方を先に固定した確認</a:t>
            </a:r>
          </a:p>
        </p:txBody>
      </p:sp>
      <p:sp>
        <p:nvSpPr>
          <p:cNvPr id="4" name="発表の流れ"/>
          <p:cNvSpPr/>
          <p:nvPr/>
        </p:nvSpPr>
        <p:spPr>
          <a:xfrm>
            <a:off x="8229600" y="1097280"/>
            <a:ext cx="3547872" cy="548640"/>
          </a:xfrm>
          <a:prstGeom prst="rect">
            <a:avLst/>
          </a:prstGeom>
          <a:solidFill>
            <a:srgbClr val="F1F2F1"/>
          </a:solidFill>
          <a:ln w="12700">
            <a:solidFill>
              <a:srgbClr val="BA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0" y="1124712"/>
            <a:ext cx="3547872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00" b="1">
                <a:solidFill>
                  <a:srgbClr val="52555A"/>
                </a:solidFill>
                <a:latin typeface="メイリオ"/>
                <a:ea typeface="メイリオ"/>
                <a:cs typeface="メイリオ"/>
              </a:rPr>
              <a:t>本発表の流れ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8284464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302752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元論文</a:t>
            </a:r>
          </a:p>
        </p:txBody>
      </p:sp>
      <p:sp>
        <p:nvSpPr>
          <p:cNvPr id="8" name="Isosceles Triangle 7"/>
          <p:cNvSpPr/>
          <p:nvPr/>
        </p:nvSpPr>
        <p:spPr>
          <a:xfrm rot="5400000">
            <a:off x="8901684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97696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15984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決算文</a:t>
            </a:r>
          </a:p>
        </p:txBody>
      </p:sp>
      <p:sp>
        <p:nvSpPr>
          <p:cNvPr id="11" name="Isosceles Triangle 10"/>
          <p:cNvSpPr/>
          <p:nvPr/>
        </p:nvSpPr>
        <p:spPr>
          <a:xfrm rot="5400000">
            <a:off x="9614916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710928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729216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14" name="Isosceles Triangle 13"/>
          <p:cNvSpPr/>
          <p:nvPr/>
        </p:nvSpPr>
        <p:spPr>
          <a:xfrm rot="5400000">
            <a:off x="10328148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424160" y="1335024"/>
            <a:ext cx="585216" cy="246888"/>
          </a:xfrm>
          <a:prstGeom prst="rect">
            <a:avLst/>
          </a:prstGeom>
          <a:solidFill>
            <a:srgbClr val="D8D9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442448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小型株</a:t>
            </a:r>
          </a:p>
        </p:txBody>
      </p:sp>
      <p:sp>
        <p:nvSpPr>
          <p:cNvPr id="17" name="Isosceles Triangle 16"/>
          <p:cNvSpPr/>
          <p:nvPr/>
        </p:nvSpPr>
        <p:spPr>
          <a:xfrm rot="5400000">
            <a:off x="11041380" y="1426464"/>
            <a:ext cx="64008" cy="64008"/>
          </a:xfrm>
          <a:prstGeom prst="triangle">
            <a:avLst/>
          </a:prstGeom>
          <a:solidFill>
            <a:srgbClr val="9699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11137392" y="1335024"/>
            <a:ext cx="585216" cy="24688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155680" y="1371600"/>
            <a:ext cx="548640" cy="17373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8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検証</a:t>
            </a:r>
          </a:p>
        </p:txBody>
      </p:sp>
      <p:sp>
        <p:nvSpPr>
          <p:cNvPr id="20" name="脚注"/>
          <p:cNvSpPr txBox="1"/>
          <p:nvPr/>
        </p:nvSpPr>
        <p:spPr>
          <a:xfrm>
            <a:off x="411480" y="6291072"/>
            <a:ext cx="1136599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*1: 変動率・発表後リターンは点数 1 標準偏差あたりの係数。探索＝規則を結果を見てから決めた計算。400 社の偽の点数との比較は本物以上が 100 回中 12 回（p 0.13）</a:t>
            </a:r>
          </a:p>
        </p:txBody>
      </p:sp>
      <p:sp>
        <p:nvSpPr>
          <p:cNvPr id="21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1783080"/>
            <a:ext cx="914400" cy="9144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" y="1819656"/>
            <a:ext cx="804672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検定の設計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17320" y="1783080"/>
            <a:ext cx="10360152" cy="91440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554480" y="1819656"/>
            <a:ext cx="10149840" cy="8412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182880" indent="-182880">
              <a:spcAft>
                <a:spcPts val="1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なぜ：元・別の 1,000 社では、</a:t>
            </a:r>
            <a:r>
              <a:rPr lang="ja-JP" altLang="en-US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学習中にデータの異常値があったためやり直しを行った。そのため結果的に探索になってしまう</a:t>
            </a:r>
            <a:endParaRPr lang="en-US" altLang="ja-JP" sz="1100" b="0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  <a:p>
            <a:pPr marL="182880" indent="-182880">
              <a:spcAft>
                <a:spcPts val="1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やり方：組み方・掃除の規則・費用・判定の基準を先に固定して記録し、残りの 400 社で 1 回だけ計算</a:t>
            </a:r>
            <a:endParaRPr lang="en-US" altLang="ja-JP" sz="1100" b="0" dirty="0">
              <a:solidFill>
                <a:srgbClr val="000000"/>
              </a:solidFill>
              <a:latin typeface="メイリオ"/>
              <a:ea typeface="メイリオ"/>
              <a:cs typeface="メイリオ"/>
            </a:endParaRPr>
          </a:p>
          <a:p>
            <a:pPr marL="182880" indent="-182880">
              <a:spcAft>
                <a:spcPts val="100"/>
              </a:spcAft>
              <a:buClr>
                <a:srgbClr val="000000"/>
              </a:buClr>
              <a:buSzPct val="75000"/>
              <a:buFont typeface="Arial"/>
              <a:buChar char="■"/>
            </a:pP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AI </a:t>
            </a:r>
            <a:r>
              <a:rPr lang="ja-JP" altLang="en-US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自体</a:t>
            </a:r>
            <a:r>
              <a:rPr lang="ja-JP" sz="1100" b="0" dirty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は 3 標本とも 2015 年までの文章のみで学習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11880" y="2880360"/>
            <a:ext cx="2679192" cy="4572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703320" y="2916936"/>
            <a:ext cx="24963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元の 1,000 社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45936" y="2880360"/>
            <a:ext cx="2679192" cy="4572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37376" y="2916936"/>
            <a:ext cx="24963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別の 1,000 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79992" y="2880360"/>
            <a:ext cx="2697480" cy="4572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71432" y="2916936"/>
            <a:ext cx="2514600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altLang="en-US" sz="120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確認用の 400 社</a:t>
            </a:r>
            <a:endParaRPr lang="ja-JP" sz="1200" b="1" dirty="0">
              <a:solidFill>
                <a:srgbClr val="FFFFFF"/>
              </a:solidFill>
              <a:latin typeface="メイリオ"/>
              <a:ea typeface="メイリオ"/>
              <a:cs typeface="メイリオ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411480" y="3401568"/>
            <a:ext cx="3127248" cy="64008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6344" y="3438144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変動率の予測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S2：発表後 2〜60 日の荒さ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401568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03320" y="3438144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  +1.5%（t 4.01）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5936" y="3401568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37376" y="3438144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+1.06%（t 3.01）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079992" y="3401568"/>
            <a:ext cx="2697480" cy="640080"/>
          </a:xfrm>
          <a:prstGeom prst="rect">
            <a:avLst/>
          </a:prstGeom>
          <a:solidFill>
            <a:srgbClr val="F1F2F1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71432" y="3438144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+2.04%（t 4.38）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096512"/>
            <a:ext cx="3127248" cy="64008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66344" y="4133088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発表後リターンの予測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S1：発表後 2〜60 日の上昇・下落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11880" y="4096512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703320" y="4133088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+0.76%（t 3.20）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45936" y="4096512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37376" y="4133088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chemeClr val="accent1"/>
                </a:solidFill>
                <a:latin typeface="メイリオ"/>
                <a:ea typeface="メイリオ"/>
                <a:cs typeface="メイリオ"/>
              </a:rPr>
              <a:t>+0.54%（t 2.22）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079992" y="4096512"/>
            <a:ext cx="2697480" cy="640080"/>
          </a:xfrm>
          <a:prstGeom prst="rect">
            <a:avLst/>
          </a:prstGeom>
          <a:solidFill>
            <a:srgbClr val="F1F2F1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71432" y="4133088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C0281E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rgbClr val="C0281E"/>
                </a:solidFill>
                <a:latin typeface="メイリオ"/>
                <a:ea typeface="メイリオ"/>
                <a:cs typeface="メイリオ"/>
              </a:rPr>
              <a:t>+0.24%（t 0.66）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4791456"/>
            <a:ext cx="3127248" cy="64008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66344" y="4828032"/>
            <a:ext cx="301752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3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BLM の優位</a:t>
            </a:r>
          </a:p>
          <a:p>
            <a:pPr algn="ctr"/>
            <a:r>
              <a:rPr lang="ja-JP" sz="1000" b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費用控除後、年率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11880" y="4791456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703320" y="4828032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–  </a:t>
            </a:r>
            <a:r>
              <a:rPr lang="ja-JP" sz="1300" b="1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+2.4%（探索）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345936" y="4791456"/>
            <a:ext cx="2679192" cy="640080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437376" y="4828032"/>
            <a:ext cx="2496312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–  </a:t>
            </a:r>
            <a:r>
              <a:rPr lang="ja-JP" sz="1300" b="1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+2.2%（探索）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79992" y="4791456"/>
            <a:ext cx="2697480" cy="640080"/>
          </a:xfrm>
          <a:prstGeom prst="rect">
            <a:avLst/>
          </a:prstGeom>
          <a:solidFill>
            <a:srgbClr val="F1F2F1"/>
          </a:solidFill>
          <a:ln w="1270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71432" y="4828032"/>
            <a:ext cx="2514600" cy="56692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500" b="1" dirty="0">
                <a:solidFill>
                  <a:srgbClr val="C0281E"/>
                </a:solidFill>
                <a:latin typeface="メイリオ"/>
                <a:ea typeface="メイリオ"/>
                <a:cs typeface="メイリオ"/>
              </a:rPr>
              <a:t>  </a:t>
            </a:r>
            <a:r>
              <a:rPr lang="ja-JP" sz="1300" b="1" dirty="0">
                <a:solidFill>
                  <a:srgbClr val="C0281E"/>
                </a:solidFill>
                <a:latin typeface="メイリオ"/>
                <a:ea typeface="メイリオ"/>
                <a:cs typeface="メイリオ"/>
              </a:rPr>
              <a:t>+0.74%（p 0.25）</a:t>
            </a:r>
          </a:p>
        </p:txBody>
      </p:sp>
      <p:sp>
        <p:nvSpPr>
          <p:cNvPr id="57" name="Trapezoid 56"/>
          <p:cNvSpPr/>
          <p:nvPr/>
        </p:nvSpPr>
        <p:spPr>
          <a:xfrm rot="10800000">
            <a:off x="411480" y="5541264"/>
            <a:ext cx="11365992" cy="182880"/>
          </a:xfrm>
          <a:prstGeom prst="trapezoid">
            <a:avLst>
              <a:gd name="adj" fmla="val 40000"/>
            </a:avLst>
          </a:prstGeom>
          <a:solidFill>
            <a:srgbClr val="BABB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まとめ"/>
          <p:cNvSpPr/>
          <p:nvPr/>
        </p:nvSpPr>
        <p:spPr>
          <a:xfrm>
            <a:off x="411480" y="5760720"/>
            <a:ext cx="11365992" cy="457200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02920" y="5797296"/>
            <a:ext cx="11183112" cy="38404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altLang="ja-JP" sz="14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確かなのは変動率の予測</a:t>
            </a:r>
            <a:r>
              <a:rPr lang="ja-JP" altLang="en-US" sz="14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で優位だがリターン予測では優位とは言えない。</a:t>
            </a:r>
            <a:r>
              <a:rPr lang="ja-JP" sz="1450" b="1" dirty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標本が少なく「効果なし」とも言えない。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"/>
          <p:cNvSpPr txBox="1"/>
          <p:nvPr/>
        </p:nvSpPr>
        <p:spPr>
          <a:xfrm>
            <a:off x="411480" y="256032"/>
            <a:ext cx="11365992" cy="822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LLM の読み取りは株価材料として有効だが、BLM による超過収益は立証に至らず、</a:t>
            </a:r>
          </a:p>
          <a:p>
            <a:pPr algn="l">
              <a:lnSpc>
                <a:spcPts val="3000"/>
              </a:lnSpc>
            </a:pPr>
            <a:r>
              <a:rPr lang="ja-JP" sz="2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確実な成果はリスクの予測に限られる</a:t>
            </a:r>
          </a:p>
        </p:txBody>
      </p:sp>
      <p:sp>
        <p:nvSpPr>
          <p:cNvPr id="3" name="小見出し"/>
          <p:cNvSpPr txBox="1"/>
          <p:nvPr/>
        </p:nvSpPr>
        <p:spPr>
          <a:xfrm>
            <a:off x="411480" y="1216152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500" b="1">
                <a:solidFill>
                  <a:srgbClr val="1973EB"/>
                </a:solidFill>
                <a:latin typeface="メイリオ"/>
                <a:ea typeface="メイリオ"/>
                <a:cs typeface="メイリオ"/>
              </a:rPr>
              <a:t>結論と今後の課題</a:t>
            </a:r>
          </a:p>
        </p:txBody>
      </p:sp>
      <p:sp>
        <p:nvSpPr>
          <p:cNvPr id="4" name="ページ番号"/>
          <p:cNvSpPr txBox="1"/>
          <p:nvPr/>
        </p:nvSpPr>
        <p:spPr>
          <a:xfrm>
            <a:off x="411480" y="6528816"/>
            <a:ext cx="914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91072" y="6528816"/>
            <a:ext cx="5486400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/>
            <a:r>
              <a:rPr lang="ja-JP" sz="900" b="0">
                <a:solidFill>
                  <a:srgbClr val="7E7F7E"/>
                </a:solidFill>
                <a:latin typeface="メイリオ"/>
                <a:ea typeface="メイリオ"/>
                <a:cs typeface="メイリオ"/>
              </a:rPr>
              <a:t>情報工学工房 2026　LLM-BLM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783080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観点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2112264"/>
            <a:ext cx="137160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65960" y="1783080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本研究で言えること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79" y="2112264"/>
            <a:ext cx="4480561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95160" y="1783080"/>
            <a:ext cx="4782312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残る課題・今後の方針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40880" y="2112264"/>
            <a:ext cx="46908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11480" y="2212848"/>
            <a:ext cx="1463040" cy="8046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6344" y="2249424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読み取り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212848"/>
            <a:ext cx="4572000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057400" y="2249424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決算発表文から株価材料を読める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アナリスト予想・追加学習モデル・先読みのない LLM と比べても有効</a:t>
            </a:r>
          </a:p>
        </p:txBody>
      </p:sp>
      <p:sp>
        <p:nvSpPr>
          <p:cNvPr id="18" name="Oval 17"/>
          <p:cNvSpPr/>
          <p:nvPr/>
        </p:nvSpPr>
        <p:spPr>
          <a:xfrm>
            <a:off x="6629400" y="2478024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9400" y="24780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212848"/>
            <a:ext cx="4782312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086600" y="2249424"/>
            <a:ext cx="459943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記憶の完全な排除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先読みの排除は ChronoGPT による傍証にとどまる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099815"/>
            <a:ext cx="1463040" cy="8046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66344" y="3136391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大型株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65960" y="3099815"/>
            <a:ext cx="4572000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057400" y="3136391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情報は発表当日に織り込まれる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月次・日次の BLM は費用控除後に市場平均を上回らない</a:t>
            </a:r>
          </a:p>
        </p:txBody>
      </p:sp>
      <p:sp>
        <p:nvSpPr>
          <p:cNvPr id="28" name="Oval 27"/>
          <p:cNvSpPr/>
          <p:nvPr/>
        </p:nvSpPr>
        <p:spPr>
          <a:xfrm>
            <a:off x="6629400" y="3364991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629400" y="3364991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95160" y="3099815"/>
            <a:ext cx="4782312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086600" y="3136391"/>
            <a:ext cx="459943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日中データでの検証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発表直後の数分〜数時間の反応は未検証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1480" y="3986783"/>
            <a:ext cx="1463040" cy="8046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66344" y="4023359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小型株の予測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965960" y="3986783"/>
            <a:ext cx="4572000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2057400" y="4023359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変動率の予測は 3 標本で成立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発表後リターンの予測は 3 標本中 2 標本で成立</a:t>
            </a:r>
          </a:p>
        </p:txBody>
      </p:sp>
      <p:sp>
        <p:nvSpPr>
          <p:cNvPr id="38" name="Oval 37"/>
          <p:cNvSpPr/>
          <p:nvPr/>
        </p:nvSpPr>
        <p:spPr>
          <a:xfrm>
            <a:off x="6629400" y="4251959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629400" y="4251959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995160" y="3986783"/>
            <a:ext cx="4782312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086600" y="4023359"/>
            <a:ext cx="459943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リスク管理への応用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変動率の予測を保有量や TE の配分に活用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4873752"/>
            <a:ext cx="1463040" cy="804672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66344" y="4910328"/>
            <a:ext cx="135331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5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小型株の BLM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965960" y="4873752"/>
            <a:ext cx="4572000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2057400" y="4910328"/>
            <a:ext cx="4389120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事前登録した検定では優位を確認できず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 標本の年 +2.2〜2.4% は探索的結果</a:t>
            </a:r>
          </a:p>
        </p:txBody>
      </p:sp>
      <p:sp>
        <p:nvSpPr>
          <p:cNvPr id="48" name="Oval 47"/>
          <p:cNvSpPr/>
          <p:nvPr/>
        </p:nvSpPr>
        <p:spPr>
          <a:xfrm>
            <a:off x="6629400" y="5138928"/>
            <a:ext cx="274320" cy="27432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629400" y="5138928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2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»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4873752"/>
            <a:ext cx="4782312" cy="804672"/>
          </a:xfrm>
          <a:prstGeom prst="rect">
            <a:avLst/>
          </a:prstGeom>
          <a:solidFill>
            <a:srgbClr val="F1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7086600" y="4910328"/>
            <a:ext cx="4599432" cy="7315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ja-JP" sz="1200" b="1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✓ 前向きの検証</a:t>
            </a:r>
          </a:p>
          <a:p>
            <a:pPr algn="l"/>
            <a:r>
              <a:rPr lang="ja-JP" sz="1050" b="0">
                <a:solidFill>
                  <a:srgbClr val="000000"/>
                </a:solidFill>
                <a:latin typeface="メイリオ"/>
                <a:ea typeface="メイリオ"/>
                <a:cs typeface="メイリオ"/>
              </a:rPr>
              <a:t>2026 年 11 月以降の未見の決算発表で再検証</a:t>
            </a:r>
          </a:p>
        </p:txBody>
      </p:sp>
      <p:sp>
        <p:nvSpPr>
          <p:cNvPr id="52" name="まとめ"/>
          <p:cNvSpPr/>
          <p:nvPr/>
        </p:nvSpPr>
        <p:spPr>
          <a:xfrm>
            <a:off x="411480" y="5788152"/>
            <a:ext cx="11365992" cy="429768"/>
          </a:xfrm>
          <a:prstGeom prst="rect">
            <a:avLst/>
          </a:prstGeom>
          <a:solidFill>
            <a:srgbClr val="525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02920" y="5824728"/>
            <a:ext cx="11183112" cy="356615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lang="ja-JP" sz="1400" b="1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事前登録と別標本での確認により、期待した結果が弱まる過程も含めて検証結果を示した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642</TotalTime>
  <Words>3679</Words>
  <Application>Microsoft Office PowerPoint</Application>
  <PresentationFormat>ワイド画面</PresentationFormat>
  <Paragraphs>412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メイリオ</vt:lpstr>
      <vt:lpstr>游ゴシック</vt:lpstr>
      <vt:lpstr>Arial</vt:lpstr>
      <vt:lpstr>Calibri</vt:lpstr>
      <vt:lpstr>DashVTI</vt:lpstr>
      <vt:lpstr>LLMによる株式リターン予測とポートフォリオ最適化の検証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k2313080</dc:creator>
  <cp:lastModifiedBy>k2313080</cp:lastModifiedBy>
  <cp:revision>32</cp:revision>
  <dcterms:created xsi:type="dcterms:W3CDTF">2026-10-11T07:13:42Z</dcterms:created>
  <dcterms:modified xsi:type="dcterms:W3CDTF">2026-10-28T03:44:37Z</dcterms:modified>
</cp:coreProperties>
</file>