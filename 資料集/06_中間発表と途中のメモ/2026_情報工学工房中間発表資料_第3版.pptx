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4" r:id="rId1"/>
  </p:sldMasterIdLst>
  <p:notesMasterIdLst>
    <p:notesMasterId r:id="rId14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7"/>
    <p:sldId id="264" r:id="rId6"/>
    <p:sldId id="265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4554"/>
  </p:normalViewPr>
  <p:slideViewPr>
    <p:cSldViewPr snapToGrid="0">
      <p:cViewPr varScale="1">
        <p:scale>
          <a:sx n="98" d="100"/>
          <a:sy n="98" d="100"/>
        </p:scale>
        <p:origin x="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の点数で 5 グループに分けた、2 日間の株価の動き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E0601F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E0601F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E0601F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1973EB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1973EB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1（低い）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5（高い）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-1.773</c:v>
                </c:pt>
                <c:pt idx="1">
                  <c:v>-0.198</c:v>
                </c:pt>
                <c:pt idx="2">
                  <c:v>-0.25</c:v>
                </c:pt>
                <c:pt idx="3">
                  <c:v>0.456</c:v>
                </c:pt>
                <c:pt idx="4">
                  <c:v>1.164</c:v>
                </c:pt>
              </c:numCache>
            </c:numRef>
          </c:val>
        </c:ser>
        <c:dLbls>
          <c:numFmt formatCode="+0.00&quot;%&quot;;-0.00&quot;%&quot;" sourceLinked="0"/>
          <c:txPr>
            <a:bodyPr/>
            <a:lstStyle/>
            <a:p>
              <a:pPr>
                <a:defRPr sz="15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-2.5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株価の動きをどれだけ説明できたか（決定係数の増分）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C9CED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C9CED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C9CED6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5B616B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1973EB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5B616B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単語の辞書</c:v>
                </c:pt>
                <c:pt idx="1">
                  <c:v>金融用の AI（BERT）</c:v>
                </c:pt>
                <c:pt idx="2">
                  <c:v>単語の出現頻度＋回帰</c:v>
                </c:pt>
                <c:pt idx="3">
                  <c:v>昔ながらの 3 つの合計</c:v>
                </c:pt>
                <c:pt idx="4">
                  <c:v>ChronoGPT</c:v>
                </c:pt>
                <c:pt idx="5">
                  <c:v>BERT（株価で追加学習）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</c:v>
                </c:pt>
                <c:pt idx="1">
                  <c:v>0.24</c:v>
                </c:pt>
                <c:pt idx="2">
                  <c:v>0.37</c:v>
                </c:pt>
                <c:pt idx="3">
                  <c:v>0.51</c:v>
                </c:pt>
                <c:pt idx="4">
                  <c:v>0.59</c:v>
                </c:pt>
                <c:pt idx="5">
                  <c:v>1.01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500" b="1" lang="ja-JP">
                  <a:solidFill>
                    <a:srgbClr val="0D1C3B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low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発表の前後の株価の動き（同じ業種との差の累積）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点数が上位 20%</c:v>
                </c:pt>
              </c:strCache>
            </c:strRef>
          </c:tx>
          <c:spPr>
            <a:ln w="38100">
              <a:solidFill>
                <a:srgbClr val="1973EB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-5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発表日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+5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+10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+15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+20</c:v>
                </c:pt>
                <c:pt idx="26">
                  <c:v/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0.07</c:v>
                </c:pt>
                <c:pt idx="1">
                  <c:v>0.245</c:v>
                </c:pt>
                <c:pt idx="2">
                  <c:v>0.306</c:v>
                </c:pt>
                <c:pt idx="3">
                  <c:v>0.382</c:v>
                </c:pt>
                <c:pt idx="4">
                  <c:v>0.542</c:v>
                </c:pt>
                <c:pt idx="5">
                  <c:v>1.811</c:v>
                </c:pt>
                <c:pt idx="6">
                  <c:v>1.808</c:v>
                </c:pt>
                <c:pt idx="7">
                  <c:v>1.916</c:v>
                </c:pt>
                <c:pt idx="8">
                  <c:v>2.0</c:v>
                </c:pt>
                <c:pt idx="9">
                  <c:v>2.027</c:v>
                </c:pt>
                <c:pt idx="10">
                  <c:v>1.992</c:v>
                </c:pt>
                <c:pt idx="11">
                  <c:v>2.067</c:v>
                </c:pt>
                <c:pt idx="12">
                  <c:v>2.065</c:v>
                </c:pt>
                <c:pt idx="13">
                  <c:v>2.12</c:v>
                </c:pt>
                <c:pt idx="14">
                  <c:v>2.119</c:v>
                </c:pt>
                <c:pt idx="15">
                  <c:v>2.149</c:v>
                </c:pt>
                <c:pt idx="16">
                  <c:v>2.142</c:v>
                </c:pt>
                <c:pt idx="17">
                  <c:v>2.104</c:v>
                </c:pt>
                <c:pt idx="18">
                  <c:v>2.259</c:v>
                </c:pt>
                <c:pt idx="19">
                  <c:v>2.228</c:v>
                </c:pt>
                <c:pt idx="20">
                  <c:v>2.178</c:v>
                </c:pt>
                <c:pt idx="21">
                  <c:v>2.238</c:v>
                </c:pt>
                <c:pt idx="22">
                  <c:v>2.352</c:v>
                </c:pt>
                <c:pt idx="23">
                  <c:v>2.333</c:v>
                </c:pt>
                <c:pt idx="24">
                  <c:v>2.404</c:v>
                </c:pt>
                <c:pt idx="25">
                  <c:v>2.382</c:v>
                </c:pt>
                <c:pt idx="26">
                  <c:v>2.329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中位 20%</c:v>
                </c:pt>
              </c:strCache>
            </c:strRef>
          </c:tx>
          <c:spPr>
            <a:ln w="38100">
              <a:solidFill>
                <a:srgbClr val="5B616B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-5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発表日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+5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+10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+15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+20</c:v>
                </c:pt>
                <c:pt idx="26">
                  <c:v/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0.061</c:v>
                </c:pt>
                <c:pt idx="1">
                  <c:v>0.027</c:v>
                </c:pt>
                <c:pt idx="2">
                  <c:v>0.107</c:v>
                </c:pt>
                <c:pt idx="3">
                  <c:v>0.145</c:v>
                </c:pt>
                <c:pt idx="4">
                  <c:v>0.139</c:v>
                </c:pt>
                <c:pt idx="5">
                  <c:v>0.047</c:v>
                </c:pt>
                <c:pt idx="6">
                  <c:v>-0.087</c:v>
                </c:pt>
                <c:pt idx="7">
                  <c:v>-0.133</c:v>
                </c:pt>
                <c:pt idx="8">
                  <c:v>-0.147</c:v>
                </c:pt>
                <c:pt idx="9">
                  <c:v>-0.249</c:v>
                </c:pt>
                <c:pt idx="10">
                  <c:v>-0.307</c:v>
                </c:pt>
                <c:pt idx="11">
                  <c:v>-0.302</c:v>
                </c:pt>
                <c:pt idx="12">
                  <c:v>-0.304</c:v>
                </c:pt>
                <c:pt idx="13">
                  <c:v>-0.453</c:v>
                </c:pt>
                <c:pt idx="14">
                  <c:v>-0.482</c:v>
                </c:pt>
                <c:pt idx="15">
                  <c:v>-0.528</c:v>
                </c:pt>
                <c:pt idx="16">
                  <c:v>-0.525</c:v>
                </c:pt>
                <c:pt idx="17">
                  <c:v>-0.514</c:v>
                </c:pt>
                <c:pt idx="18">
                  <c:v>-0.518</c:v>
                </c:pt>
                <c:pt idx="19">
                  <c:v>-0.537</c:v>
                </c:pt>
                <c:pt idx="20">
                  <c:v>-0.437</c:v>
                </c:pt>
                <c:pt idx="21">
                  <c:v>-0.429</c:v>
                </c:pt>
                <c:pt idx="22">
                  <c:v>-0.393</c:v>
                </c:pt>
                <c:pt idx="23">
                  <c:v>-0.511</c:v>
                </c:pt>
                <c:pt idx="24">
                  <c:v>-0.454</c:v>
                </c:pt>
                <c:pt idx="25">
                  <c:v>-0.436</c:v>
                </c:pt>
                <c:pt idx="26">
                  <c:v>-0.412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下位 20%</c:v>
                </c:pt>
              </c:strCache>
            </c:strRef>
          </c:tx>
          <c:spPr>
            <a:ln w="38100">
              <a:solidFill>
                <a:srgbClr val="E0601F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-5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発表日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+5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+10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+15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+20</c:v>
                </c:pt>
                <c:pt idx="26">
                  <c:v/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-0.182</c:v>
                </c:pt>
                <c:pt idx="1">
                  <c:v>-0.194</c:v>
                </c:pt>
                <c:pt idx="2">
                  <c:v>-0.159</c:v>
                </c:pt>
                <c:pt idx="3">
                  <c:v>-0.185</c:v>
                </c:pt>
                <c:pt idx="4">
                  <c:v>-0.245</c:v>
                </c:pt>
                <c:pt idx="5">
                  <c:v>-2.099</c:v>
                </c:pt>
                <c:pt idx="6">
                  <c:v>-2.207</c:v>
                </c:pt>
                <c:pt idx="7">
                  <c:v>-2.24</c:v>
                </c:pt>
                <c:pt idx="8">
                  <c:v>-2.2</c:v>
                </c:pt>
                <c:pt idx="9">
                  <c:v>-2.18</c:v>
                </c:pt>
                <c:pt idx="10">
                  <c:v>-2.159</c:v>
                </c:pt>
                <c:pt idx="11">
                  <c:v>-2.261</c:v>
                </c:pt>
                <c:pt idx="12">
                  <c:v>-2.232</c:v>
                </c:pt>
                <c:pt idx="13">
                  <c:v>-2.274</c:v>
                </c:pt>
                <c:pt idx="14">
                  <c:v>-2.211</c:v>
                </c:pt>
                <c:pt idx="15">
                  <c:v>-2.278</c:v>
                </c:pt>
                <c:pt idx="16">
                  <c:v>-2.331</c:v>
                </c:pt>
                <c:pt idx="17">
                  <c:v>-2.283</c:v>
                </c:pt>
                <c:pt idx="18">
                  <c:v>-2.323</c:v>
                </c:pt>
                <c:pt idx="19">
                  <c:v>-2.339</c:v>
                </c:pt>
                <c:pt idx="20">
                  <c:v>-2.302</c:v>
                </c:pt>
                <c:pt idx="21">
                  <c:v>-2.298</c:v>
                </c:pt>
                <c:pt idx="22">
                  <c:v>-2.273</c:v>
                </c:pt>
                <c:pt idx="23">
                  <c:v>-2.297</c:v>
                </c:pt>
                <c:pt idx="24">
                  <c:v>-2.302</c:v>
                </c:pt>
                <c:pt idx="25">
                  <c:v>-2.241</c:v>
                </c:pt>
                <c:pt idx="26">
                  <c:v>-2.239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.0"/>
          <c:min val="-3.0"/>
        </c:scaling>
        <c:delete val="0"/>
        <c:axPos val="l"/>
        <c:majorGridlines>
          <c:spPr>
            <a:ln>
              <a:solidFill>
                <a:srgbClr val="E6E8EC"/>
              </a:solidFill>
            </a:ln>
          </c:spPr>
        </c:majorGridlines>
        <c:numFmt formatCode="+0&quot;%&quot;;-0&quot;%&quot;;0&quot;%&quot;" sourceLinked="0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3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300" b="0" lang="ja-JP">
              <a:solidFill>
                <a:srgbClr val="0D1C3B"/>
              </a:solidFill>
              <a:latin typeface="メイリオ"/>
              <a:ea typeface="メイリオ"/>
              <a:cs typeface="メイリオ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300" b="0" lang="ja-JP">
          <a:solidFill>
            <a:srgbClr val="0D1C3B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D3A03-8659-4152-9B8F-7B0DD20BC6B1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DB54F-0B18-4EE3-9F53-46B6494808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44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ChatGPT のような AI に株を選ばせたら儲かるか、という研究の中間発表です。前回は、元の論文の方法を再現して、問題点を見つけたところまででした。今回は、問いを立て直して行った実験の結果を話します。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最初に結論です。問いは、AI に株を選ばせたら市場の平均より儲かるか、です。3 段階で調べました。1 つ目、数字だけを見せて予想させると、AI は先月の動きをまねするだけでした。2 つ目、会社の決算の文章を読ませると、発表直後の株価の動きとよく合う点数を付けられました。3 つ目、ところがその点数で運用すると、市場の平均とほぼ同じ。AI が読めることは、市場も発表の当日に読んでいた、というのが結論です。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用語を 2 つだけ説明します。ポートフォリオは、どの株にどれだけ投資するかの組み合わせです。市場の平均は、S&amp;P500 という米国の大企業約 500 社を、会社の大きさに比例して持つもので、プロでもこれに勝つのは難しいです。Black-Litterman モデルは、この市場の見方から出発して、自分の予想に自信がある分だけ比率をずらす方法です。ベイズ推定でいえば、市場の見方が事前分布、AI の予想が観測、混ぜた結果が事後分布です。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前回までの内容を短くまとめます。元の論文は、過去 1 か月の株価の動きを AI に見せて、来月の値動きを 30 回答えさせ、その平均を予想、ばらつきを自信のなさとして使います。再現すると、AI の予想は先月の値動きと相関 0.89 で、ほぼ写しているだけでした。それを取り除いた AI ならではの当たりは、ほぼ 0 でした。しかも自信が強すぎて、市場の見方を 99.9% 捨てていました。数字を渡して数字を答えさせても、AI の強みは出ない、というのが前回の結論です。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そこで問いを変えました。AI が得意なのは文章を読むことです。決算発表は、会社が 3 か月ごとに出す成績表で、出た直後に株価が大きく動きます。その文章を AI に読ませて採点させ、点数が発表直後の株価の動きと合うかを調べました。比べるのは、発表をはさむ 2 日間の株価の動きから、同じ業種の株の平均の動きを引いたものです。また、結果を見てから都合のよい分析を選ばないよう、計画とプログラムを先に固定して 1 回だけ実行しました。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結果です。AI の点数で発表を 5 つのグループに分けて、発表直後 2 日間の株価の動きを平均しました。点数の低いグループは約 1.8% 下がり、高いグループは約 1.2% 上がりました。上と下で約 2.9% の差です。t 値は 9.4 で、偶然ではまず起きない大きさです。売上や利益の数字、アナリストの予想、昔ながらの単語を数える文章分析を考えに入れても、この関係は残りました。AI は、数字だけでは分からない情報を文章から読み取っています。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ここで心配なのは、AI が答えを覚えていたのではないか、ということです。gpt-4o-mini は 2023 年までのネットの文章で学習しているので、昔の決算については、その後の株価まで読んでいるかもしれません。テストの答えを知っている受験生です。そこで、2015 年末までの文章だけで学習した ChronoGPT という AI に、2020 年以降の決算を読ませました。これなら答えを知りようがありません。それでも、単語を数える方法など昔ながらの 3 つの方法を合わせたものよりよく説明できました。株価で追加学習させた BERT には負けますが、10 年前の言葉しか知らない AI としては十分です。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では、これで儲かるか。左のグラフは、発表の 5 日前から 21 日後までの株価の動きです。点数の高い発表は上がり、低い発表は下がりますが、動くのはほぼ発表の日だけで、そのあとは横ばいです。つまり、AI が文章を読んでから買っても、もう値段に入っています。実際に AI の点数で毎月ポートフォリオを組み替えて約 10 年運用すると、市場の平均とほぼ同じ。毎日組み替えると、手数料で年マイナス 20% でした。市場には大勢のプロと自動売買のプログラムがいて、発表から数秒から数時間で値段に反映してしまうからです。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ほかにも試したことを 4 つ紹介します。AI の中身そのものを株価で追加学習させる方法は、学習させない使い方より弱くなりました。データが 1 万 4 千本では、AI の多くの重みを合わせるには足りなかったと考えています。長い文章の読ませ方を 5 通り工夫しても、ほとんど変わりませんでした。一方、AI の途中の層の数値を使うと説明力が大きく上がりました。ただしこれは計画外の探索なので、改めて確かめます。最後に、市場平均からのずれを年 3% に抑えるはずが 4.8% になっていた問題は、過去の実績で上限を補正する簡単な方法で 3.4% まで直せました。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まとめです。数字を見せて予想させても、AI は先月の値動きをまねするだけでした。決算の文章は読めて、答えを知らない AI でも昔ながらの方法より読めました。でも株価は発表の日に動き終わるので、その情報では儲かりません。今後は、市場が読み違えたかもしれない発表を探すこと、上がる下がるではなく値動きの荒さを当てること、複数の AI の意見の割れを自信の強さに使うこと、を調べる予定です。以上です。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8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7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メイリオ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633472"/>
            <a:ext cx="5212080" cy="3566160"/>
          </a:xfrm>
        </p:spPr>
        <p:txBody>
          <a:bodyPr/>
          <a:lstStyle>
            <a:lvl1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1pPr>
            <a:lvl2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2pPr>
            <a:lvl3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3pPr>
            <a:lvl4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4pPr>
            <a:lvl5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8928" y="2633472"/>
            <a:ext cx="5212080" cy="3566160"/>
          </a:xfrm>
        </p:spPr>
        <p:txBody>
          <a:bodyPr/>
          <a:lstStyle>
            <a:lvl1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1pPr>
            <a:lvl2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2pPr>
            <a:lvl3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3pPr>
            <a:lvl4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4pPr>
            <a:lvl5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9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5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5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9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0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3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97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25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12" r:id="rId5"/>
    <p:sldLayoutId id="2147484013" r:id="rId6"/>
    <p:sldLayoutId id="2147484019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130" baseline="0">
          <a:solidFill>
            <a:schemeClr val="tx1"/>
          </a:solidFill>
          <a:latin typeface="メイリオ" panose="020B0604030504040204" pitchFamily="34" charset="-128"/>
          <a:ea typeface="メイリオ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1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1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1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072B756-DCA1-308F-27A8-57C919FD8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1010091"/>
            <a:ext cx="7628663" cy="2682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4000" dirty="0">
                <a:solidFill>
                  <a:schemeClr val="tx1"/>
                </a:solidFill>
              </a:rPr>
              <a:t>LLM</a:t>
            </a:r>
            <a:r>
              <a:rPr kumimoji="1" lang="ja-JP" altLang="en-US" sz="4000">
                <a:solidFill>
                  <a:schemeClr val="tx1"/>
                </a:solidFill>
              </a:rPr>
              <a:t>による株式リターン予測とポートフォリオ最適化の検証</a:t>
            </a:r>
            <a:endParaRPr kumimoji="1" lang="en-US" altLang="ja-JP" sz="40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12">
            <a:extLst>
              <a:ext uri="{FF2B5EF4-FFF2-40B4-BE49-F238E27FC236}">
                <a16:creationId xmlns:a16="http://schemas.microsoft.com/office/drawing/2014/main" id="{84EE7F79-08E8-405E-9B6D-B1560F34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4996B3B9-B6E6-EB51-833D-AAF372262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016" y="0"/>
            <a:ext cx="1369984" cy="898351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3563D55-188B-3B5C-E67B-FF350828676B}"/>
              </a:ext>
            </a:extLst>
          </p:cNvPr>
          <p:cNvSpPr txBox="1"/>
          <p:nvPr/>
        </p:nvSpPr>
        <p:spPr>
          <a:xfrm>
            <a:off x="850231" y="5053263"/>
            <a:ext cx="5390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電気通信大学　情報理工学域</a:t>
            </a:r>
            <a:r>
              <a:rPr lang="en-US" altLang="ja-JP" dirty="0"/>
              <a:t>Ⅲ</a:t>
            </a:r>
            <a:r>
              <a:rPr lang="ja-JP" altLang="en-US"/>
              <a:t>類　小嶋一輝</a:t>
            </a:r>
            <a:endParaRPr lang="en-US" altLang="ja-JP" dirty="0"/>
          </a:p>
          <a:p>
            <a:r>
              <a:rPr kumimoji="1" lang="en-US" altLang="ja-JP" dirty="0"/>
              <a:t>2026</a:t>
            </a:r>
            <a:r>
              <a:rPr kumimoji="1" lang="ja-JP" altLang="en-US"/>
              <a:t>年</a:t>
            </a:r>
            <a:r>
              <a:rPr kumimoji="1" lang="en-US" altLang="ja-JP" dirty="0"/>
              <a:t>11</a:t>
            </a:r>
            <a:r>
              <a:rPr kumimoji="1" lang="ja-JP" altLang="en-US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17286206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この研究を一言で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AI は決算の文章を読める。でも、市場も同じ日に読んでいる</a:t>
            </a:r>
          </a:p>
        </p:txBody>
      </p:sp>
      <p:sp>
        <p:nvSpPr>
          <p:cNvPr id="4" name="問い"/>
          <p:cNvSpPr/>
          <p:nvPr/>
        </p:nvSpPr>
        <p:spPr>
          <a:xfrm>
            <a:off x="676656" y="178308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問い：</a:t>
            </a:r>
            <a:r>
              <a:rPr sz="18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ChatGPT のような AI（LLM）に株を選ばせたら、市場の平均より儲かるか？</a:t>
            </a:r>
          </a:p>
        </p:txBody>
      </p:sp>
      <p:sp>
        <p:nvSpPr>
          <p:cNvPr id="6" name="段階1"/>
          <p:cNvSpPr/>
          <p:nvPr/>
        </p:nvSpPr>
        <p:spPr>
          <a:xfrm>
            <a:off x="676656" y="2834640"/>
            <a:ext cx="3474720" cy="324612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" y="301752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301752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6" y="3017520"/>
            <a:ext cx="25146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数字だけを見せる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749039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過去 1 か月の値動きを見せて来月を予想させると、先月の動きをまねするだけ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52578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×  当たらない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8808" y="4453128"/>
            <a:ext cx="173736" cy="0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段階2"/>
          <p:cNvSpPr/>
          <p:nvPr/>
        </p:nvSpPr>
        <p:spPr>
          <a:xfrm>
            <a:off x="4379976" y="2834640"/>
            <a:ext cx="3474720" cy="324612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8576" y="301752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301752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3017520"/>
            <a:ext cx="25146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決算の文章を読ませる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749039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会社の成績発表の文章を読ませて採点させると、発表直後の株価の動きと合う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52578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○  読める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82128" y="4453128"/>
            <a:ext cx="173735" cy="0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段階3"/>
          <p:cNvSpPr/>
          <p:nvPr/>
        </p:nvSpPr>
        <p:spPr>
          <a:xfrm>
            <a:off x="8083296" y="2834640"/>
            <a:ext cx="3474720" cy="324612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11896" y="3017520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301752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3017520"/>
            <a:ext cx="25146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その情報で運用する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749039"/>
            <a:ext cx="29718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の点数でポートフォリオを約 10 年組んでも、市場の平均とほぼ同じ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52578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×  儲からない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背景：株をどう組み合わせるか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市場の平均的な見方から出発し、自分の予想に自信がある分だけずらす</a:t>
            </a:r>
          </a:p>
        </p:txBody>
      </p:sp>
      <p:sp>
        <p:nvSpPr>
          <p:cNvPr id="4" name="用語1"/>
          <p:cNvSpPr/>
          <p:nvPr/>
        </p:nvSpPr>
        <p:spPr>
          <a:xfrm>
            <a:off x="676656" y="1783080"/>
            <a:ext cx="4206240" cy="16916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ポートフォリオ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377440"/>
            <a:ext cx="374903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どの株に、どれだけの割合で投資するか。この研究の最終的な出力</a:t>
            </a:r>
          </a:p>
        </p:txBody>
      </p:sp>
      <p:sp>
        <p:nvSpPr>
          <p:cNvPr id="7" name="用語2"/>
          <p:cNvSpPr/>
          <p:nvPr/>
        </p:nvSpPr>
        <p:spPr>
          <a:xfrm>
            <a:off x="676656" y="3657600"/>
            <a:ext cx="4206240" cy="16916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37947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市場の平均（S&amp;P500）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4251960"/>
            <a:ext cx="3749039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米国の大企業約 500 社に、会社の大きさ（時価総額）に比例して投資したもの。プロの多くもこれに勝てない</a:t>
            </a:r>
          </a:p>
        </p:txBody>
      </p:sp>
      <p:sp>
        <p:nvSpPr>
          <p:cNvPr id="10" name="市場の比率"/>
          <p:cNvSpPr/>
          <p:nvPr/>
        </p:nvSpPr>
        <p:spPr>
          <a:xfrm>
            <a:off x="5257800" y="178308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78308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市場の比率</a:t>
            </a:r>
          </a:p>
          <a:p>
            <a:pPr algn="ctr"/>
            <a:r>
              <a:rPr sz="13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みんなの平均的な見方</a:t>
            </a:r>
          </a:p>
        </p:txBody>
      </p:sp>
      <p:sp>
        <p:nvSpPr>
          <p:cNvPr id="12" name="予想と自信"/>
          <p:cNvSpPr/>
          <p:nvPr/>
        </p:nvSpPr>
        <p:spPr>
          <a:xfrm>
            <a:off x="5257800" y="3063240"/>
            <a:ext cx="265176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3063240"/>
            <a:ext cx="265176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の予想</a:t>
            </a:r>
          </a:p>
          <a:p>
            <a:pPr algn="ctr"/>
            <a:r>
              <a:rPr sz="13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と、その自信の強さ</a:t>
            </a:r>
          </a:p>
        </p:txBody>
      </p:sp>
      <p:sp>
        <p:nvSpPr>
          <p:cNvPr id="14" name="BLM"/>
          <p:cNvSpPr/>
          <p:nvPr/>
        </p:nvSpPr>
        <p:spPr>
          <a:xfrm>
            <a:off x="8503920" y="2240280"/>
            <a:ext cx="3054096" cy="132588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240280"/>
            <a:ext cx="3054096" cy="1325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Black–Litterman</a:t>
            </a:r>
          </a:p>
          <a:p>
            <a:pPr algn="ctr"/>
            <a:r>
              <a:rPr sz="15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モデルで混ぜる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2267712"/>
            <a:ext cx="502921" cy="429768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955279" y="3108960"/>
            <a:ext cx="502921" cy="429768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新しい比率"/>
          <p:cNvSpPr/>
          <p:nvPr/>
        </p:nvSpPr>
        <p:spPr>
          <a:xfrm>
            <a:off x="8503920" y="4069080"/>
            <a:ext cx="305409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97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069080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新しい比率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30968" y="3593592"/>
            <a:ext cx="0" cy="448056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57800" y="420624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自信が弱い → 市場のまま</a:t>
            </a:r>
          </a:p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自信が強い → 予想どおりに動かす</a:t>
            </a:r>
          </a:p>
        </p:txBody>
      </p:sp>
      <p:sp>
        <p:nvSpPr>
          <p:cNvPr id="22" name="ベイズ"/>
          <p:cNvSpPr/>
          <p:nvPr/>
        </p:nvSpPr>
        <p:spPr>
          <a:xfrm>
            <a:off x="5257800" y="5212080"/>
            <a:ext cx="6300216" cy="86868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5212080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ベイズ推定でいうと：</a:t>
            </a:r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事前分布＝市場の見方、観測＝AI の予想、事後分布＝新しい見方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１．元の論文の方法を再現した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数字を見せて予想させると、AI は先月の値動きをまねするだけだった</a:t>
            </a:r>
          </a:p>
        </p:txBody>
      </p:sp>
      <p:sp>
        <p:nvSpPr>
          <p:cNvPr id="4" name="元の方法"/>
          <p:cNvSpPr/>
          <p:nvPr/>
        </p:nvSpPr>
        <p:spPr>
          <a:xfrm>
            <a:off x="676656" y="1783080"/>
            <a:ext cx="4572000" cy="43434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019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元の論文の方法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" y="2377440"/>
            <a:ext cx="411480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377440"/>
            <a:ext cx="384048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過去 1 か月の株価の動き（約 20 個の数字）と会社名を見せる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62656" y="3072384"/>
            <a:ext cx="0" cy="219456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05256" y="3310128"/>
            <a:ext cx="411480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3310128"/>
            <a:ext cx="384048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AI（gpt-4o-mini）が来月の値動きを 30 回答える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62656" y="4005072"/>
            <a:ext cx="0" cy="219456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" y="4242816"/>
            <a:ext cx="411480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4242816"/>
            <a:ext cx="384048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30 個の平均＝予想、ばらつき＝自信のなさ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62656" y="4937760"/>
            <a:ext cx="0" cy="219456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5256" y="5175504"/>
            <a:ext cx="411480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5175504"/>
            <a:ext cx="384048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Black–Litterman モデルで比率を決める</a:t>
            </a:r>
          </a:p>
        </p:txBody>
      </p:sp>
      <p:sp>
        <p:nvSpPr>
          <p:cNvPr id="17" name="問題1"/>
          <p:cNvSpPr/>
          <p:nvPr/>
        </p:nvSpPr>
        <p:spPr>
          <a:xfrm>
            <a:off x="5486400" y="1783080"/>
            <a:ext cx="6071616" cy="130759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783080"/>
            <a:ext cx="1828800" cy="130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0.89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783080"/>
            <a:ext cx="3749039" cy="130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の予想と「先月の値動き」の相関。ほぼそのまま写している</a:t>
            </a:r>
          </a:p>
        </p:txBody>
      </p:sp>
      <p:sp>
        <p:nvSpPr>
          <p:cNvPr id="20" name="問題2"/>
          <p:cNvSpPr/>
          <p:nvPr/>
        </p:nvSpPr>
        <p:spPr>
          <a:xfrm>
            <a:off x="5486400" y="3264408"/>
            <a:ext cx="6071616" cy="130759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264408"/>
            <a:ext cx="1828800" cy="130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ほぼ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264408"/>
            <a:ext cx="3749039" cy="130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先月の値動きで説明できない、AI ならではの当たり（相関 −0.004）</a:t>
            </a:r>
          </a:p>
        </p:txBody>
      </p:sp>
      <p:sp>
        <p:nvSpPr>
          <p:cNvPr id="23" name="問題3"/>
          <p:cNvSpPr/>
          <p:nvPr/>
        </p:nvSpPr>
        <p:spPr>
          <a:xfrm>
            <a:off x="5486400" y="4745736"/>
            <a:ext cx="6071616" cy="130759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745736"/>
            <a:ext cx="1828800" cy="130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99.9%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745736"/>
            <a:ext cx="3749039" cy="1307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自信が強すぎて、市場の見方をほぼ捨てて予想だけを信じていた</a:t>
            </a:r>
          </a:p>
        </p:txBody>
      </p:sp>
      <p:sp>
        <p:nvSpPr>
          <p:cNvPr id="26" name="注"/>
          <p:cNvSpPr txBox="1"/>
          <p:nvPr/>
        </p:nvSpPr>
        <p:spPr>
          <a:xfrm>
            <a:off x="676656" y="635508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S&amp;P500 の約 490 社 × 30 か月（2024-03〜2026-08）、AI の回答 44 万個。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２．問いを変えた：決算発表を読ませる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まず、AI の読み取りが発表直後の株価の動きと合うかを確かめる</a:t>
            </a:r>
          </a:p>
        </p:txBody>
      </p:sp>
      <p:sp>
        <p:nvSpPr>
          <p:cNvPr id="4" name="決算発表とは"/>
          <p:cNvSpPr/>
          <p:nvPr/>
        </p:nvSpPr>
        <p:spPr>
          <a:xfrm>
            <a:off x="676656" y="178308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決算発表とは：</a:t>
            </a:r>
            <a:r>
              <a:rPr sz="16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会社が 3 か月ごとに出す成績表。売上・利益と、今後の見通しが書いてある。出た直後に株価が大きく動く</a:t>
            </a:r>
          </a:p>
        </p:txBody>
      </p:sp>
      <p:sp>
        <p:nvSpPr>
          <p:cNvPr id="6" name="流れ1"/>
          <p:cNvSpPr/>
          <p:nvPr/>
        </p:nvSpPr>
        <p:spPr>
          <a:xfrm>
            <a:off x="676656" y="292608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044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47472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決算発表の文章（英語）。米国の大企業、2023 年 11 月〜 の 5,374 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4408" y="3858768"/>
            <a:ext cx="219455" cy="0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流れ2"/>
          <p:cNvSpPr/>
          <p:nvPr/>
        </p:nvSpPr>
        <p:spPr>
          <a:xfrm>
            <a:off x="3511296" y="292608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3044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47472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gpt-4o-mini。学習はさせず、質問するだけ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3858768"/>
            <a:ext cx="219456" cy="0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流れ3"/>
          <p:cNvSpPr/>
          <p:nvPr/>
        </p:nvSpPr>
        <p:spPr>
          <a:xfrm>
            <a:off x="6345936" y="292608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3044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出力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347472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見通し・語調・業績予想の上げ下げを −2〜+2 で採点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33688" y="3858768"/>
            <a:ext cx="219456" cy="0"/>
          </a:xfrm>
          <a:prstGeom prst="line">
            <a:avLst/>
          </a:prstGeom>
          <a:ln w="25400">
            <a:solidFill>
              <a:srgbClr val="5B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流れ4"/>
          <p:cNvSpPr/>
          <p:nvPr/>
        </p:nvSpPr>
        <p:spPr>
          <a:xfrm>
            <a:off x="9180576" y="2926080"/>
            <a:ext cx="2560320" cy="1874519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3044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比べるもの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347472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発表をはさむ 2 日間の株価の動き（同じ業種の株の平均との差）</a:t>
            </a:r>
          </a:p>
        </p:txBody>
      </p:sp>
      <p:sp>
        <p:nvSpPr>
          <p:cNvPr id="21" name="ズルをしない"/>
          <p:cNvSpPr/>
          <p:nvPr/>
        </p:nvSpPr>
        <p:spPr>
          <a:xfrm>
            <a:off x="676656" y="50749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424160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ズルをしない工夫（事前登録）：</a:t>
            </a:r>
            <a:r>
              <a:rPr sz="16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結果を見てから都合のよい分析を選べないよう、計画と解析プログラムを先に固定し、1 回だけ実行した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３．結果①：AI の点数で株価の動きが分かれる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点数の高い発表ほど、発表直後の株価が上がる</a:t>
            </a:r>
          </a:p>
        </p:txBody>
      </p:sp>
      <p:graphicFrame>
        <p:nvGraphicFramePr>
          <p:cNvPr id="4" name="5 グループのグラフ"/>
          <p:cNvGraphicFramePr>
            <a:graphicFrameLocks noGrp="1"/>
          </p:cNvGraphicFramePr>
          <p:nvPr/>
        </p:nvGraphicFramePr>
        <p:xfrm>
          <a:off x="676656" y="1691640"/>
          <a:ext cx="64922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差"/>
          <p:cNvSpPr/>
          <p:nvPr/>
        </p:nvSpPr>
        <p:spPr>
          <a:xfrm>
            <a:off x="7406640" y="1783080"/>
            <a:ext cx="4151376" cy="1874519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1874519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約 2.9%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606040"/>
            <a:ext cx="3749039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点数が最も高い 2 割と最も低い 2 割の、2 日間の株価の動きの差</a:t>
            </a:r>
          </a:p>
        </p:txBody>
      </p:sp>
      <p:sp>
        <p:nvSpPr>
          <p:cNvPr id="8" name="偶然ではない"/>
          <p:cNvSpPr/>
          <p:nvPr/>
        </p:nvSpPr>
        <p:spPr>
          <a:xfrm>
            <a:off x="7406640" y="3840480"/>
            <a:ext cx="4151376" cy="22860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393192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t = 9.4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63440"/>
            <a:ext cx="3749039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偶然では説明できない（目安：2 を超えれば偶然とは考えにくい）。売上・利益の数字、アナリストの予想、昔ながらの文章分析を考えに入れても残る</a:t>
            </a:r>
          </a:p>
        </p:txBody>
      </p:sp>
      <p:sp>
        <p:nvSpPr>
          <p:cNvPr id="11" name="注"/>
          <p:cNvSpPr txBox="1"/>
          <p:nvPr/>
        </p:nvSpPr>
        <p:spPr>
          <a:xfrm>
            <a:off x="676656" y="635508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米国の大企業（S&amp;P500）、2023-11〜2026-08 の決算発表 5,374 本。株価の動きは、同じ業種の株をまとめた指数との差。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３．結果②：答えを覚えていたのでは？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2015 年までの文章しか知らない AI でも、昔ながらの文章分析より読めた</a:t>
            </a:r>
          </a:p>
        </p:txBody>
      </p:sp>
      <p:sp>
        <p:nvSpPr>
          <p:cNvPr id="4" name="説明"/>
          <p:cNvSpPr/>
          <p:nvPr/>
        </p:nvSpPr>
        <p:spPr>
          <a:xfrm>
            <a:off x="676656" y="1783080"/>
            <a:ext cx="4343400" cy="43434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心配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331720"/>
            <a:ext cx="3886200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gpt-4o-mini は 2023 年までのネットの文章で学習している。昔の決算なら、その後の株価を知っているかもしれない（テストの答えを知っている受験生）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84048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確かめ方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4251960"/>
            <a:ext cx="3886200" cy="1783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ChronoGPT（2015 年末までの文章だけで学習した AI）に、2020〜2026 年の決算を読ませる。答えを知りようがない</a:t>
            </a:r>
          </a:p>
        </p:txBody>
      </p:sp>
      <p:graphicFrame>
        <p:nvGraphicFramePr>
          <p:cNvPr id="9" name="比較のグラフ"/>
          <p:cNvGraphicFramePr>
            <a:graphicFrameLocks noGrp="1"/>
          </p:cNvGraphicFramePr>
          <p:nvPr/>
        </p:nvGraphicFramePr>
        <p:xfrm>
          <a:off x="5257800" y="1691640"/>
          <a:ext cx="6309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注"/>
          <p:cNvSpPr txBox="1"/>
          <p:nvPr/>
        </p:nvSpPr>
        <p:spPr>
          <a:xfrm>
            <a:off x="676656" y="635508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2020-01〜2026-08 の決算発表 13,141 本。売上・利益などの数字の情報に足したとき、決定係数 R² が何ポイント増えたか。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３．結果③：でも儲からない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株価は発表の日に動き終わる。後から買っても間に合わない</a:t>
            </a:r>
          </a:p>
        </p:txBody>
      </p:sp>
      <p:graphicFrame>
        <p:nvGraphicFramePr>
          <p:cNvPr id="4" name="前後のグラフ"/>
          <p:cNvGraphicFramePr>
            <a:graphicFrameLocks noGrp="1"/>
          </p:cNvGraphicFramePr>
          <p:nvPr/>
        </p:nvGraphicFramePr>
        <p:xfrm>
          <a:off x="676656" y="1691640"/>
          <a:ext cx="6675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51760" y="21945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発表の日に動き終わり、あとは横ばい</a:t>
            </a:r>
          </a:p>
        </p:txBody>
      </p:sp>
      <p:sp>
        <p:nvSpPr>
          <p:cNvPr id="6" name="運用1"/>
          <p:cNvSpPr/>
          <p:nvPr/>
        </p:nvSpPr>
        <p:spPr>
          <a:xfrm>
            <a:off x="7589520" y="1783080"/>
            <a:ext cx="3968496" cy="130759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92807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毎月組み替えて約 10 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市場の平均とほぼ同じ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79191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年 +0.04%（手数料の後）</a:t>
            </a:r>
          </a:p>
        </p:txBody>
      </p:sp>
      <p:sp>
        <p:nvSpPr>
          <p:cNvPr id="10" name="運用2"/>
          <p:cNvSpPr/>
          <p:nvPr/>
        </p:nvSpPr>
        <p:spPr>
          <a:xfrm>
            <a:off x="7589520" y="3264408"/>
            <a:ext cx="3968496" cy="130759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37413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毎日組み替える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2160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手数料で負ける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年 −20%</a:t>
            </a:r>
          </a:p>
        </p:txBody>
      </p:sp>
      <p:sp>
        <p:nvSpPr>
          <p:cNvPr id="14" name="運用3"/>
          <p:cNvSpPr/>
          <p:nvPr/>
        </p:nvSpPr>
        <p:spPr>
          <a:xfrm>
            <a:off x="7589520" y="4745736"/>
            <a:ext cx="3968496" cy="1307592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8554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1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なぜ？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20293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大勢のプロと自動売買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6418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発表から数秒〜数時間で値段に反映される</a:t>
            </a:r>
          </a:p>
        </p:txBody>
      </p:sp>
      <p:sp>
        <p:nvSpPr>
          <p:cNvPr id="18" name="注"/>
          <p:cNvSpPr txBox="1"/>
          <p:nvPr/>
        </p:nvSpPr>
        <p:spPr>
          <a:xfrm>
            <a:off x="676656" y="635508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左：点数の上位・中位・下位 20% の発表（各約 1,075 本）。右：AI の点数で組んだポートフォリオの、市場の平均に対する成績。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４．ほかに試したこと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AI の中身の学習や読ませ方の工夫では、ほとんど良くならなかった</a:t>
            </a:r>
          </a:p>
        </p:txBody>
      </p:sp>
      <p:sp>
        <p:nvSpPr>
          <p:cNvPr id="4" name="試み1"/>
          <p:cNvSpPr/>
          <p:nvPr/>
        </p:nvSpPr>
        <p:spPr>
          <a:xfrm>
            <a:off x="676656" y="17830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9202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を株価で追加学習（LoRA）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37744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約 1.4 万本の発表で AI の中身を学習させたが、学習なしで内部の数値を使うほうが強かった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331927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×  弱くなった</a:t>
            </a:r>
          </a:p>
        </p:txBody>
      </p:sp>
      <p:sp>
        <p:nvSpPr>
          <p:cNvPr id="8" name="試み2"/>
          <p:cNvSpPr/>
          <p:nvPr/>
        </p:nvSpPr>
        <p:spPr>
          <a:xfrm>
            <a:off x="6208776" y="17830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9202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長い文章の読ませ方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37744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表や定型文の削除、末尾も読む、圧縮など 5 通り。開発用の期間で選び、最後に 1 回だけ比べた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331927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E0601F"/>
                </a:solidFill>
                <a:latin typeface="メイリオ"/>
                <a:ea typeface="メイリオ"/>
                <a:cs typeface="メイリオ"/>
              </a:rPr>
              <a:t>×  ほぼ変わらず</a:t>
            </a:r>
          </a:p>
        </p:txBody>
      </p:sp>
      <p:sp>
        <p:nvSpPr>
          <p:cNvPr id="12" name="試み3"/>
          <p:cNvSpPr/>
          <p:nvPr/>
        </p:nvSpPr>
        <p:spPr>
          <a:xfrm>
            <a:off x="676656" y="402336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41605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の途中の層を使う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61772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最後の層ではなく、途中の層の数値を使うと、説明力（決定係数の増分）が 0.49 → 0.80 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55955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△  有望（要検証）</a:t>
            </a:r>
          </a:p>
        </p:txBody>
      </p:sp>
      <p:sp>
        <p:nvSpPr>
          <p:cNvPr id="16" name="試み4"/>
          <p:cNvSpPr/>
          <p:nvPr/>
        </p:nvSpPr>
        <p:spPr>
          <a:xfrm>
            <a:off x="6208776" y="402336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416052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リスクの約束を守る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61772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「市場平均からのずれ」を年 3% に抑えるはずが実際は 4.8%。過去の実績で上限を補正すると 3.4% 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5559552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○  改善</a:t>
            </a:r>
          </a:p>
        </p:txBody>
      </p:sp>
      <p:sp>
        <p:nvSpPr>
          <p:cNvPr id="20" name="注"/>
          <p:cNvSpPr txBox="1"/>
          <p:nvPr/>
        </p:nvSpPr>
        <p:spPr>
          <a:xfrm>
            <a:off x="676656" y="635508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0" lang="ja-JP">
                <a:solidFill>
                  <a:srgbClr val="5B616B"/>
                </a:solidFill>
                <a:latin typeface="メイリオ"/>
                <a:ea typeface="メイリオ"/>
                <a:cs typeface="メイリオ"/>
              </a:rPr>
              <a:t>「途中の層」は事前に計画していなかった探索の結果なので、次の実験で改めて確かめる。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タイトル"/>
          <p:cNvSpPr txBox="1"/>
          <p:nvPr/>
        </p:nvSpPr>
        <p:spPr>
          <a:xfrm>
            <a:off x="493776" y="201168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800" b="1" lang="ja-JP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５．まとめと今後</a:t>
            </a:r>
          </a:p>
        </p:txBody>
      </p:sp>
      <p:sp>
        <p:nvSpPr>
          <p:cNvPr id="3" name="主張"/>
          <p:cNvSpPr txBox="1"/>
          <p:nvPr/>
        </p:nvSpPr>
        <p:spPr>
          <a:xfrm>
            <a:off x="676656" y="10515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AI の強みは「市場の読み違い」や「リスクの予測」の側にあるかもしれない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まとめ</a:t>
            </a:r>
          </a:p>
        </p:txBody>
      </p:sp>
      <p:sp>
        <p:nvSpPr>
          <p:cNvPr id="5" name="まとめ"/>
          <p:cNvSpPr/>
          <p:nvPr/>
        </p:nvSpPr>
        <p:spPr>
          <a:xfrm>
            <a:off x="676656" y="2240280"/>
            <a:ext cx="4754880" cy="32918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39" y="2569464"/>
            <a:ext cx="128016" cy="128016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2468880"/>
            <a:ext cx="405079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数字を見せて予想させても、AI は先月の値動きをまねするだけ</a:t>
            </a:r>
          </a:p>
        </p:txBody>
      </p:sp>
      <p:sp>
        <p:nvSpPr>
          <p:cNvPr id="8" name="Oval 7"/>
          <p:cNvSpPr/>
          <p:nvPr/>
        </p:nvSpPr>
        <p:spPr>
          <a:xfrm>
            <a:off x="1005839" y="3575304"/>
            <a:ext cx="128016" cy="128016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3474720"/>
            <a:ext cx="405079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AI は決算の文章を読める。答えを知らない AI でも、昔ながらの方法より読める</a:t>
            </a:r>
          </a:p>
        </p:txBody>
      </p:sp>
      <p:sp>
        <p:nvSpPr>
          <p:cNvPr id="10" name="Oval 9"/>
          <p:cNvSpPr/>
          <p:nvPr/>
        </p:nvSpPr>
        <p:spPr>
          <a:xfrm>
            <a:off x="1005839" y="4581144"/>
            <a:ext cx="128016" cy="128016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3584" y="4480560"/>
            <a:ext cx="4050791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でも株価は発表の日に動き終わるので、その情報では儲からない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7830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今後</a:t>
            </a:r>
          </a:p>
        </p:txBody>
      </p:sp>
      <p:sp>
        <p:nvSpPr>
          <p:cNvPr id="13" name="今後1"/>
          <p:cNvSpPr/>
          <p:nvPr/>
        </p:nvSpPr>
        <p:spPr>
          <a:xfrm>
            <a:off x="5669280" y="2240280"/>
            <a:ext cx="5888736" cy="10058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3872" y="2487168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3872" y="248716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市場が読み違えた発表を探す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文章は良いのに株価が下がった発表は、その後に戻るか</a:t>
            </a:r>
          </a:p>
        </p:txBody>
      </p:sp>
      <p:sp>
        <p:nvSpPr>
          <p:cNvPr id="18" name="今後2"/>
          <p:cNvSpPr/>
          <p:nvPr/>
        </p:nvSpPr>
        <p:spPr>
          <a:xfrm>
            <a:off x="5669280" y="3383280"/>
            <a:ext cx="5888736" cy="10058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33872" y="3630168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363016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74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値動きの大きさ（リスク）を当てる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86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上がる・下がるより、荒れるかどうかの方が長く続く</a:t>
            </a:r>
          </a:p>
        </p:txBody>
      </p:sp>
      <p:sp>
        <p:nvSpPr>
          <p:cNvPr id="23" name="今後3"/>
          <p:cNvSpPr/>
          <p:nvPr/>
        </p:nvSpPr>
        <p:spPr>
          <a:xfrm>
            <a:off x="5669280" y="4526280"/>
            <a:ext cx="5888736" cy="1005840"/>
          </a:xfrm>
          <a:prstGeom prst="roundRect">
            <a:avLst>
              <a:gd name="adj" fmla="val 6000"/>
            </a:avLst>
          </a:prstGeom>
          <a:solidFill>
            <a:srgbClr val="F5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3872" y="4773168"/>
            <a:ext cx="512064" cy="512064"/>
          </a:xfrm>
          <a:prstGeom prst="ellips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477316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lang="ja-JP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17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複数の AI の意見の割れを使う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029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意見が割れる株ほど、予想を信じすぎない</a:t>
            </a:r>
          </a:p>
        </p:txBody>
      </p:sp>
      <p:sp>
        <p:nvSpPr>
          <p:cNvPr id="28" name="学んだこと"/>
          <p:cNvSpPr/>
          <p:nvPr/>
        </p:nvSpPr>
        <p:spPr>
          <a:xfrm>
            <a:off x="676656" y="5715000"/>
            <a:ext cx="10881360" cy="54864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 lang="ja-JP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学んだこと：</a:t>
            </a:r>
            <a:r>
              <a:rPr sz="1500" b="0" lang="ja-JP">
                <a:solidFill>
                  <a:srgbClr val="0D1C3B"/>
                </a:solidFill>
                <a:latin typeface="メイリオ"/>
                <a:ea typeface="メイリオ"/>
                <a:cs typeface="メイリオ"/>
              </a:rPr>
              <a:t>結果を見てから分析を選ばない。単位や日付の小さなミスでも結論が変わる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</TotalTime>
  <Words>1300</Words>
  <Application>Microsoft Macintosh PowerPoint</Application>
  <PresentationFormat>ワイド画面</PresentationFormat>
  <Paragraphs>193</Paragraphs>
  <Slides>12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メイリオ</vt:lpstr>
      <vt:lpstr>游ゴシック</vt:lpstr>
      <vt:lpstr>Arial</vt:lpstr>
      <vt:lpstr>Calibri</vt:lpstr>
      <vt:lpstr>Courier New</vt:lpstr>
      <vt:lpstr>DashVTI</vt:lpstr>
      <vt:lpstr>LLMによる株式リターン予測とポートフォリオ最適化の検証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k2313080</dc:creator>
  <cp:lastModifiedBy>k2313080</cp:lastModifiedBy>
  <cp:revision>17</cp:revision>
  <dcterms:created xsi:type="dcterms:W3CDTF">2026-10-11T07:13:42Z</dcterms:created>
  <dcterms:modified xsi:type="dcterms:W3CDTF">2026-10-13T03:14:05Z</dcterms:modified>
</cp:coreProperties>
</file>