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4" r:id="rId1"/>
  </p:sldMasterIdLst>
  <p:notesMasterIdLst>
    <p:notesMasterId r:id="rId14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7"/>
    <p:sldId id="264" r:id="rId6"/>
    <p:sldId id="265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4554"/>
  </p:normalViewPr>
  <p:slideViewPr>
    <p:cSldViewPr snapToGrid="0">
      <p:cViewPr varScale="1">
        <p:scale>
          <a:sx n="98" d="100"/>
          <a:sy n="98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LLM の点数の係数（1 標準偏差あたり、bp）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dPt>
            <c:idx val="0"/>
            <c:spPr>
              <a:solidFill>
                <a:srgbClr val="1973EB"/>
              </a:solidFill>
              <a:ln>
                <a:noFill/>
              </a:ln>
            </c:spPr>
          </c:dPt>
          <c:dPt>
            <c:idx val="1"/>
            <c:spPr>
              <a:solidFill>
                <a:srgbClr val="1973EB"/>
              </a:solidFill>
              <a:ln>
                <a:noFill/>
              </a:ln>
            </c:spPr>
          </c:dPt>
          <c:dPt>
            <c:idx val="2"/>
            <c:spPr>
              <a:solidFill>
                <a:srgbClr val="1973EB"/>
              </a:solidFill>
              <a:ln>
                <a:noFill/>
              </a:ln>
            </c:spPr>
          </c:dPt>
          <c:dPt>
            <c:idx val="3"/>
            <c:spPr>
              <a:solidFill>
                <a:srgbClr val="1973EB"/>
              </a:solidFill>
              <a:ln>
                <a:noFill/>
              </a:ln>
            </c:spPr>
          </c:dPt>
          <c:dPt>
            <c:idx val="4"/>
            <c:spPr>
              <a:solidFill>
                <a:srgbClr val="1973EB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基本の統制</c:v>
                </c:pt>
                <c:pt idx="1">
                  <c:v>＋アナリスト予想</c:v>
                </c:pt>
                <c:pt idx="2">
                  <c:v>＋FinBERT（追加学習）</c:v>
                </c:pt>
                <c:pt idx="3">
                  <c:v>＋ChronoGPT（埋め込み）</c:v>
                </c:pt>
                <c:pt idx="4">
                  <c:v>＋ChronoGPT（LoRA）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116</c:v>
                </c:pt>
                <c:pt idx="2">
                  <c:v>102</c:v>
                </c:pt>
                <c:pt idx="3">
                  <c:v>112</c:v>
                </c:pt>
                <c:pt idx="4">
                  <c:v>117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反応の説明力（R² の増分、ポイント）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dPt>
            <c:idx val="0"/>
            <c:spPr>
              <a:solidFill>
                <a:srgbClr val="1973EB"/>
              </a:solidFill>
              <a:ln>
                <a:noFill/>
              </a:ln>
            </c:spPr>
          </c:dPt>
          <c:dPt>
            <c:idx val="1"/>
            <c:spPr>
              <a:solidFill>
                <a:srgbClr val="5B616B"/>
              </a:solidFill>
              <a:ln>
                <a:noFill/>
              </a:ln>
            </c:spPr>
          </c:dPt>
          <c:dPt>
            <c:idx val="2"/>
            <c:spPr>
              <a:solidFill>
                <a:srgbClr val="5B616B"/>
              </a:solidFill>
              <a:ln>
                <a:noFill/>
              </a:ln>
            </c:spPr>
          </c:dPt>
          <c:dPt>
            <c:idx val="3"/>
            <c:spPr>
              <a:solidFill>
                <a:srgbClr val="5B616B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gpt-4o-mini（学習なし）</c:v>
                </c:pt>
                <c:pt idx="1">
                  <c:v>FinBERT（反応で追加学習）</c:v>
                </c:pt>
                <c:pt idx="2">
                  <c:v>ChronoGPT＋リッジ</c:v>
                </c:pt>
                <c:pt idx="3">
                  <c:v>ChronoGPT＋LoRA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2.01</c:v>
                </c:pt>
                <c:pt idx="1">
                  <c:v>0.84</c:v>
                </c:pt>
                <c:pt idx="2">
                  <c:v>0.31</c:v>
                </c:pt>
                <c:pt idx="3">
                  <c:v>0.13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反応の説明力（R² の増分、ポイント）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dPt>
            <c:idx val="0"/>
            <c:spPr>
              <a:solidFill>
                <a:srgbClr val="C9CED6"/>
              </a:solidFill>
              <a:ln>
                <a:noFill/>
              </a:ln>
            </c:spPr>
          </c:dPt>
          <c:dPt>
            <c:idx val="1"/>
            <c:spPr>
              <a:solidFill>
                <a:srgbClr val="C9CED6"/>
              </a:solidFill>
              <a:ln>
                <a:noFill/>
              </a:ln>
            </c:spPr>
          </c:dPt>
          <c:dPt>
            <c:idx val="2"/>
            <c:spPr>
              <a:solidFill>
                <a:srgbClr val="C9CED6"/>
              </a:solidFill>
              <a:ln>
                <a:noFill/>
              </a:ln>
            </c:spPr>
          </c:dPt>
          <c:dPt>
            <c:idx val="3"/>
            <c:spPr>
              <a:solidFill>
                <a:srgbClr val="5B616B"/>
              </a:solidFill>
              <a:ln>
                <a:noFill/>
              </a:ln>
            </c:spPr>
          </c:dPt>
          <c:dPt>
            <c:idx val="4"/>
            <c:spPr>
              <a:solidFill>
                <a:srgbClr val="1973EB"/>
              </a:solidFill>
              <a:ln>
                <a:noFill/>
              </a:ln>
            </c:spPr>
          </c:dPt>
          <c:dPt>
            <c:idx val="5"/>
            <c:spPr>
              <a:solidFill>
                <a:srgbClr val="5B616B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辞書</c:v>
                </c:pt>
                <c:pt idx="1">
                  <c:v>FinBERT（学習なし）</c:v>
                </c:pt>
                <c:pt idx="2">
                  <c:v>TF-IDF＋リッジ</c:v>
                </c:pt>
                <c:pt idx="3">
                  <c:v>従来の NLP 3 つ</c:v>
                </c:pt>
                <c:pt idx="4">
                  <c:v>ChronoGPT（版 2015）</c:v>
                </c:pt>
                <c:pt idx="5">
                  <c:v>BERT（反応で追加学習）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</c:v>
                </c:pt>
                <c:pt idx="1">
                  <c:v>0.24</c:v>
                </c:pt>
                <c:pt idx="2">
                  <c:v>0.37</c:v>
                </c:pt>
                <c:pt idx="3">
                  <c:v>0.51</c:v>
                </c:pt>
                <c:pt idx="4">
                  <c:v>0.59</c:v>
                </c:pt>
                <c:pt idx="5">
                  <c:v>1.01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点数 1 標準偏差あたりの超過リターン（bp）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dPt>
            <c:idx val="0"/>
            <c:spPr>
              <a:solidFill>
                <a:srgbClr val="1973EB"/>
              </a:solidFill>
              <a:ln>
                <a:noFill/>
              </a:ln>
            </c:spPr>
          </c:dPt>
          <c:dPt>
            <c:idx val="1"/>
            <c:spPr>
              <a:solidFill>
                <a:srgbClr val="C9CED6"/>
              </a:solidFill>
              <a:ln>
                <a:noFill/>
              </a:ln>
            </c:spPr>
          </c:dPt>
          <c:dPt>
            <c:idx val="2"/>
            <c:spPr>
              <a:solidFill>
                <a:srgbClr val="C9CED6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発表の 2 日
（t 9.4）</c:v>
                </c:pt>
                <c:pt idx="1">
                  <c:v>翌日 day 1
（t 0.9）</c:v>
                </c:pt>
                <c:pt idx="2">
                  <c:v>day 2〜21
（t 0.8）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3.6</c:v>
                </c:pt>
                <c:pt idx="2">
                  <c:v>10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4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実現のトラッキングエラー（年率 %、約束は 3%）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dPt>
            <c:idx val="0"/>
            <c:spPr>
              <a:solidFill>
                <a:srgbClr val="C9CED6"/>
              </a:solidFill>
              <a:ln>
                <a:noFill/>
              </a:ln>
            </c:spPr>
          </c:dPt>
          <c:dPt>
            <c:idx val="1"/>
            <c:spPr>
              <a:solidFill>
                <a:srgbClr val="C9CED6"/>
              </a:solidFill>
              <a:ln>
                <a:noFill/>
              </a:ln>
            </c:spPr>
          </c:dPt>
          <c:dPt>
            <c:idx val="2"/>
            <c:spPr>
              <a:solidFill>
                <a:srgbClr val="1973EB"/>
              </a:solidFill>
              <a:ln>
                <a:noFill/>
              </a:ln>
            </c:spPr>
          </c:dPt>
          <c:dPt>
            <c:idx val="3"/>
            <c:spPr>
              <a:solidFill>
                <a:srgbClr val="1973EB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Ledoit-Wolf
252 日</c:v>
                </c:pt>
                <c:pt idx="1">
                  <c:v>EWMA
126 日</c:v>
                </c:pt>
                <c:pt idx="2">
                  <c:v>Ledoit-Wolf
＋校正</c:v>
                </c:pt>
                <c:pt idx="3">
                  <c:v>EWMA
＋校正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4.79</c:v>
                </c:pt>
                <c:pt idx="1">
                  <c:v>4.44</c:v>
                </c:pt>
                <c:pt idx="2">
                  <c:v>3.38</c:v>
                </c:pt>
                <c:pt idx="3">
                  <c:v>3.28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D3A03-8659-4152-9B8F-7B0DD20BC6B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DB54F-0B18-4EE3-9F53-46B6494808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44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に株式の見通しを出させて、Black-Litterman モデルでポートフォリオを組む研究の中間発表です。前回は、元論文の方法を再現して問題点を見つけたところまででした。今回は、問いを立て直して行った実験の結果と、そこから分かったことを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結論から言います。LLM は決算発表文を読めます。点数が 1 標準偏差高い発表ほど、発表をはさむ 2 日間の株価が1.2% 高い。2015 年までの文章しか知らない LLM でも、従来の文章分析を超えました。ところが、その点数でポートフォリオを組むと、約 10 年で時価総額加重とほぼ同じでした。読めた情報は、発表の当日に株価に入りきっていたからです。下の 4 つが、前回からやったことです。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前回までの内容の確認です。元論文は、1 か月の日次リターンを LLM に渡して翌月のリターンを 30 回答えさせ、その平均と分散を BLM に入れます。再現すると 3 つの問題がありました。予想は入力の月の平均リターンと相関 0.89 で、値動きをなぞっているだけ。分散が小さすぎて、BLM は予想を 99.9% 採用してしまう。そして入力で説明できない部分の予測力は IC でマイナス 0.004 で、ほぼゼロでした。数字を渡して数字を答えさせる限り、LLM の強みは出ません。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そこで問いを変えました。いきなり翌月を当てるのではなく、まず、LLM が決算発表文を読んだ点数が、発表への株価の反応を説明するかを確かめます。反応すら説明できないなら、翌月を当てられるはずがないからです。入力は SEC に提出された決算発表文、LLM は学習させずに質問するだけ、出力はガイダンス・見通し・語調の点数です。目的変数は、発表をはさむ2 取引日の、同じ業種の ETF に対する超過リターンです。結果を見てから分析を選べないよう、株価を計算する前に計画とコードを固定して、1 回だけ実行しました。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結果です。左のグラフは、LLM の点数の係数です。数値の驚きや従来の文章分析を統制しても 1 標準偏差あたり 120bp、アナリスト予想との差を足しても 116bp、反応を正解にして学習させた FinBERT を足しても 102bp 残りました。右は、モデルごとの説明力です。学習なしの gpt-4o-mini が、反応で学習させたどのモデルよりも強い。ChronoGPT を LoRA で中まで学習させても、線形のリッジより弱かった、というのも面白い点です。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ただ、gpt-4o-mini には「答えを覚えているのでは」という疑いが残ります。2023 年 10 月までの文章で学習しているので、それより前の決算については、その後の株価も読んでいるかもしれない。そこで、年末ごとに版が分かれている ChronoGPT を使いました。版 2015 は 2015 年末までの文章しか知りません。それでも、2020 年から 2026 年の決算で、辞書・FinBERT・TF-IDF の 3 つを合わせたものより強かった。期間の切り方を 3 通り変えても同じでした。反応で学習させた BERT には届きませんが、10 年前の言葉しか知らないモデルとしては十分です。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では、これで儲かるか。左のグラフのとおり、反応のほとんどは発表の当日に出ていて、翌日には 3.6bp、その後 1 か月でも10bp しか残っていません。どちらも有意ではありません。実際に BLM に入れても、月次で 31 か月は +0.10%、先読みのないモデルで約 10 年回すとほぼゼロ、毎日組み替えると費用で年マイナス 20% でした。LLM が読めることは、市場も発表の当日に読んでいる、ということです。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BLM の側の改善も 1 つ紹介します。指数からのずれ、トラッキングエラーを 3% に抑えるよう最適化しても、実際には 4.8% になっていました。最適化は、リスクが小さく見える方向を選ぶので、リスクを過小に見積もるからです。共分散の窓を変えても直らず、過去 36 か月の「実現÷予測」の比で上限を割る簡単な校正で、3.4% まで近づきました。右の 3 つは、効かなかった補足実験です。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決算発表文は長く、ChronoGPT は先頭の約 7,000 字しか読めません。そこで読ませ方とまとめ方を 5 通り直しました。表や定型文を除く、末尾も読む、セクターへのまとめ方、埋め込みの取り方、圧縮です。都合のよい修正を選ばないよう、2019 年までの開発の期間で機械的な規則で選び、2020 年以降で 1 回だけ比べました。結果は、ほとんど残りませんでした。ただ、探索として、ChronoGPT の中間の層を使うと説明力が大きく上がったので、次に確かめる候補です。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まとめです。数字を渡して数字を答えさせると、LLM は値動きをなぞるだけでした。決算発表文の読み取りは本物で、先読みのない LLM でも従来の手法を超えます。ただ、その情報は発表の当日に株価に入りきり、運用では儲かりませんでした。今後は、市場が読み違えたかもしれない「文章と株価が食い違った発表」、リターンではなくリスクを当てること、そしてモデルどうしの意見の割れを BLM の不確かさに使うこと、の順に確かめる予定です。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8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7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メイリオ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633472"/>
            <a:ext cx="5212080" cy="3566160"/>
          </a:xfrm>
        </p:spPr>
        <p:txBody>
          <a:bodyPr/>
          <a:lstStyle>
            <a:lvl1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1pPr>
            <a:lvl2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2pPr>
            <a:lvl3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3pPr>
            <a:lvl4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4pPr>
            <a:lvl5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8928" y="2633472"/>
            <a:ext cx="5212080" cy="3566160"/>
          </a:xfrm>
        </p:spPr>
        <p:txBody>
          <a:bodyPr/>
          <a:lstStyle>
            <a:lvl1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1pPr>
            <a:lvl2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2pPr>
            <a:lvl3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3pPr>
            <a:lvl4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4pPr>
            <a:lvl5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9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5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5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9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0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3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97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25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12" r:id="rId5"/>
    <p:sldLayoutId id="2147484013" r:id="rId6"/>
    <p:sldLayoutId id="2147484019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130" baseline="0">
          <a:solidFill>
            <a:schemeClr val="tx1"/>
          </a:solidFill>
          <a:latin typeface="メイリオ" panose="020B0604030504040204" pitchFamily="34" charset="-128"/>
          <a:ea typeface="メイリオ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1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1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1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072B756-DCA1-308F-27A8-57C919FD8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1010091"/>
            <a:ext cx="7628663" cy="2682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4000" dirty="0">
                <a:solidFill>
                  <a:schemeClr val="tx1"/>
                </a:solidFill>
              </a:rPr>
              <a:t>LLM</a:t>
            </a:r>
            <a:r>
              <a:rPr kumimoji="1" lang="ja-JP" altLang="en-US" sz="4000">
                <a:solidFill>
                  <a:schemeClr val="tx1"/>
                </a:solidFill>
              </a:rPr>
              <a:t>による株式リターン予測とポートフォリオ最適化の検証</a:t>
            </a:r>
            <a:endParaRPr kumimoji="1" lang="en-US" altLang="ja-JP" sz="40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12">
            <a:extLst>
              <a:ext uri="{FF2B5EF4-FFF2-40B4-BE49-F238E27FC236}">
                <a16:creationId xmlns:a16="http://schemas.microsoft.com/office/drawing/2014/main" id="{84EE7F79-08E8-405E-9B6D-B1560F34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4996B3B9-B6E6-EB51-833D-AAF372262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016" y="0"/>
            <a:ext cx="1369984" cy="898351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3563D55-188B-3B5C-E67B-FF350828676B}"/>
              </a:ext>
            </a:extLst>
          </p:cNvPr>
          <p:cNvSpPr txBox="1"/>
          <p:nvPr/>
        </p:nvSpPr>
        <p:spPr>
          <a:xfrm>
            <a:off x="850231" y="5053263"/>
            <a:ext cx="539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電気通信大学　情報理工学域</a:t>
            </a:r>
            <a:r>
              <a:rPr lang="en-US" altLang="ja-JP" dirty="0"/>
              <a:t>Ⅲ</a:t>
            </a:r>
            <a:r>
              <a:rPr lang="ja-JP" altLang="en-US"/>
              <a:t>類　小嶋一輝</a:t>
            </a:r>
            <a:endParaRPr lang="en-US" altLang="ja-JP" dirty="0"/>
          </a:p>
          <a:p>
            <a:r>
              <a:rPr kumimoji="1" lang="en-US" altLang="ja-JP" dirty="0"/>
              <a:t>2026</a:t>
            </a:r>
            <a:r>
              <a:rPr kumimoji="1" lang="ja-JP" altLang="en-US"/>
              <a:t>年</a:t>
            </a:r>
            <a:r>
              <a:rPr kumimoji="1" lang="en-US" altLang="ja-JP" dirty="0"/>
              <a:t>11</a:t>
            </a:r>
            <a:r>
              <a:rPr kumimoji="1" lang="ja-JP" altLang="en-US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17286206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概要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LLM は決算発表文を読めるが、読めた情報は発表の当日に株価に入りきる</a:t>
            </a:r>
          </a:p>
        </p:txBody>
      </p:sp>
      <p:sp>
        <p:nvSpPr>
          <p:cNvPr id="4" name="結果1"/>
          <p:cNvSpPr/>
          <p:nvPr/>
        </p:nvSpPr>
        <p:spPr>
          <a:xfrm>
            <a:off x="676656" y="17830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+1.2%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60604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LLM の点数が 1 標準偏差高い決算発表ほど、発表をはさむ 2 日間の株価が高い（t 9.4）</a:t>
            </a:r>
          </a:p>
        </p:txBody>
      </p:sp>
      <p:sp>
        <p:nvSpPr>
          <p:cNvPr id="7" name="結果2"/>
          <p:cNvSpPr/>
          <p:nvPr/>
        </p:nvSpPr>
        <p:spPr>
          <a:xfrm>
            <a:off x="4379976" y="17830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202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+0.34%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60604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2015 年までの文章しか知らない LLM でも、従来の文章分析を超えて説明する（t 4.8）</a:t>
            </a:r>
          </a:p>
        </p:txBody>
      </p:sp>
      <p:sp>
        <p:nvSpPr>
          <p:cNvPr id="10" name="結果3"/>
          <p:cNvSpPr/>
          <p:nvPr/>
        </p:nvSpPr>
        <p:spPr>
          <a:xfrm>
            <a:off x="8083296" y="17830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19202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+0.003%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260604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その点数で組んだ月次の BLM の、時価総額に対する超過リターン（月、約 10 年、費用の後）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977639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実施内容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526279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43484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元論文（LLM の数値予想を BLM のビューにする方法）を再現し、問題点を数字で確かめた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56047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864607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問いを「LLM は決算発表文から、株価が動く材料を読めるか」に立て直した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85815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5294375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計画と評価のコードを先に固定する事前登録をして、9 つの実験を 1 回ずつ行った（実験 2〜5・7〜11）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815583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724144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読めた情報で運用できるかを、月次・日次の BLM で確かめた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１．既存手法の再現と問題点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元論文の方法では、LLM は直近の値動きをなぞるだけだった</a:t>
            </a:r>
          </a:p>
        </p:txBody>
      </p:sp>
      <p:sp>
        <p:nvSpPr>
          <p:cNvPr id="4" name="既存手法"/>
          <p:cNvSpPr/>
          <p:nvPr/>
        </p:nvSpPr>
        <p:spPr>
          <a:xfrm>
            <a:off x="676656" y="1783080"/>
            <a:ext cx="4480560" cy="438912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019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既存手法の流れ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2377440"/>
            <a:ext cx="40233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377440"/>
            <a:ext cx="37490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入力：1 か月の日次リターン（約 20 個）と社名・業種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16936" y="3054096"/>
            <a:ext cx="0" cy="246888"/>
          </a:xfrm>
          <a:prstGeom prst="line">
            <a:avLst/>
          </a:prstGeom>
          <a:ln w="22225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05256" y="3319272"/>
            <a:ext cx="40233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3319272"/>
            <a:ext cx="37490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gpt-4o-mini に翌月の平均リターンを 30 回答えさせる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16936" y="3995928"/>
            <a:ext cx="0" cy="246888"/>
          </a:xfrm>
          <a:prstGeom prst="line">
            <a:avLst/>
          </a:prstGeom>
          <a:ln w="22225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" y="4261104"/>
            <a:ext cx="40233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4261104"/>
            <a:ext cx="37490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平均 → 見通し Q、ばらつき → 不確かさ 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16936" y="4937760"/>
            <a:ext cx="0" cy="246888"/>
          </a:xfrm>
          <a:prstGeom prst="line">
            <a:avLst/>
          </a:prstGeom>
          <a:ln w="22225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" y="5202936"/>
            <a:ext cx="40233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202936"/>
            <a:ext cx="37490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Black-Litterman ＋ 最適化 → 投資比率</a:t>
            </a:r>
          </a:p>
        </p:txBody>
      </p:sp>
      <p:sp>
        <p:nvSpPr>
          <p:cNvPr id="17" name="問題1"/>
          <p:cNvSpPr/>
          <p:nvPr/>
        </p:nvSpPr>
        <p:spPr>
          <a:xfrm>
            <a:off x="5394960" y="1783080"/>
            <a:ext cx="61630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783080"/>
            <a:ext cx="2011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0.89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783080"/>
            <a:ext cx="3749039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予想と、入力した月の平均リターンの相関。LLM は渡した値動きをなぞっている</a:t>
            </a:r>
          </a:p>
        </p:txBody>
      </p:sp>
      <p:sp>
        <p:nvSpPr>
          <p:cNvPr id="20" name="問題2"/>
          <p:cNvSpPr/>
          <p:nvPr/>
        </p:nvSpPr>
        <p:spPr>
          <a:xfrm>
            <a:off x="5394960" y="3291839"/>
            <a:ext cx="61630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291839"/>
            <a:ext cx="2011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99.9%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91839"/>
            <a:ext cx="3749039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BLM が LLM の予想を採用した割合。回答のばらつきが小さすぎて、市場の均衡がほぼ使われない</a:t>
            </a:r>
          </a:p>
        </p:txBody>
      </p:sp>
      <p:sp>
        <p:nvSpPr>
          <p:cNvPr id="23" name="問題3"/>
          <p:cNvSpPr/>
          <p:nvPr/>
        </p:nvSpPr>
        <p:spPr>
          <a:xfrm>
            <a:off x="5394960" y="4800600"/>
            <a:ext cx="61630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4800600"/>
            <a:ext cx="201168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−0.004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800600"/>
            <a:ext cx="3749039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入力で説明できない LLM 固有の予測力（IC）。95% 区間の上限でも 0.027</a:t>
            </a:r>
          </a:p>
        </p:txBody>
      </p:sp>
      <p:sp>
        <p:nvSpPr>
          <p:cNvPr id="26" name="注"/>
          <p:cNvSpPr txBox="1"/>
          <p:nvPr/>
        </p:nvSpPr>
        <p:spPr>
          <a:xfrm>
            <a:off x="676656" y="632764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gpt-4o-mini、S&amp;P500 の構成銘柄、2024-03〜2026-08 の 30 か月（14,688 件、44 万個の回答）。元の最適化（SLSQP）は途中で止まっていた。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２．問いの立て直し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翌月を当てる前に、LLM の読み取りが株価の反応を説明するかを確かめる</a:t>
            </a:r>
          </a:p>
        </p:txBody>
      </p:sp>
      <p:sp>
        <p:nvSpPr>
          <p:cNvPr id="4" name="流れ1"/>
          <p:cNvSpPr/>
          <p:nvPr/>
        </p:nvSpPr>
        <p:spPr>
          <a:xfrm>
            <a:off x="676656" y="178308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317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決算発表文（SEC 8-K の EX-99.1）の先頭 15,000 字。S&amp;P500、5,374 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64408" y="2670048"/>
            <a:ext cx="219455" cy="0"/>
          </a:xfrm>
          <a:prstGeom prst="line">
            <a:avLst/>
          </a:prstGeom>
          <a:ln w="22225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流れ2"/>
          <p:cNvSpPr/>
          <p:nvPr/>
        </p:nvSpPr>
        <p:spPr>
          <a:xfrm>
            <a:off x="3511296" y="178308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23317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gpt-4o-mini（温度 0）。学習はさせず、質問するだけ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2670048"/>
            <a:ext cx="219456" cy="0"/>
          </a:xfrm>
          <a:prstGeom prst="line">
            <a:avLst/>
          </a:prstGeom>
          <a:ln w="22225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流れ3"/>
          <p:cNvSpPr/>
          <p:nvPr/>
        </p:nvSpPr>
        <p:spPr>
          <a:xfrm>
            <a:off x="6345936" y="178308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出力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317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ガイダンス・見通し・語調を −2〜+2 で。3 つの和を点数にする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33688" y="2670048"/>
            <a:ext cx="219456" cy="0"/>
          </a:xfrm>
          <a:prstGeom prst="line">
            <a:avLst/>
          </a:prstGeom>
          <a:ln w="22225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流れ4"/>
          <p:cNvSpPr/>
          <p:nvPr/>
        </p:nvSpPr>
        <p:spPr>
          <a:xfrm>
            <a:off x="9180576" y="1783080"/>
            <a:ext cx="2560320" cy="17830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456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評価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6" y="233172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発表をはさむ 2 取引日の超過リターンを、回帰で説明できるか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840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発表の前後の時間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983480"/>
            <a:ext cx="10607040" cy="0"/>
          </a:xfrm>
          <a:prstGeom prst="line">
            <a:avLst/>
          </a:prstGeom>
          <a:ln>
            <a:solidFill>
              <a:srgbClr val="5B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反応の窓"/>
          <p:cNvSpPr/>
          <p:nvPr/>
        </p:nvSpPr>
        <p:spPr>
          <a:xfrm>
            <a:off x="1097280" y="45262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反応（2 取引日）</a:t>
            </a:r>
          </a:p>
        </p:txBody>
      </p:sp>
      <p:sp>
        <p:nvSpPr>
          <p:cNvPr id="23" name="ドリフトの窓"/>
          <p:cNvSpPr/>
          <p:nvPr/>
        </p:nvSpPr>
        <p:spPr>
          <a:xfrm>
            <a:off x="4846320" y="4526280"/>
            <a:ext cx="4846320" cy="457200"/>
          </a:xfrm>
          <a:prstGeom prst="roundRect">
            <a:avLst>
              <a:gd name="adj" fmla="val 1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526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発表の後のドリフト（day 2〜21）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4910328"/>
            <a:ext cx="0" cy="164592"/>
          </a:xfrm>
          <a:prstGeom prst="line">
            <a:avLst/>
          </a:prstGeom>
          <a:ln>
            <a:solidFill>
              <a:srgbClr val="5B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59" y="50932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前日の終値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08960" y="4910328"/>
            <a:ext cx="0" cy="164592"/>
          </a:xfrm>
          <a:prstGeom prst="line">
            <a:avLst/>
          </a:prstGeom>
          <a:ln>
            <a:solidFill>
              <a:srgbClr val="5B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77439" y="50932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day 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0" y="4910328"/>
            <a:ext cx="0" cy="164592"/>
          </a:xfrm>
          <a:prstGeom prst="line">
            <a:avLst/>
          </a:prstGeom>
          <a:ln>
            <a:solidFill>
              <a:srgbClr val="5B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23360" y="50932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day 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92640" y="4910328"/>
            <a:ext cx="0" cy="164592"/>
          </a:xfrm>
          <a:prstGeom prst="line">
            <a:avLst/>
          </a:prstGeom>
          <a:ln>
            <a:solidFill>
              <a:srgbClr val="5B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961119" y="50932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day 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160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▼ 決算発表（寄り前・引け後）</a:t>
            </a:r>
          </a:p>
        </p:txBody>
      </p:sp>
      <p:sp>
        <p:nvSpPr>
          <p:cNvPr id="34" name="事前登録"/>
          <p:cNvSpPr/>
          <p:nvPr/>
        </p:nvSpPr>
        <p:spPr>
          <a:xfrm>
            <a:off x="676656" y="5577840"/>
            <a:ext cx="10881360" cy="54864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577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事前登録：</a:t>
            </a:r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株価の反応を一度も計算する前に、計画と評価のコードを固定して 1 回だけ実行した（実験 2〜5・7〜11）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３．結果①：LLM は決算発表文を読める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驚き・アナリスト予想・学習したモデルを統制しても LLM の点数は残る</a:t>
            </a:r>
          </a:p>
        </p:txBody>
      </p:sp>
      <p:graphicFrame>
        <p:nvGraphicFramePr>
          <p:cNvPr id="4" name="係数のグラフ"/>
          <p:cNvGraphicFramePr>
            <a:graphicFrameLocks noGrp="1"/>
          </p:cNvGraphicFramePr>
          <p:nvPr/>
        </p:nvGraphicFramePr>
        <p:xfrm>
          <a:off x="676656" y="1737360"/>
          <a:ext cx="54864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説明力のグラフ"/>
          <p:cNvGraphicFramePr>
            <a:graphicFrameLocks noGrp="1"/>
          </p:cNvGraphicFramePr>
          <p:nvPr/>
        </p:nvGraphicFramePr>
        <p:xfrm>
          <a:off x="6355080" y="1737360"/>
          <a:ext cx="521208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注"/>
          <p:cNvSpPr txBox="1"/>
          <p:nvPr/>
        </p:nvSpPr>
        <p:spPr>
          <a:xfrm>
            <a:off x="676656" y="632764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標本：2023-11〜2026-08 の決算発表 5,374 本。基本の統制は数値の驚き、辞書・FinBERT・TF-IDF の点数、発表前のリターン、規模、業種と四半期。2 本目以降はアナリスト予想に加えて。どの係数も t &gt; 7、置換 1,000 回で p = 0.001（実験 2〜5・10）。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３．結果②：先読みのない LLM でも読める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2015 年までの文章しか知らない ChronoGPT でも、従来の NLP を超える</a:t>
            </a:r>
          </a:p>
        </p:txBody>
      </p:sp>
      <p:sp>
        <p:nvSpPr>
          <p:cNvPr id="4" name="説明"/>
          <p:cNvSpPr/>
          <p:nvPr/>
        </p:nvSpPr>
        <p:spPr>
          <a:xfrm>
            <a:off x="676656" y="1783080"/>
            <a:ext cx="4343400" cy="438912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なぜ確かめるか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331720"/>
            <a:ext cx="38862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gpt-4o-mini は 2023 年 10 月までの文章で学習している。それより前の決算は、その後の株価ごと覚えているかもしれない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52044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ChronoGPT の「版」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3931920"/>
            <a:ext cx="38862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版 2015 は 2015 年末までの文章しか知らない。2016 年以降の決算を読んでも、先読みは起こりえない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4937760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+34bp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5532120"/>
            <a:ext cx="3886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t 4.8（2020〜2026 年）。期間の切り方を 3 通り変えても支持</a:t>
            </a:r>
          </a:p>
        </p:txBody>
      </p:sp>
      <p:graphicFrame>
        <p:nvGraphicFramePr>
          <p:cNvPr id="11" name="比較のグラフ"/>
          <p:cNvGraphicFramePr>
            <a:graphicFrameLocks noGrp="1"/>
          </p:cNvGraphicFramePr>
          <p:nvPr/>
        </p:nvGraphicFramePr>
        <p:xfrm>
          <a:off x="5257800" y="1737360"/>
          <a:ext cx="6309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注"/>
          <p:cNvSpPr txBox="1"/>
          <p:nvPr/>
        </p:nvSpPr>
        <p:spPr>
          <a:xfrm>
            <a:off x="676656" y="632764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実験 11 の最終の期間（2020-01〜2026-08、13,141 本）。数字の統制（驚き、アナリスト予想、発表前のリターン、規模）に加えたときの増分。2016〜2023 年（実験 5）でも +33.6bp（t 5.5）。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３．結果③：しかし運用では儲からない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読めた情報は発表の当日に株価に入りきり、BLM は時価総額を上回らない</a:t>
            </a:r>
          </a:p>
        </p:txBody>
      </p:sp>
      <p:graphicFrame>
        <p:nvGraphicFramePr>
          <p:cNvPr id="4" name="時間のグラフ"/>
          <p:cNvGraphicFramePr>
            <a:graphicFrameLocks noGrp="1"/>
          </p:cNvGraphicFramePr>
          <p:nvPr/>
        </p:nvGraphicFramePr>
        <p:xfrm>
          <a:off x="676656" y="1737360"/>
          <a:ext cx="5394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運用1"/>
          <p:cNvSpPr/>
          <p:nvPr/>
        </p:nvSpPr>
        <p:spPr>
          <a:xfrm>
            <a:off x="6309360" y="1783080"/>
            <a:ext cx="52486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月次の BLM（31 か月）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317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+0.10%／月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33172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t 1.22</a:t>
            </a:r>
          </a:p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支持されない</a:t>
            </a:r>
          </a:p>
        </p:txBody>
      </p:sp>
      <p:sp>
        <p:nvSpPr>
          <p:cNvPr id="9" name="運用2"/>
          <p:cNvSpPr/>
          <p:nvPr/>
        </p:nvSpPr>
        <p:spPr>
          <a:xfrm>
            <a:off x="6309360" y="3291839"/>
            <a:ext cx="52486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42899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月次の BLM（約 10 年、先読みなし）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79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+0.003%／月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84047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t 0.04</a:t>
            </a:r>
          </a:p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時価総額とほぼ同じ</a:t>
            </a:r>
          </a:p>
        </p:txBody>
      </p:sp>
      <p:sp>
        <p:nvSpPr>
          <p:cNvPr id="13" name="運用3"/>
          <p:cNvSpPr/>
          <p:nvPr/>
        </p:nvSpPr>
        <p:spPr>
          <a:xfrm>
            <a:off x="6309360" y="4800600"/>
            <a:ext cx="52486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日次の BLM（593 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34924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年 −20%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34924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回転率 1 日 42%</a:t>
            </a:r>
          </a:p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費用に負ける</a:t>
            </a:r>
          </a:p>
        </p:txBody>
      </p:sp>
      <p:sp>
        <p:nvSpPr>
          <p:cNvPr id="17" name="注"/>
          <p:cNvSpPr txBox="1"/>
          <p:nvPr/>
        </p:nvSpPr>
        <p:spPr>
          <a:xfrm>
            <a:off x="676656" y="632764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超過リターンは時価総額加重に対する、費用（片道 0.1%）の後。実験 2・7・8・9。実験 7 では、点数を銘柄の間で混ぜた対照には、費用の前で月 +0.20%（t 2.3）上回った。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４．BLM の改善：TE の約束を守る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過去の「実現÷予測」で上限を校正すると、TE は約束の 3% に近づく</a:t>
            </a:r>
          </a:p>
        </p:txBody>
      </p:sp>
      <p:graphicFrame>
        <p:nvGraphicFramePr>
          <p:cNvPr id="4" name="TEのグラフ"/>
          <p:cNvGraphicFramePr>
            <a:graphicFrameLocks noGrp="1"/>
          </p:cNvGraphicFramePr>
          <p:nvPr/>
        </p:nvGraphicFramePr>
        <p:xfrm>
          <a:off x="676656" y="1737360"/>
          <a:ext cx="58521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補足1"/>
          <p:cNvSpPr/>
          <p:nvPr/>
        </p:nvSpPr>
        <p:spPr>
          <a:xfrm>
            <a:off x="6766560" y="1783080"/>
            <a:ext cx="47914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X01  </a:t>
            </a:r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ノイズ除去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31343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共分散の雑音を Marcenko-Pastur で除いても、BLM の最適化は良くならない</a:t>
            </a:r>
          </a:p>
        </p:txBody>
      </p:sp>
      <p:sp>
        <p:nvSpPr>
          <p:cNvPr id="8" name="補足2"/>
          <p:cNvSpPr/>
          <p:nvPr/>
        </p:nvSpPr>
        <p:spPr>
          <a:xfrm>
            <a:off x="6766560" y="3291839"/>
            <a:ext cx="47914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42899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X04  </a:t>
            </a:r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VIX に合わせる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822191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共分散の大きさを VIX に合わせても、校正以上には改善しない</a:t>
            </a:r>
          </a:p>
        </p:txBody>
      </p:sp>
      <p:sp>
        <p:nvSpPr>
          <p:cNvPr id="11" name="補足3"/>
          <p:cNvSpPr/>
          <p:nvPr/>
        </p:nvSpPr>
        <p:spPr>
          <a:xfrm>
            <a:off x="6766560" y="4800600"/>
            <a:ext cx="4791456" cy="132588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9377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X05  </a:t>
            </a:r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α の大きさ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33095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TE の上限が効いていると、見通しの大きさを変えても比率は同じ</a:t>
            </a:r>
          </a:p>
        </p:txBody>
      </p:sp>
      <p:sp>
        <p:nvSpPr>
          <p:cNvPr id="14" name="注"/>
          <p:cNvSpPr txBox="1"/>
          <p:nvPr/>
        </p:nvSpPr>
        <p:spPr>
          <a:xfrm>
            <a:off x="676656" y="632764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2020-01〜2026-07 の 79 か月、S&amp;P500、事前の TE の上限 3%（X03）。校正：保有期間が終わった過去 36 か月の「実現 ÷ 予測」の平均で 3% を割る。将来の情報は使わない。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５．読ませ方とまとめ方の修正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発表文の読ませ方とまとめ方を 5 通り直したが、説明力はほぼ上がらなかった</a:t>
            </a:r>
          </a:p>
        </p:txBody>
      </p:sp>
      <p:sp>
        <p:nvSpPr>
          <p:cNvPr id="4" name="修正1"/>
          <p:cNvSpPr/>
          <p:nvPr/>
        </p:nvSpPr>
        <p:spPr>
          <a:xfrm>
            <a:off x="676656" y="178308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192024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2024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3895" y="1920240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掃除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17373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表の切れ端・免責事項・定型文を除く（平均 27% 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6576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差はほぼ 0。残らず</a:t>
            </a:r>
          </a:p>
        </p:txBody>
      </p:sp>
      <p:sp>
        <p:nvSpPr>
          <p:cNvPr id="10" name="修正2"/>
          <p:cNvSpPr/>
          <p:nvPr/>
        </p:nvSpPr>
        <p:spPr>
          <a:xfrm>
            <a:off x="2898648" y="178308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81528" y="192024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92024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920240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読む範囲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606040"/>
            <a:ext cx="17373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先頭だけでなく末尾も読む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36576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規則により判定へ進まず</a:t>
            </a:r>
          </a:p>
        </p:txBody>
      </p:sp>
      <p:sp>
        <p:nvSpPr>
          <p:cNvPr id="16" name="修正3"/>
          <p:cNvSpPr/>
          <p:nvPr/>
        </p:nvSpPr>
        <p:spPr>
          <a:xfrm>
            <a:off x="5120640" y="178308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03520" y="192024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4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920240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まとめ方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06040"/>
            <a:ext cx="17373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会社の点数をセクターにまとめる方法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6576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今のやり方が最良</a:t>
            </a:r>
          </a:p>
        </p:txBody>
      </p:sp>
      <p:sp>
        <p:nvSpPr>
          <p:cNvPr id="22" name="修正4"/>
          <p:cNvSpPr/>
          <p:nvPr/>
        </p:nvSpPr>
        <p:spPr>
          <a:xfrm>
            <a:off x="7342632" y="178308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25512" y="192024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192024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1920240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埋め込み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606040"/>
            <a:ext cx="17373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中間の層、最後のトークン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6576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探索：中間の層で R² 0.49→0.80</a:t>
            </a:r>
          </a:p>
        </p:txBody>
      </p:sp>
      <p:sp>
        <p:nvSpPr>
          <p:cNvPr id="28" name="修正5"/>
          <p:cNvSpPr/>
          <p:nvPr/>
        </p:nvSpPr>
        <p:spPr>
          <a:xfrm>
            <a:off x="9564624" y="1783080"/>
            <a:ext cx="2057400" cy="27432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47504" y="192024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92024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41864" y="1920240"/>
            <a:ext cx="123444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圧縮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2606040"/>
            <a:ext cx="17373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LLMLingua-2 で約 1,700 トークンに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6576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探索：悪化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6817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選び方：人は選ばない</a:t>
            </a:r>
          </a:p>
        </p:txBody>
      </p:sp>
      <p:sp>
        <p:nvSpPr>
          <p:cNvPr id="35" name="開発"/>
          <p:cNvSpPr/>
          <p:nvPr/>
        </p:nvSpPr>
        <p:spPr>
          <a:xfrm>
            <a:off x="676656" y="5120640"/>
            <a:ext cx="4206240" cy="457200"/>
          </a:xfrm>
          <a:prstGeom prst="roundRect">
            <a:avLst>
              <a:gd name="adj" fmla="val 15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120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開発（2016〜2019）</a:t>
            </a:r>
          </a:p>
        </p:txBody>
      </p:sp>
      <p:sp>
        <p:nvSpPr>
          <p:cNvPr id="37" name="最終"/>
          <p:cNvSpPr/>
          <p:nvPr/>
        </p:nvSpPr>
        <p:spPr>
          <a:xfrm>
            <a:off x="4974336" y="5120640"/>
            <a:ext cx="6583680" cy="457200"/>
          </a:xfrm>
          <a:prstGeom prst="roundRect">
            <a:avLst>
              <a:gd name="adj" fmla="val 15000"/>
            </a:avLst>
          </a:prstGeom>
          <a:solidFill>
            <a:srgbClr val="E0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1206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最終の比較（2020〜2026）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5715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開発の期間だけで、事前に決めた機械的な規則（差の t が 1 以上、前半・後半とも悪くならない）で修正を選び、最終の期間で 1 回だけ比べる</a:t>
            </a:r>
          </a:p>
        </p:txBody>
      </p:sp>
      <p:sp>
        <p:nvSpPr>
          <p:cNvPr id="40" name="注"/>
          <p:cNvSpPr txBox="1"/>
          <p:nvPr/>
        </p:nvSpPr>
        <p:spPr>
          <a:xfrm>
            <a:off x="676656" y="6327648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実験 11。ChronoGPT（版 2015）と辞書・FinBERT・TF-IDF に適用。修正 1 が残ったのは、切り方 C の辞書だけ。修正 2・4・5 は「修正 1 が残ったときだけ試す」と事前に決めた順番のため、判定に進まなかった。探索は判定に使っていない。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６．まとめと今後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LLM の価値は「市場の読み違い」や「リスク」の側にあるかもしれない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まとめ</a:t>
            </a:r>
          </a:p>
        </p:txBody>
      </p:sp>
      <p:sp>
        <p:nvSpPr>
          <p:cNvPr id="5" name="まとめ"/>
          <p:cNvSpPr/>
          <p:nvPr/>
        </p:nvSpPr>
        <p:spPr>
          <a:xfrm>
            <a:off x="676656" y="2240280"/>
            <a:ext cx="4754880" cy="341071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39" y="2560320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5" y="2468880"/>
            <a:ext cx="406907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数字を渡して数字を答えさせる LLM は、直近の値動きをなぞる</a:t>
            </a:r>
          </a:p>
        </p:txBody>
      </p:sp>
      <p:sp>
        <p:nvSpPr>
          <p:cNvPr id="8" name="Oval 7"/>
          <p:cNvSpPr/>
          <p:nvPr/>
        </p:nvSpPr>
        <p:spPr>
          <a:xfrm>
            <a:off x="1005839" y="3611880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3520440"/>
            <a:ext cx="406907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決算発表文の読み取りは本物。2 日の反応を強く説明し、先読みのない LLM でも従来の NLP を超える</a:t>
            </a:r>
          </a:p>
        </p:txBody>
      </p:sp>
      <p:sp>
        <p:nvSpPr>
          <p:cNvPr id="10" name="Oval 9"/>
          <p:cNvSpPr/>
          <p:nvPr/>
        </p:nvSpPr>
        <p:spPr>
          <a:xfrm>
            <a:off x="1005839" y="4663440"/>
            <a:ext cx="118872" cy="118872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5" y="4572000"/>
            <a:ext cx="406907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ただし情報は当日に株価に入りきり、月次・日次の BLM では儲からない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今後</a:t>
            </a:r>
          </a:p>
        </p:txBody>
      </p:sp>
      <p:sp>
        <p:nvSpPr>
          <p:cNvPr id="13" name="今後1"/>
          <p:cNvSpPr/>
          <p:nvPr/>
        </p:nvSpPr>
        <p:spPr>
          <a:xfrm>
            <a:off x="5669280" y="2240280"/>
            <a:ext cx="5888736" cy="1033271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3872" y="2496312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49631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食い違った発表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974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文章は良いのに株価が下がった発表は、その後に文章の向きへ戻るか</a:t>
            </a:r>
          </a:p>
        </p:txBody>
      </p:sp>
      <p:sp>
        <p:nvSpPr>
          <p:cNvPr id="18" name="今後2"/>
          <p:cNvSpPr/>
          <p:nvPr/>
        </p:nvSpPr>
        <p:spPr>
          <a:xfrm>
            <a:off x="5669280" y="3429000"/>
            <a:ext cx="5888736" cy="1033271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33872" y="3685032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368503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リスクを当てる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発表文から翌月のボラティリティを予測し、共分散と TE の管理に使う</a:t>
            </a:r>
          </a:p>
        </p:txBody>
      </p:sp>
      <p:sp>
        <p:nvSpPr>
          <p:cNvPr id="23" name="今後3"/>
          <p:cNvSpPr/>
          <p:nvPr/>
        </p:nvSpPr>
        <p:spPr>
          <a:xfrm>
            <a:off x="5669280" y="4617720"/>
            <a:ext cx="5888736" cy="1033271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3872" y="4873752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48737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意見の割れで 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0749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複数のモデルの点数の割れで、見通しの確からしさを決める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85216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課題：</a:t>
            </a:r>
            <a:r>
              <a: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日中の株価がなく、発表直後の速さは測れない。上場廃止の銘柄が欠ける。LLM は gpt-4o-mini と ChronoGPT だけ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</TotalTime>
  <Words>1300</Words>
  <Application>Microsoft Macintosh PowerPoint</Application>
  <PresentationFormat>ワイド画面</PresentationFormat>
  <Paragraphs>193</Paragraphs>
  <Slides>12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メイリオ</vt:lpstr>
      <vt:lpstr>游ゴシック</vt:lpstr>
      <vt:lpstr>Arial</vt:lpstr>
      <vt:lpstr>Calibri</vt:lpstr>
      <vt:lpstr>Courier New</vt:lpstr>
      <vt:lpstr>DashVTI</vt:lpstr>
      <vt:lpstr>LLMによる株式リターン予測とポートフォリオ最適化の検証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k2313080</dc:creator>
  <cp:lastModifiedBy>k2313080</cp:lastModifiedBy>
  <cp:revision>17</cp:revision>
  <dcterms:created xsi:type="dcterms:W3CDTF">2026-10-11T07:13:42Z</dcterms:created>
  <dcterms:modified xsi:type="dcterms:W3CDTF">2026-10-13T03:14:05Z</dcterms:modified>
</cp:coreProperties>
</file>