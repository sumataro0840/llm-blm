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24" r:id="rId1"/>
  </p:sldMasterIdLst>
  <p:notesMasterIdLst>
    <p:notesMasterId r:id="rId14"/>
  </p:notesMasterIdLst>
  <p:sldIdLst>
    <p:sldId id="256" r:id="rId2"/>
    <p:sldId id="257" r:id="rId3"/>
    <p:sldId id="258" r:id="rId4"/>
    <p:sldId id="271" r:id="rId5"/>
    <p:sldId id="261" r:id="rId6"/>
    <p:sldId id="262" r:id="rId7"/>
    <p:sldId id="272" r:id="rId8"/>
    <p:sldId id="265" r:id="rId9"/>
    <p:sldId id="273" r:id="rId10"/>
    <p:sldId id="267" r:id="rId11"/>
    <p:sldId id="268" r:id="rId12"/>
    <p:sldId id="269"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56"/>
    <p:restoredTop sz="94554"/>
  </p:normalViewPr>
  <p:slideViewPr>
    <p:cSldViewPr snapToGrid="0">
      <p:cViewPr varScale="1">
        <p:scale>
          <a:sx n="98" d="100"/>
          <a:sy n="98" d="100"/>
        </p:scale>
        <p:origin x="72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title>
      <c:tx>
        <c:rich>
          <a:bodyPr/>
          <a:lstStyle/>
          <a:p>
            <a:r>
              <a:rPr lang="en-US" altLang="ja-JP" sz="1300" b="0">
                <a:solidFill>
                  <a:srgbClr val="5B616B"/>
                </a:solidFill>
                <a:latin typeface="メイリオ"/>
              </a:rPr>
              <a:t>1 </a:t>
            </a:r>
            <a:r>
              <a:rPr lang="ja-JP" altLang="en-US" sz="1300" b="0">
                <a:solidFill>
                  <a:srgbClr val="5B616B"/>
                </a:solidFill>
                <a:latin typeface="メイリオ"/>
              </a:rPr>
              <a:t>を投資した場合の価値（</a:t>
            </a:r>
            <a:r>
              <a:rPr lang="en-US" altLang="ja-JP" sz="1300" b="0">
                <a:solidFill>
                  <a:srgbClr val="5B616B"/>
                </a:solidFill>
                <a:latin typeface="メイリオ"/>
              </a:rPr>
              <a:t>2024</a:t>
            </a:r>
            <a:r>
              <a:rPr lang="ja-JP" altLang="en-US" sz="1300" b="0">
                <a:solidFill>
                  <a:srgbClr val="5B616B"/>
                </a:solidFill>
                <a:latin typeface="メイリオ"/>
              </a:rPr>
              <a:t>年</a:t>
            </a:r>
            <a:r>
              <a:rPr lang="en-US" altLang="ja-JP" sz="1300" b="0">
                <a:solidFill>
                  <a:srgbClr val="5B616B"/>
                </a:solidFill>
                <a:latin typeface="メイリオ"/>
              </a:rPr>
              <a:t>3</a:t>
            </a:r>
            <a:r>
              <a:rPr lang="ja-JP" altLang="en-US" sz="1300" b="0">
                <a:solidFill>
                  <a:srgbClr val="5B616B"/>
                </a:solidFill>
                <a:latin typeface="メイリオ"/>
              </a:rPr>
              <a:t>月末 </a:t>
            </a:r>
            <a:r>
              <a:rPr lang="en-US" altLang="ja-JP" sz="1300" b="0">
                <a:solidFill>
                  <a:srgbClr val="5B616B"/>
                </a:solidFill>
                <a:latin typeface="メイリオ"/>
              </a:rPr>
              <a:t>= 1</a:t>
            </a:r>
            <a:r>
              <a:rPr lang="ja-JP" altLang="en-US" sz="1300" b="0">
                <a:solidFill>
                  <a:srgbClr val="5B616B"/>
                </a:solidFill>
                <a:latin typeface="メイリオ"/>
              </a:rPr>
              <a:t>）</a:t>
            </a:r>
          </a:p>
        </c:rich>
      </c:tx>
      <c:overlay val="0"/>
    </c:title>
    <c:autoTitleDeleted val="0"/>
    <c:plotArea>
      <c:layout/>
      <c:lineChart>
        <c:grouping val="standard"/>
        <c:varyColors val="0"/>
        <c:ser>
          <c:idx val="0"/>
          <c:order val="0"/>
          <c:tx>
            <c:strRef>
              <c:f>Sheet1!$B$1</c:f>
              <c:strCache>
                <c:ptCount val="1"/>
                <c:pt idx="0">
                  <c:v>BL（既存手法）</c:v>
                </c:pt>
              </c:strCache>
            </c:strRef>
          </c:tx>
          <c:spPr>
            <a:ln w="38100">
              <a:solidFill>
                <a:srgbClr val="FE733C"/>
              </a:solidFill>
            </a:ln>
          </c:spPr>
          <c:marker>
            <c:symbol val="none"/>
          </c:marker>
          <c:cat>
            <c:strRef>
              <c:f>Sheet1!$A$2:$A$32</c:f>
              <c:strCache>
                <c:ptCount val="31"/>
                <c:pt idx="0">
                  <c:v>2024-03</c:v>
                </c:pt>
                <c:pt idx="1">
                  <c:v>2024-04</c:v>
                </c:pt>
                <c:pt idx="2">
                  <c:v>2024-05</c:v>
                </c:pt>
                <c:pt idx="3">
                  <c:v>2024-06</c:v>
                </c:pt>
                <c:pt idx="4">
                  <c:v>2024-07</c:v>
                </c:pt>
                <c:pt idx="5">
                  <c:v>2024-08</c:v>
                </c:pt>
                <c:pt idx="6">
                  <c:v>2024-09</c:v>
                </c:pt>
                <c:pt idx="7">
                  <c:v>2024-10</c:v>
                </c:pt>
                <c:pt idx="8">
                  <c:v>2024-11</c:v>
                </c:pt>
                <c:pt idx="9">
                  <c:v>2024-12</c:v>
                </c:pt>
                <c:pt idx="10">
                  <c:v>2025-01</c:v>
                </c:pt>
                <c:pt idx="11">
                  <c:v>2025-02</c:v>
                </c:pt>
                <c:pt idx="12">
                  <c:v>2025-03</c:v>
                </c:pt>
                <c:pt idx="13">
                  <c:v>2025-04</c:v>
                </c:pt>
                <c:pt idx="14">
                  <c:v>2025-05</c:v>
                </c:pt>
                <c:pt idx="15">
                  <c:v>2025-06</c:v>
                </c:pt>
                <c:pt idx="16">
                  <c:v>2025-07</c:v>
                </c:pt>
                <c:pt idx="17">
                  <c:v>2025-08</c:v>
                </c:pt>
                <c:pt idx="18">
                  <c:v>2025-09</c:v>
                </c:pt>
                <c:pt idx="19">
                  <c:v>2025-10</c:v>
                </c:pt>
                <c:pt idx="20">
                  <c:v>2025-11</c:v>
                </c:pt>
                <c:pt idx="21">
                  <c:v>2025-12</c:v>
                </c:pt>
                <c:pt idx="22">
                  <c:v>2026-01</c:v>
                </c:pt>
                <c:pt idx="23">
                  <c:v>2026-02</c:v>
                </c:pt>
                <c:pt idx="24">
                  <c:v>2026-03</c:v>
                </c:pt>
                <c:pt idx="25">
                  <c:v>2026-04</c:v>
                </c:pt>
                <c:pt idx="26">
                  <c:v>2026-05</c:v>
                </c:pt>
                <c:pt idx="27">
                  <c:v>2026-06</c:v>
                </c:pt>
                <c:pt idx="28">
                  <c:v>2026-07</c:v>
                </c:pt>
                <c:pt idx="29">
                  <c:v>2026-08</c:v>
                </c:pt>
                <c:pt idx="30">
                  <c:v>2026-09</c:v>
                </c:pt>
              </c:strCache>
            </c:strRef>
          </c:cat>
          <c:val>
            <c:numRef>
              <c:f>Sheet1!$B$2:$B$32</c:f>
              <c:numCache>
                <c:formatCode>General</c:formatCode>
                <c:ptCount val="31"/>
                <c:pt idx="0">
                  <c:v>1</c:v>
                </c:pt>
                <c:pt idx="1">
                  <c:v>1.0015000000000001</c:v>
                </c:pt>
                <c:pt idx="2">
                  <c:v>1.0415000000000001</c:v>
                </c:pt>
                <c:pt idx="3">
                  <c:v>0.99260000000000004</c:v>
                </c:pt>
                <c:pt idx="4">
                  <c:v>0.97450000000000003</c:v>
                </c:pt>
                <c:pt idx="5">
                  <c:v>0.96489999999999998</c:v>
                </c:pt>
                <c:pt idx="6">
                  <c:v>0.9788</c:v>
                </c:pt>
                <c:pt idx="7">
                  <c:v>1.0416000000000001</c:v>
                </c:pt>
                <c:pt idx="8">
                  <c:v>1.1739999999999999</c:v>
                </c:pt>
                <c:pt idx="9">
                  <c:v>1.1068</c:v>
                </c:pt>
                <c:pt idx="10">
                  <c:v>1.1309</c:v>
                </c:pt>
                <c:pt idx="11">
                  <c:v>1.1158999999999999</c:v>
                </c:pt>
                <c:pt idx="12">
                  <c:v>1.1013999999999999</c:v>
                </c:pt>
                <c:pt idx="13">
                  <c:v>1.1136999999999999</c:v>
                </c:pt>
                <c:pt idx="14">
                  <c:v>1.1347</c:v>
                </c:pt>
                <c:pt idx="15">
                  <c:v>1.2215</c:v>
                </c:pt>
                <c:pt idx="16">
                  <c:v>1.3218000000000001</c:v>
                </c:pt>
                <c:pt idx="17">
                  <c:v>1.3031999999999999</c:v>
                </c:pt>
                <c:pt idx="18">
                  <c:v>1.3416999999999999</c:v>
                </c:pt>
                <c:pt idx="19">
                  <c:v>1.4625999999999999</c:v>
                </c:pt>
                <c:pt idx="20">
                  <c:v>1.5325</c:v>
                </c:pt>
                <c:pt idx="21">
                  <c:v>1.5391999999999999</c:v>
                </c:pt>
                <c:pt idx="22">
                  <c:v>1.6894</c:v>
                </c:pt>
                <c:pt idx="23">
                  <c:v>1.8229</c:v>
                </c:pt>
                <c:pt idx="24">
                  <c:v>1.7241</c:v>
                </c:pt>
                <c:pt idx="25">
                  <c:v>1.7457</c:v>
                </c:pt>
                <c:pt idx="26">
                  <c:v>2.1520000000000001</c:v>
                </c:pt>
                <c:pt idx="27">
                  <c:v>2.1747000000000001</c:v>
                </c:pt>
                <c:pt idx="28">
                  <c:v>1.9525999999999999</c:v>
                </c:pt>
                <c:pt idx="29">
                  <c:v>2.2081</c:v>
                </c:pt>
                <c:pt idx="30">
                  <c:v>2.1175999999999999</c:v>
                </c:pt>
              </c:numCache>
            </c:numRef>
          </c:val>
          <c:smooth val="0"/>
          <c:extLst>
            <c:ext xmlns:c16="http://schemas.microsoft.com/office/drawing/2014/chart" uri="{C3380CC4-5D6E-409C-BE32-E72D297353CC}">
              <c16:uniqueId val="{00000000-3CD7-4150-8163-3C9D373FCB3C}"/>
            </c:ext>
          </c:extLst>
        </c:ser>
        <c:ser>
          <c:idx val="1"/>
          <c:order val="1"/>
          <c:tx>
            <c:strRef>
              <c:f>Sheet1!$C$1</c:f>
              <c:strCache>
                <c:ptCount val="1"/>
                <c:pt idx="0">
                  <c:v>平均分散</c:v>
                </c:pt>
              </c:strCache>
            </c:strRef>
          </c:tx>
          <c:spPr>
            <a:ln w="25400">
              <a:solidFill>
                <a:srgbClr val="EDA100"/>
              </a:solidFill>
            </a:ln>
          </c:spPr>
          <c:marker>
            <c:symbol val="none"/>
          </c:marker>
          <c:cat>
            <c:strRef>
              <c:f>Sheet1!$A$2:$A$32</c:f>
              <c:strCache>
                <c:ptCount val="31"/>
                <c:pt idx="0">
                  <c:v>2024-03</c:v>
                </c:pt>
                <c:pt idx="1">
                  <c:v>2024-04</c:v>
                </c:pt>
                <c:pt idx="2">
                  <c:v>2024-05</c:v>
                </c:pt>
                <c:pt idx="3">
                  <c:v>2024-06</c:v>
                </c:pt>
                <c:pt idx="4">
                  <c:v>2024-07</c:v>
                </c:pt>
                <c:pt idx="5">
                  <c:v>2024-08</c:v>
                </c:pt>
                <c:pt idx="6">
                  <c:v>2024-09</c:v>
                </c:pt>
                <c:pt idx="7">
                  <c:v>2024-10</c:v>
                </c:pt>
                <c:pt idx="8">
                  <c:v>2024-11</c:v>
                </c:pt>
                <c:pt idx="9">
                  <c:v>2024-12</c:v>
                </c:pt>
                <c:pt idx="10">
                  <c:v>2025-01</c:v>
                </c:pt>
                <c:pt idx="11">
                  <c:v>2025-02</c:v>
                </c:pt>
                <c:pt idx="12">
                  <c:v>2025-03</c:v>
                </c:pt>
                <c:pt idx="13">
                  <c:v>2025-04</c:v>
                </c:pt>
                <c:pt idx="14">
                  <c:v>2025-05</c:v>
                </c:pt>
                <c:pt idx="15">
                  <c:v>2025-06</c:v>
                </c:pt>
                <c:pt idx="16">
                  <c:v>2025-07</c:v>
                </c:pt>
                <c:pt idx="17">
                  <c:v>2025-08</c:v>
                </c:pt>
                <c:pt idx="18">
                  <c:v>2025-09</c:v>
                </c:pt>
                <c:pt idx="19">
                  <c:v>2025-10</c:v>
                </c:pt>
                <c:pt idx="20">
                  <c:v>2025-11</c:v>
                </c:pt>
                <c:pt idx="21">
                  <c:v>2025-12</c:v>
                </c:pt>
                <c:pt idx="22">
                  <c:v>2026-01</c:v>
                </c:pt>
                <c:pt idx="23">
                  <c:v>2026-02</c:v>
                </c:pt>
                <c:pt idx="24">
                  <c:v>2026-03</c:v>
                </c:pt>
                <c:pt idx="25">
                  <c:v>2026-04</c:v>
                </c:pt>
                <c:pt idx="26">
                  <c:v>2026-05</c:v>
                </c:pt>
                <c:pt idx="27">
                  <c:v>2026-06</c:v>
                </c:pt>
                <c:pt idx="28">
                  <c:v>2026-07</c:v>
                </c:pt>
                <c:pt idx="29">
                  <c:v>2026-08</c:v>
                </c:pt>
                <c:pt idx="30">
                  <c:v>2026-09</c:v>
                </c:pt>
              </c:strCache>
            </c:strRef>
          </c:cat>
          <c:val>
            <c:numRef>
              <c:f>Sheet1!$C$2:$C$32</c:f>
              <c:numCache>
                <c:formatCode>General</c:formatCode>
                <c:ptCount val="31"/>
                <c:pt idx="0">
                  <c:v>1</c:v>
                </c:pt>
                <c:pt idx="1">
                  <c:v>0.98119999999999996</c:v>
                </c:pt>
                <c:pt idx="2">
                  <c:v>1.0106999999999999</c:v>
                </c:pt>
                <c:pt idx="3">
                  <c:v>0.95379999999999998</c:v>
                </c:pt>
                <c:pt idx="4">
                  <c:v>0.90559999999999996</c:v>
                </c:pt>
                <c:pt idx="5">
                  <c:v>0.90390000000000004</c:v>
                </c:pt>
                <c:pt idx="6">
                  <c:v>0.91759999999999997</c:v>
                </c:pt>
                <c:pt idx="7">
                  <c:v>1.0254000000000001</c:v>
                </c:pt>
                <c:pt idx="8">
                  <c:v>1.1738</c:v>
                </c:pt>
                <c:pt idx="9">
                  <c:v>1.147</c:v>
                </c:pt>
                <c:pt idx="10">
                  <c:v>1.1851</c:v>
                </c:pt>
                <c:pt idx="11">
                  <c:v>1.2116</c:v>
                </c:pt>
                <c:pt idx="12">
                  <c:v>1.2023999999999999</c:v>
                </c:pt>
                <c:pt idx="13">
                  <c:v>1.2032</c:v>
                </c:pt>
                <c:pt idx="14">
                  <c:v>1.2399</c:v>
                </c:pt>
                <c:pt idx="15">
                  <c:v>1.3286</c:v>
                </c:pt>
                <c:pt idx="16">
                  <c:v>1.4202999999999999</c:v>
                </c:pt>
                <c:pt idx="17">
                  <c:v>1.3915999999999999</c:v>
                </c:pt>
                <c:pt idx="18">
                  <c:v>1.4378</c:v>
                </c:pt>
                <c:pt idx="19">
                  <c:v>1.5739000000000001</c:v>
                </c:pt>
                <c:pt idx="20">
                  <c:v>1.6212</c:v>
                </c:pt>
                <c:pt idx="21">
                  <c:v>1.619</c:v>
                </c:pt>
                <c:pt idx="22">
                  <c:v>1.7235</c:v>
                </c:pt>
                <c:pt idx="23">
                  <c:v>1.8715999999999999</c:v>
                </c:pt>
                <c:pt idx="24">
                  <c:v>1.7697000000000001</c:v>
                </c:pt>
                <c:pt idx="25">
                  <c:v>1.6915</c:v>
                </c:pt>
                <c:pt idx="26">
                  <c:v>2.1086</c:v>
                </c:pt>
                <c:pt idx="27">
                  <c:v>2.0764</c:v>
                </c:pt>
                <c:pt idx="28">
                  <c:v>1.8133999999999999</c:v>
                </c:pt>
                <c:pt idx="29">
                  <c:v>1.95</c:v>
                </c:pt>
                <c:pt idx="30">
                  <c:v>1.9036</c:v>
                </c:pt>
              </c:numCache>
            </c:numRef>
          </c:val>
          <c:smooth val="0"/>
          <c:extLst>
            <c:ext xmlns:c16="http://schemas.microsoft.com/office/drawing/2014/chart" uri="{C3380CC4-5D6E-409C-BE32-E72D297353CC}">
              <c16:uniqueId val="{00000001-3CD7-4150-8163-3C9D373FCB3C}"/>
            </c:ext>
          </c:extLst>
        </c:ser>
        <c:ser>
          <c:idx val="2"/>
          <c:order val="2"/>
          <c:tx>
            <c:strRef>
              <c:f>Sheet1!$D$1</c:f>
              <c:strCache>
                <c:ptCount val="1"/>
                <c:pt idx="0">
                  <c:v>元の S&amp;P500（時価総額加重）</c:v>
                </c:pt>
              </c:strCache>
            </c:strRef>
          </c:tx>
          <c:spPr>
            <a:ln w="38100">
              <a:solidFill>
                <a:srgbClr val="1973EB"/>
              </a:solidFill>
            </a:ln>
          </c:spPr>
          <c:marker>
            <c:symbol val="none"/>
          </c:marker>
          <c:cat>
            <c:strRef>
              <c:f>Sheet1!$A$2:$A$32</c:f>
              <c:strCache>
                <c:ptCount val="31"/>
                <c:pt idx="0">
                  <c:v>2024-03</c:v>
                </c:pt>
                <c:pt idx="1">
                  <c:v>2024-04</c:v>
                </c:pt>
                <c:pt idx="2">
                  <c:v>2024-05</c:v>
                </c:pt>
                <c:pt idx="3">
                  <c:v>2024-06</c:v>
                </c:pt>
                <c:pt idx="4">
                  <c:v>2024-07</c:v>
                </c:pt>
                <c:pt idx="5">
                  <c:v>2024-08</c:v>
                </c:pt>
                <c:pt idx="6">
                  <c:v>2024-09</c:v>
                </c:pt>
                <c:pt idx="7">
                  <c:v>2024-10</c:v>
                </c:pt>
                <c:pt idx="8">
                  <c:v>2024-11</c:v>
                </c:pt>
                <c:pt idx="9">
                  <c:v>2024-12</c:v>
                </c:pt>
                <c:pt idx="10">
                  <c:v>2025-01</c:v>
                </c:pt>
                <c:pt idx="11">
                  <c:v>2025-02</c:v>
                </c:pt>
                <c:pt idx="12">
                  <c:v>2025-03</c:v>
                </c:pt>
                <c:pt idx="13">
                  <c:v>2025-04</c:v>
                </c:pt>
                <c:pt idx="14">
                  <c:v>2025-05</c:v>
                </c:pt>
                <c:pt idx="15">
                  <c:v>2025-06</c:v>
                </c:pt>
                <c:pt idx="16">
                  <c:v>2025-07</c:v>
                </c:pt>
                <c:pt idx="17">
                  <c:v>2025-08</c:v>
                </c:pt>
                <c:pt idx="18">
                  <c:v>2025-09</c:v>
                </c:pt>
                <c:pt idx="19">
                  <c:v>2025-10</c:v>
                </c:pt>
                <c:pt idx="20">
                  <c:v>2025-11</c:v>
                </c:pt>
                <c:pt idx="21">
                  <c:v>2025-12</c:v>
                </c:pt>
                <c:pt idx="22">
                  <c:v>2026-01</c:v>
                </c:pt>
                <c:pt idx="23">
                  <c:v>2026-02</c:v>
                </c:pt>
                <c:pt idx="24">
                  <c:v>2026-03</c:v>
                </c:pt>
                <c:pt idx="25">
                  <c:v>2026-04</c:v>
                </c:pt>
                <c:pt idx="26">
                  <c:v>2026-05</c:v>
                </c:pt>
                <c:pt idx="27">
                  <c:v>2026-06</c:v>
                </c:pt>
                <c:pt idx="28">
                  <c:v>2026-07</c:v>
                </c:pt>
                <c:pt idx="29">
                  <c:v>2026-08</c:v>
                </c:pt>
                <c:pt idx="30">
                  <c:v>2026-09</c:v>
                </c:pt>
              </c:strCache>
            </c:strRef>
          </c:cat>
          <c:val>
            <c:numRef>
              <c:f>Sheet1!$D$2:$D$32</c:f>
              <c:numCache>
                <c:formatCode>General</c:formatCode>
                <c:ptCount val="31"/>
                <c:pt idx="0">
                  <c:v>1</c:v>
                </c:pt>
                <c:pt idx="1">
                  <c:v>0.95979999999999999</c:v>
                </c:pt>
                <c:pt idx="2">
                  <c:v>1.0075000000000001</c:v>
                </c:pt>
                <c:pt idx="3">
                  <c:v>1.0448999999999999</c:v>
                </c:pt>
                <c:pt idx="4">
                  <c:v>1.0573999999999999</c:v>
                </c:pt>
                <c:pt idx="5">
                  <c:v>1.0833999999999999</c:v>
                </c:pt>
                <c:pt idx="6">
                  <c:v>1.1079000000000001</c:v>
                </c:pt>
                <c:pt idx="7">
                  <c:v>1.0985</c:v>
                </c:pt>
                <c:pt idx="8">
                  <c:v>1.1642999999999999</c:v>
                </c:pt>
                <c:pt idx="9">
                  <c:v>1.1375</c:v>
                </c:pt>
                <c:pt idx="10">
                  <c:v>1.1709000000000001</c:v>
                </c:pt>
                <c:pt idx="11">
                  <c:v>1.1540999999999999</c:v>
                </c:pt>
                <c:pt idx="12">
                  <c:v>1.0871</c:v>
                </c:pt>
                <c:pt idx="13">
                  <c:v>1.081</c:v>
                </c:pt>
                <c:pt idx="14">
                  <c:v>1.1493</c:v>
                </c:pt>
                <c:pt idx="15">
                  <c:v>1.2079</c:v>
                </c:pt>
                <c:pt idx="16">
                  <c:v>1.2357</c:v>
                </c:pt>
                <c:pt idx="17">
                  <c:v>1.2599</c:v>
                </c:pt>
                <c:pt idx="18">
                  <c:v>1.3061</c:v>
                </c:pt>
                <c:pt idx="19">
                  <c:v>1.3353999999999999</c:v>
                </c:pt>
                <c:pt idx="20">
                  <c:v>1.3386</c:v>
                </c:pt>
                <c:pt idx="21">
                  <c:v>1.3392999999999999</c:v>
                </c:pt>
                <c:pt idx="22">
                  <c:v>1.3582000000000001</c:v>
                </c:pt>
                <c:pt idx="23">
                  <c:v>1.3460000000000001</c:v>
                </c:pt>
                <c:pt idx="24">
                  <c:v>1.2786</c:v>
                </c:pt>
                <c:pt idx="25">
                  <c:v>1.4132</c:v>
                </c:pt>
                <c:pt idx="26">
                  <c:v>1.4879</c:v>
                </c:pt>
                <c:pt idx="27">
                  <c:v>1.4706999999999999</c:v>
                </c:pt>
                <c:pt idx="28">
                  <c:v>1.468</c:v>
                </c:pt>
                <c:pt idx="29">
                  <c:v>1.5083</c:v>
                </c:pt>
                <c:pt idx="30">
                  <c:v>1.5025999999999999</c:v>
                </c:pt>
              </c:numCache>
            </c:numRef>
          </c:val>
          <c:smooth val="0"/>
          <c:extLst>
            <c:ext xmlns:c16="http://schemas.microsoft.com/office/drawing/2014/chart" uri="{C3380CC4-5D6E-409C-BE32-E72D297353CC}">
              <c16:uniqueId val="{00000002-3CD7-4150-8163-3C9D373FCB3C}"/>
            </c:ext>
          </c:extLst>
        </c:ser>
        <c:ser>
          <c:idx val="3"/>
          <c:order val="3"/>
          <c:tx>
            <c:strRef>
              <c:f>Sheet1!$E$1</c:f>
              <c:strCache>
                <c:ptCount val="1"/>
                <c:pt idx="0">
                  <c:v>等金額</c:v>
                </c:pt>
              </c:strCache>
            </c:strRef>
          </c:tx>
          <c:spPr>
            <a:ln w="25400">
              <a:solidFill>
                <a:srgbClr val="25C8A2"/>
              </a:solidFill>
            </a:ln>
          </c:spPr>
          <c:marker>
            <c:symbol val="none"/>
          </c:marker>
          <c:cat>
            <c:strRef>
              <c:f>Sheet1!$A$2:$A$32</c:f>
              <c:strCache>
                <c:ptCount val="31"/>
                <c:pt idx="0">
                  <c:v>2024-03</c:v>
                </c:pt>
                <c:pt idx="1">
                  <c:v>2024-04</c:v>
                </c:pt>
                <c:pt idx="2">
                  <c:v>2024-05</c:v>
                </c:pt>
                <c:pt idx="3">
                  <c:v>2024-06</c:v>
                </c:pt>
                <c:pt idx="4">
                  <c:v>2024-07</c:v>
                </c:pt>
                <c:pt idx="5">
                  <c:v>2024-08</c:v>
                </c:pt>
                <c:pt idx="6">
                  <c:v>2024-09</c:v>
                </c:pt>
                <c:pt idx="7">
                  <c:v>2024-10</c:v>
                </c:pt>
                <c:pt idx="8">
                  <c:v>2024-11</c:v>
                </c:pt>
                <c:pt idx="9">
                  <c:v>2024-12</c:v>
                </c:pt>
                <c:pt idx="10">
                  <c:v>2025-01</c:v>
                </c:pt>
                <c:pt idx="11">
                  <c:v>2025-02</c:v>
                </c:pt>
                <c:pt idx="12">
                  <c:v>2025-03</c:v>
                </c:pt>
                <c:pt idx="13">
                  <c:v>2025-04</c:v>
                </c:pt>
                <c:pt idx="14">
                  <c:v>2025-05</c:v>
                </c:pt>
                <c:pt idx="15">
                  <c:v>2025-06</c:v>
                </c:pt>
                <c:pt idx="16">
                  <c:v>2025-07</c:v>
                </c:pt>
                <c:pt idx="17">
                  <c:v>2025-08</c:v>
                </c:pt>
                <c:pt idx="18">
                  <c:v>2025-09</c:v>
                </c:pt>
                <c:pt idx="19">
                  <c:v>2025-10</c:v>
                </c:pt>
                <c:pt idx="20">
                  <c:v>2025-11</c:v>
                </c:pt>
                <c:pt idx="21">
                  <c:v>2025-12</c:v>
                </c:pt>
                <c:pt idx="22">
                  <c:v>2026-01</c:v>
                </c:pt>
                <c:pt idx="23">
                  <c:v>2026-02</c:v>
                </c:pt>
                <c:pt idx="24">
                  <c:v>2026-03</c:v>
                </c:pt>
                <c:pt idx="25">
                  <c:v>2026-04</c:v>
                </c:pt>
                <c:pt idx="26">
                  <c:v>2026-05</c:v>
                </c:pt>
                <c:pt idx="27">
                  <c:v>2026-06</c:v>
                </c:pt>
                <c:pt idx="28">
                  <c:v>2026-07</c:v>
                </c:pt>
                <c:pt idx="29">
                  <c:v>2026-08</c:v>
                </c:pt>
                <c:pt idx="30">
                  <c:v>2026-09</c:v>
                </c:pt>
              </c:strCache>
            </c:strRef>
          </c:cat>
          <c:val>
            <c:numRef>
              <c:f>Sheet1!$E$2:$E$32</c:f>
              <c:numCache>
                <c:formatCode>General</c:formatCode>
                <c:ptCount val="31"/>
                <c:pt idx="0">
                  <c:v>1</c:v>
                </c:pt>
                <c:pt idx="1">
                  <c:v>0.94979999999999998</c:v>
                </c:pt>
                <c:pt idx="2">
                  <c:v>0.97699999999999998</c:v>
                </c:pt>
                <c:pt idx="3">
                  <c:v>0.97430000000000005</c:v>
                </c:pt>
                <c:pt idx="4">
                  <c:v>1.0176000000000001</c:v>
                </c:pt>
                <c:pt idx="5">
                  <c:v>1.0435000000000001</c:v>
                </c:pt>
                <c:pt idx="6">
                  <c:v>1.0680000000000001</c:v>
                </c:pt>
                <c:pt idx="7">
                  <c:v>1.05</c:v>
                </c:pt>
                <c:pt idx="8">
                  <c:v>1.1148</c:v>
                </c:pt>
                <c:pt idx="9">
                  <c:v>1.0441</c:v>
                </c:pt>
                <c:pt idx="10">
                  <c:v>1.0817000000000001</c:v>
                </c:pt>
                <c:pt idx="11">
                  <c:v>1.0749</c:v>
                </c:pt>
                <c:pt idx="12">
                  <c:v>1.0382</c:v>
                </c:pt>
                <c:pt idx="13">
                  <c:v>1.0153000000000001</c:v>
                </c:pt>
                <c:pt idx="14">
                  <c:v>1.0602</c:v>
                </c:pt>
                <c:pt idx="15">
                  <c:v>1.0966</c:v>
                </c:pt>
                <c:pt idx="16">
                  <c:v>1.1064000000000001</c:v>
                </c:pt>
                <c:pt idx="17">
                  <c:v>1.1377999999999999</c:v>
                </c:pt>
                <c:pt idx="18">
                  <c:v>1.1452</c:v>
                </c:pt>
                <c:pt idx="19">
                  <c:v>1.1333</c:v>
                </c:pt>
                <c:pt idx="20">
                  <c:v>1.155</c:v>
                </c:pt>
                <c:pt idx="21">
                  <c:v>1.1604000000000001</c:v>
                </c:pt>
                <c:pt idx="22">
                  <c:v>1.2004999999999999</c:v>
                </c:pt>
                <c:pt idx="23">
                  <c:v>1.2362</c:v>
                </c:pt>
                <c:pt idx="24">
                  <c:v>1.1639999999999999</c:v>
                </c:pt>
                <c:pt idx="25">
                  <c:v>1.2337</c:v>
                </c:pt>
                <c:pt idx="26">
                  <c:v>1.2613000000000001</c:v>
                </c:pt>
                <c:pt idx="27">
                  <c:v>1.2876000000000001</c:v>
                </c:pt>
                <c:pt idx="28">
                  <c:v>1.3102</c:v>
                </c:pt>
                <c:pt idx="29">
                  <c:v>1.3378000000000001</c:v>
                </c:pt>
                <c:pt idx="30">
                  <c:v>1.2723</c:v>
                </c:pt>
              </c:numCache>
            </c:numRef>
          </c:val>
          <c:smooth val="0"/>
          <c:extLst>
            <c:ext xmlns:c16="http://schemas.microsoft.com/office/drawing/2014/chart" uri="{C3380CC4-5D6E-409C-BE32-E72D297353CC}">
              <c16:uniqueId val="{00000003-3CD7-4150-8163-3C9D373FCB3C}"/>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C9CED6"/>
            </a:solidFill>
          </a:ln>
        </c:spPr>
        <c:crossAx val="2140495176"/>
        <c:crosses val="autoZero"/>
        <c:auto val="1"/>
        <c:lblAlgn val="ctr"/>
        <c:lblOffset val="100"/>
        <c:tickLblSkip val="6"/>
        <c:noMultiLvlLbl val="0"/>
      </c:catAx>
      <c:valAx>
        <c:axId val="2140495176"/>
        <c:scaling>
          <c:orientation val="minMax"/>
          <c:max val="2.4"/>
          <c:min val="0.8"/>
        </c:scaling>
        <c:delete val="0"/>
        <c:axPos val="l"/>
        <c:majorGridlines>
          <c:spPr>
            <a:ln>
              <a:solidFill>
                <a:srgbClr val="E3E6EA"/>
              </a:solidFill>
            </a:ln>
          </c:spPr>
        </c:majorGridlines>
        <c:numFmt formatCode="0.0" sourceLinked="0"/>
        <c:majorTickMark val="out"/>
        <c:minorTickMark val="none"/>
        <c:tickLblPos val="nextTo"/>
        <c:spPr>
          <a:ln>
            <a:noFill/>
          </a:ln>
        </c:spPr>
        <c:crossAx val="2118791784"/>
        <c:crosses val="autoZero"/>
        <c:crossBetween val="between"/>
        <c:majorUnit val="0.4"/>
      </c:valAx>
    </c:plotArea>
    <c:legend>
      <c:legendPos val="b"/>
      <c:overlay val="0"/>
      <c:txPr>
        <a:bodyPr/>
        <a:lstStyle/>
        <a:p>
          <a:pPr>
            <a:defRPr sz="1200"/>
          </a:pPr>
          <a:endParaRPr lang="ja-JP"/>
        </a:p>
      </c:txPr>
    </c:legend>
    <c:plotVisOnly val="1"/>
    <c:dispBlanksAs val="gap"/>
    <c:showDLblsOverMax val="0"/>
  </c:chart>
  <c:txPr>
    <a:bodyPr/>
    <a:lstStyle/>
    <a:p>
      <a:pPr>
        <a:defRPr sz="1200">
          <a:solidFill>
            <a:srgbClr val="5B616B"/>
          </a:solidFill>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FD3A03-8659-4152-9B8F-7B0DD20BC6B1}" type="datetimeFigureOut">
              <a:rPr kumimoji="1" lang="ja-JP" altLang="en-US" smtClean="0"/>
              <a:t>2026/10/13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7DB54F-0B18-4EE3-9F53-46B6494808F3}" type="slidenum">
              <a:rPr kumimoji="1" lang="ja-JP" altLang="en-US" smtClean="0"/>
              <a:t>‹#›</a:t>
            </a:fld>
            <a:endParaRPr kumimoji="1" lang="ja-JP" altLang="en-US"/>
          </a:p>
        </p:txBody>
      </p:sp>
    </p:spTree>
    <p:extLst>
      <p:ext uri="{BB962C8B-B14F-4D97-AF65-F5344CB8AC3E}">
        <p14:creationId xmlns:p14="http://schemas.microsoft.com/office/powerpoint/2010/main" val="83844864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87DB54F-0B18-4EE3-9F53-46B6494808F3}" type="slidenum">
              <a:rPr kumimoji="1" lang="ja-JP" altLang="en-US" smtClean="0"/>
              <a:t>2</a:t>
            </a:fld>
            <a:endParaRPr kumimoji="1" lang="ja-JP" altLang="en-US"/>
          </a:p>
        </p:txBody>
      </p:sp>
    </p:spTree>
    <p:extLst>
      <p:ext uri="{BB962C8B-B14F-4D97-AF65-F5344CB8AC3E}">
        <p14:creationId xmlns:p14="http://schemas.microsoft.com/office/powerpoint/2010/main" val="3142608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既存手法の流れです。各銘柄について、1か月分の日次リターンと社名・業種を LLM に渡し、翌月の平均リターンを30回答えさせます。30個の平均を予想、ばらつきを自信の度合いとして Black-Litterman モデルに入れ、最適化で比率を決めます。答えがそろっていれば自信がある、とみなす点が、後で問題になります。</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Black-Litterman モデルは、市場の見方と自分の予想を混ぜる方法です。市場の見方は、時価総額の比率から逆算した期待リターンです。予想に自信がなければ市場の比率のまま、自信が強いほど予想どおりに比率を動かします。既存手法では、自分の予想の代わりに LLM の回答を使います。</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既存手法の計算をそのまま再現した結果です。30か月で、Black-Litterman の比率は年率35%、元の S&amp;P500 は年率17.7%でした。成績は良く見えます。ただし、過去の平均リターンを使う平均分散最適化も、ほぼ同じ動きをしています。次のスライドで、その理由を見ます。</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既存手法の問題点の3つ目です。背景で述べたとおり、LLM の強みはニュースや財務諸表のような非構造データを解釈できることです。しかし既存手法が LLM に渡しているのは、1か月分の日次リターンという約20個の数値と、社名・業種だけです。その結果、LLM の予想は渡した数値とほぼ比例し、翌月の実際のリターンはほとんど当たっていませんでした。数値の延長だけなら統計モデルで足ります。提案手法では、文章の情報を入力に加えます。</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提案手法の方針です。問題点ごとに対策を立てます。予想が先月の値動きの写しである点には、入力を増やします。予想を99.9%採用する点には、自信の度合いを実際の当たり具合から決めます。未来の情報の混入には、その時点で知り得た情報だけを使う設計にします。</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全体の構成です。日次の株価と財務データを LLM に渡し、翌月のリターンを予測させます。その予想と S&amp;P500 のデータを Black-Litterman モデルに入れ、最適化してポートフォリオを作ります。点線は今後実装する部分です。運用会社のレポートを LLM でテキスト化して入力に加えることと、結果の要因を説明して次の予測に反映するフィードバック用の LLM です。</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進捗です。データ基盤と LLM による予測まで完了しました。作ったデータから時価総額加重の指数を計算すると、実際の S&amp;P500 と日次リターンの相関が0.9997で、データが正しいことを確認しています。未来の情報を使わないために、各月末に在籍していた銘柄だけを対象にし、財務データには提出日を付けています。</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進捗の一覧です。データ基盤、LLM による予測、既存手法の再現と問題点の特定までが完了しています。提案手法のうち、自信の度合いの見直しに着手したところで、入力の追加とフィードバックはこれからです。</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今後の課題です。まず、予想をどれだけ信じるかの決め方を直します。次に、セクター単位の予測と、財務・金利・レポートなどの入力を足し、統計モデルとも比較します。最後に、結果の要因を説明するフィードバック用の LLM を加えます。成績の勝ち負けではなく、未来の情報を使わない設計のもとで LLM が何を足せるかを示すことが目標です。</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10/13/26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39387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10/13/26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74733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10/13/26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2978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hasCustomPrompt="1"/>
          </p:nvPr>
        </p:nvSpPr>
        <p:spPr/>
        <p:txBody>
          <a:bodyPr/>
          <a:lstStyle>
            <a:lvl1pPr>
              <a:defRPr baseline="0">
                <a:latin typeface="メイリオ" panose="020B0604030504040204" pitchFamily="34" charset="-128"/>
              </a:defRPr>
            </a:lvl1pPr>
          </a:lstStyle>
          <a:p>
            <a:r>
              <a:rPr lang="en-US" dirty="0"/>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hasCustomPrompt="1"/>
          </p:nvPr>
        </p:nvSpPr>
        <p:spPr>
          <a:xfrm>
            <a:off x="640080" y="2633472"/>
            <a:ext cx="5212080" cy="3566160"/>
          </a:xfrm>
        </p:spPr>
        <p:txBody>
          <a:bodyPr/>
          <a:lstStyle>
            <a:lvl1pPr>
              <a:defRPr baseline="0">
                <a:latin typeface="メイリオ" panose="020B0604030504040204" pitchFamily="34" charset="-128"/>
                <a:ea typeface="メイリオ" panose="020B0604030504040204" pitchFamily="34" charset="-128"/>
              </a:defRPr>
            </a:lvl1pPr>
            <a:lvl2pPr>
              <a:defRPr baseline="0">
                <a:latin typeface="メイリオ" panose="020B0604030504040204" pitchFamily="34" charset="-128"/>
                <a:ea typeface="メイリオ" panose="020B0604030504040204" pitchFamily="34" charset="-128"/>
              </a:defRPr>
            </a:lvl2pPr>
            <a:lvl3pPr>
              <a:defRPr baseline="0">
                <a:latin typeface="メイリオ" panose="020B0604030504040204" pitchFamily="34" charset="-128"/>
                <a:ea typeface="メイリオ" panose="020B0604030504040204" pitchFamily="34" charset="-128"/>
              </a:defRPr>
            </a:lvl3pPr>
            <a:lvl4pPr>
              <a:defRPr baseline="0">
                <a:latin typeface="メイリオ" panose="020B0604030504040204" pitchFamily="34" charset="-128"/>
                <a:ea typeface="メイリオ" panose="020B0604030504040204" pitchFamily="34" charset="-128"/>
              </a:defRPr>
            </a:lvl4pPr>
            <a:lvl5pPr>
              <a:defRPr baseline="0">
                <a:latin typeface="メイリオ" panose="020B0604030504040204" pitchFamily="34" charset="-128"/>
                <a:ea typeface="メイリオ" panose="020B0604030504040204" pitchFamily="34" charset="-12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hasCustomPrompt="1"/>
          </p:nvPr>
        </p:nvSpPr>
        <p:spPr>
          <a:xfrm>
            <a:off x="6318928" y="2633472"/>
            <a:ext cx="5212080" cy="3566160"/>
          </a:xfrm>
        </p:spPr>
        <p:txBody>
          <a:bodyPr/>
          <a:lstStyle>
            <a:lvl1pPr>
              <a:defRPr baseline="0">
                <a:latin typeface="メイリオ" panose="020B0604030504040204" pitchFamily="34" charset="-128"/>
                <a:ea typeface="メイリオ" panose="020B0604030504040204" pitchFamily="34" charset="-128"/>
              </a:defRPr>
            </a:lvl1pPr>
            <a:lvl2pPr>
              <a:defRPr baseline="0">
                <a:latin typeface="メイリオ" panose="020B0604030504040204" pitchFamily="34" charset="-128"/>
                <a:ea typeface="メイリオ" panose="020B0604030504040204" pitchFamily="34" charset="-128"/>
              </a:defRPr>
            </a:lvl2pPr>
            <a:lvl3pPr>
              <a:defRPr baseline="0">
                <a:latin typeface="メイリオ" panose="020B0604030504040204" pitchFamily="34" charset="-128"/>
                <a:ea typeface="メイリオ" panose="020B0604030504040204" pitchFamily="34" charset="-128"/>
              </a:defRPr>
            </a:lvl3pPr>
            <a:lvl4pPr>
              <a:defRPr baseline="0">
                <a:latin typeface="メイリオ" panose="020B0604030504040204" pitchFamily="34" charset="-128"/>
                <a:ea typeface="メイリオ" panose="020B0604030504040204" pitchFamily="34" charset="-128"/>
              </a:defRPr>
            </a:lvl4pPr>
            <a:lvl5pPr>
              <a:defRPr baseline="0">
                <a:latin typeface="メイリオ" panose="020B0604030504040204" pitchFamily="34" charset="-128"/>
                <a:ea typeface="メイリオ" panose="020B0604030504040204" pitchFamily="34" charset="-12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10/13/26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28591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10/13/26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8460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10/13/26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85750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10/13/26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70051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10/13/26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97393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10/13/26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46505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10/13/26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03639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10/13/26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43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ja-JP" altLang="en-US"/>
              <a:t>マスター タイトルの書式設定</a:t>
            </a:r>
            <a:endParaRPr lang="en-US"/>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ja-JP" altLang="en-US"/>
              <a:t>マスター サブタイトルの書式設定</a:t>
            </a:r>
            <a:endParaRPr lang="en-US"/>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E80C50CD-E178-4744-9B35-B2F624D6C5E9}" type="datetimeFigureOut">
              <a:rPr lang="en-US" smtClean="0"/>
              <a:pPr/>
              <a:t>10/13/26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739997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lIns="109728" tIns="109728" rIns="109728" bIns="91440" anchor="t"/>
          <a:lstStyle/>
          <a:p>
            <a:r>
              <a:rPr lang="en-US" dirty="0"/>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lIns="109728" tIns="109728" rIns="109728" bIns="9144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lIns="109728" tIns="109728" rIns="109728" bIns="91440" anchor="ctr"/>
          <a:lstStyle>
            <a:lvl1pPr algn="l">
              <a:defRPr sz="1050" b="0" cap="none" spc="100" baseline="0">
                <a:solidFill>
                  <a:schemeClr val="tx1"/>
                </a:solidFill>
              </a:defRPr>
            </a:lvl1pPr>
          </a:lstStyle>
          <a:p>
            <a:fld id="{7DA38F49-B3E2-4BF0-BEC7-C30D34ABBB8D}" type="datetime1">
              <a:rPr lang="en-US" smtClean="0"/>
              <a:t>10/13/26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lIns="109728" tIns="109728" rIns="109728" bIns="91440" anchor="ctr"/>
          <a:lstStyle>
            <a:lvl1pPr algn="r">
              <a:defRPr sz="1050" b="0" cap="none" spc="1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lIns="109728" tIns="109728" rIns="109728" bIns="91440" anchor="ctr"/>
          <a:lstStyle>
            <a:lvl1pPr algn="r">
              <a:defRPr sz="1050" b="0" cap="none" spc="1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1255722"/>
      </p:ext>
    </p:extLst>
  </p:cSld>
  <p:clrMap bg1="lt1" tx1="dk1" bg2="lt2" tx2="dk2" accent1="accent1" accent2="accent2" accent3="accent3" accent4="accent4" accent5="accent5" accent6="accent6" hlink="hlink" folHlink="folHlink"/>
  <p:sldLayoutIdLst>
    <p:sldLayoutId id="2147484020" r:id="rId1"/>
    <p:sldLayoutId id="2147484021" r:id="rId2"/>
    <p:sldLayoutId id="2147484022" r:id="rId3"/>
    <p:sldLayoutId id="2147484023" r:id="rId4"/>
    <p:sldLayoutId id="2147484012" r:id="rId5"/>
    <p:sldLayoutId id="2147484013" r:id="rId6"/>
    <p:sldLayoutId id="2147484019" r:id="rId7"/>
    <p:sldLayoutId id="2147484014" r:id="rId8"/>
    <p:sldLayoutId id="2147484015" r:id="rId9"/>
    <p:sldLayoutId id="2147484016" r:id="rId10"/>
    <p:sldLayoutId id="2147484017" r:id="rId11"/>
    <p:sldLayoutId id="2147484018" r:id="rId12"/>
  </p:sldLayoutIdLst>
  <p:hf sldNum="0" hdr="0" ftr="0" dt="0"/>
  <p:txStyles>
    <p:titleStyle>
      <a:lvl1pPr algn="l" defTabSz="914400" rtl="0" eaLnBrk="1" latinLnBrk="0" hangingPunct="1">
        <a:lnSpc>
          <a:spcPct val="120000"/>
        </a:lnSpc>
        <a:spcBef>
          <a:spcPct val="0"/>
        </a:spcBef>
        <a:buNone/>
        <a:defRPr sz="4000" b="1" kern="1200" spc="130" baseline="0">
          <a:solidFill>
            <a:schemeClr val="tx1"/>
          </a:solidFill>
          <a:latin typeface="メイリオ" panose="020B0604030504040204" pitchFamily="34" charset="-128"/>
          <a:ea typeface="メイリオ" panose="020B0604030504040204" pitchFamily="34" charset="-128"/>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spc="1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spc="1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spc="1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spc="1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spc="1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4"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072B756-DCA1-308F-27A8-57C919FD8FF1}"/>
              </a:ext>
            </a:extLst>
          </p:cNvPr>
          <p:cNvSpPr>
            <a:spLocks noGrp="1"/>
          </p:cNvSpPr>
          <p:nvPr>
            <p:ph type="ctrTitle"/>
          </p:nvPr>
        </p:nvSpPr>
        <p:spPr>
          <a:xfrm>
            <a:off x="713232" y="1010091"/>
            <a:ext cx="7628663" cy="2682240"/>
          </a:xfrm>
        </p:spPr>
        <p:txBody>
          <a:bodyPr vert="horz" lIns="91440" tIns="45720" rIns="91440" bIns="45720" rtlCol="0" anchor="b">
            <a:normAutofit/>
          </a:bodyPr>
          <a:lstStyle/>
          <a:p>
            <a:pPr>
              <a:lnSpc>
                <a:spcPct val="100000"/>
              </a:lnSpc>
            </a:pPr>
            <a:r>
              <a:rPr kumimoji="1" lang="en-US" altLang="ja-JP" sz="4000" dirty="0">
                <a:solidFill>
                  <a:schemeClr val="tx1"/>
                </a:solidFill>
              </a:rPr>
              <a:t>LLM</a:t>
            </a:r>
            <a:r>
              <a:rPr kumimoji="1" lang="ja-JP" altLang="en-US" sz="4000">
                <a:solidFill>
                  <a:schemeClr val="tx1"/>
                </a:solidFill>
              </a:rPr>
              <a:t>による株式リターン予測とポートフォリオ最適化の検証</a:t>
            </a:r>
            <a:endParaRPr kumimoji="1" lang="en-US" altLang="ja-JP" sz="4000" dirty="0">
              <a:solidFill>
                <a:schemeClr val="tx1"/>
              </a:solidFill>
            </a:endParaRPr>
          </a:p>
        </p:txBody>
      </p:sp>
      <p:cxnSp>
        <p:nvCxnSpPr>
          <p:cNvPr id="23" name="Straight Connector 12">
            <a:extLst>
              <a:ext uri="{FF2B5EF4-FFF2-40B4-BE49-F238E27FC236}">
                <a16:creationId xmlns:a16="http://schemas.microsoft.com/office/drawing/2014/main" id="{84EE7F79-08E8-405E-9B6D-B1560F34848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1585" y="1027306"/>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図 3">
            <a:extLst>
              <a:ext uri="{FF2B5EF4-FFF2-40B4-BE49-F238E27FC236}">
                <a16:creationId xmlns:a16="http://schemas.microsoft.com/office/drawing/2014/main" id="{4996B3B9-B6E6-EB51-833D-AAF3722625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22016" y="0"/>
            <a:ext cx="1369984" cy="898351"/>
          </a:xfrm>
          <a:prstGeom prst="rect">
            <a:avLst/>
          </a:prstGeom>
        </p:spPr>
      </p:pic>
      <p:sp>
        <p:nvSpPr>
          <p:cNvPr id="63" name="テキスト ボックス 62">
            <a:extLst>
              <a:ext uri="{FF2B5EF4-FFF2-40B4-BE49-F238E27FC236}">
                <a16:creationId xmlns:a16="http://schemas.microsoft.com/office/drawing/2014/main" id="{23563D55-188B-3B5C-E67B-FF350828676B}"/>
              </a:ext>
            </a:extLst>
          </p:cNvPr>
          <p:cNvSpPr txBox="1"/>
          <p:nvPr/>
        </p:nvSpPr>
        <p:spPr>
          <a:xfrm>
            <a:off x="850231" y="5053263"/>
            <a:ext cx="5390147" cy="646331"/>
          </a:xfrm>
          <a:prstGeom prst="rect">
            <a:avLst/>
          </a:prstGeom>
          <a:noFill/>
        </p:spPr>
        <p:txBody>
          <a:bodyPr wrap="square" rtlCol="0">
            <a:spAutoFit/>
          </a:bodyPr>
          <a:lstStyle/>
          <a:p>
            <a:r>
              <a:rPr lang="ja-JP" altLang="en-US"/>
              <a:t>電気通信大学　情報理工学域</a:t>
            </a:r>
            <a:r>
              <a:rPr lang="en-US" altLang="ja-JP" dirty="0"/>
              <a:t>Ⅲ</a:t>
            </a:r>
            <a:r>
              <a:rPr lang="ja-JP" altLang="en-US"/>
              <a:t>類　小嶋一輝</a:t>
            </a:r>
            <a:endParaRPr lang="en-US" altLang="ja-JP" dirty="0"/>
          </a:p>
          <a:p>
            <a:r>
              <a:rPr kumimoji="1" lang="en-US" altLang="ja-JP" dirty="0"/>
              <a:t>2026</a:t>
            </a:r>
            <a:r>
              <a:rPr kumimoji="1" lang="ja-JP" altLang="en-US"/>
              <a:t>年</a:t>
            </a:r>
            <a:r>
              <a:rPr kumimoji="1" lang="en-US" altLang="ja-JP" dirty="0"/>
              <a:t>11</a:t>
            </a:r>
            <a:r>
              <a:rPr kumimoji="1" lang="ja-JP" altLang="en-US"/>
              <a:t>月</a:t>
            </a:r>
          </a:p>
        </p:txBody>
      </p:sp>
    </p:spTree>
    <p:extLst>
      <p:ext uri="{BB962C8B-B14F-4D97-AF65-F5344CB8AC3E}">
        <p14:creationId xmlns:p14="http://schemas.microsoft.com/office/powerpoint/2010/main" val="4172862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13C31006-D052-A7BE-E448-779A2330A033}"/>
              </a:ext>
            </a:extLst>
          </p:cNvPr>
          <p:cNvSpPr>
            <a:spLocks noGrp="1"/>
          </p:cNvSpPr>
          <p:nvPr>
            <p:ph type="subTitle" idx="1"/>
          </p:nvPr>
        </p:nvSpPr>
        <p:spPr>
          <a:xfrm>
            <a:off x="945682" y="949737"/>
            <a:ext cx="8374782" cy="482210"/>
          </a:xfrm>
        </p:spPr>
        <p:txBody>
          <a:bodyPr/>
          <a:lstStyle/>
          <a:p>
            <a:r>
              <a:rPr kumimoji="1" lang="ja-JP" altLang="en-US" b="1">
                <a:solidFill>
                  <a:schemeClr val="accent1"/>
                </a:solidFill>
                <a:latin typeface="メイリオ" panose="020B0604030504040204" pitchFamily="34" charset="-128"/>
              </a:rPr>
              <a:t>背景・目的</a:t>
            </a:r>
          </a:p>
        </p:txBody>
      </p:sp>
      <p:cxnSp>
        <p:nvCxnSpPr>
          <p:cNvPr id="5" name="直線コネクタ 4">
            <a:extLst>
              <a:ext uri="{FF2B5EF4-FFF2-40B4-BE49-F238E27FC236}">
                <a16:creationId xmlns:a16="http://schemas.microsoft.com/office/drawing/2014/main" id="{9C785E0F-F4E8-1815-4A59-23BAC140BCB3}"/>
              </a:ext>
            </a:extLst>
          </p:cNvPr>
          <p:cNvCxnSpPr>
            <a:cxnSpLocks/>
          </p:cNvCxnSpPr>
          <p:nvPr/>
        </p:nvCxnSpPr>
        <p:spPr>
          <a:xfrm flipH="1">
            <a:off x="853791" y="1412485"/>
            <a:ext cx="10199396" cy="0"/>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20BBD89A-40F3-3F2C-8534-17461AEAE7B0}"/>
              </a:ext>
            </a:extLst>
          </p:cNvPr>
          <p:cNvSpPr txBox="1"/>
          <p:nvPr/>
        </p:nvSpPr>
        <p:spPr>
          <a:xfrm>
            <a:off x="495968" y="185884"/>
            <a:ext cx="3962400" cy="754053"/>
          </a:xfrm>
          <a:prstGeom prst="rect">
            <a:avLst/>
          </a:prstGeom>
          <a:noFill/>
        </p:spPr>
        <p:txBody>
          <a:bodyPr wrap="square" rtlCol="0">
            <a:spAutoFit/>
          </a:bodyPr>
          <a:lstStyle/>
          <a:p>
            <a:r>
              <a:rPr kumimoji="1" lang="ja-JP" altLang="en-US" sz="4300" b="1">
                <a:latin typeface="+mj-lt"/>
                <a:ea typeface="メイリオ" panose="020B0604030504040204" pitchFamily="34" charset="-128"/>
              </a:rPr>
              <a:t>概要</a:t>
            </a:r>
          </a:p>
        </p:txBody>
      </p:sp>
      <p:sp>
        <p:nvSpPr>
          <p:cNvPr id="10" name="円/楕円 9">
            <a:extLst>
              <a:ext uri="{FF2B5EF4-FFF2-40B4-BE49-F238E27FC236}">
                <a16:creationId xmlns:a16="http://schemas.microsoft.com/office/drawing/2014/main" id="{C0065CBC-296C-4BC8-6EE0-0069E4EC44DD}"/>
              </a:ext>
            </a:extLst>
          </p:cNvPr>
          <p:cNvSpPr/>
          <p:nvPr/>
        </p:nvSpPr>
        <p:spPr>
          <a:xfrm>
            <a:off x="1262874" y="1643906"/>
            <a:ext cx="115294" cy="1068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3A03E5E5-58A7-28DD-75FB-D2781F283C5B}"/>
              </a:ext>
            </a:extLst>
          </p:cNvPr>
          <p:cNvSpPr txBox="1"/>
          <p:nvPr/>
        </p:nvSpPr>
        <p:spPr>
          <a:xfrm>
            <a:off x="1467059" y="1483840"/>
            <a:ext cx="9678019" cy="646331"/>
          </a:xfrm>
          <a:prstGeom prst="rect">
            <a:avLst/>
          </a:prstGeom>
          <a:noFill/>
        </p:spPr>
        <p:txBody>
          <a:bodyPr wrap="square" rtlCol="0">
            <a:spAutoFit/>
          </a:bodyPr>
          <a:lstStyle/>
          <a:p>
            <a:r>
              <a:rPr lang="en-US" altLang="ja-JP" dirty="0">
                <a:latin typeface="メイリオ" panose="020B0604030504040204" pitchFamily="34" charset="-128"/>
              </a:rPr>
              <a:t>LLM</a:t>
            </a:r>
            <a:r>
              <a:rPr lang="ja-JP" altLang="en-US">
                <a:latin typeface="メイリオ" panose="020B0604030504040204" pitchFamily="34" charset="-128"/>
              </a:rPr>
              <a:t>を用いて金融ニュースを分析した投資手法が投資パフォーマンスを引き上げることが統計的に関連することが報告されている。</a:t>
            </a:r>
            <a:r>
              <a:rPr lang="en-US" altLang="ja-JP" dirty="0">
                <a:latin typeface="メイリオ" panose="020B0604030504040204" pitchFamily="34" charset="-128"/>
              </a:rPr>
              <a:t>[1]</a:t>
            </a:r>
            <a:endParaRPr kumimoji="1" lang="ja-JP" altLang="en-US">
              <a:latin typeface="メイリオ" panose="020B0604030504040204" pitchFamily="34" charset="-128"/>
            </a:endParaRPr>
          </a:p>
        </p:txBody>
      </p:sp>
      <p:sp>
        <p:nvSpPr>
          <p:cNvPr id="15" name="円/楕円 14">
            <a:extLst>
              <a:ext uri="{FF2B5EF4-FFF2-40B4-BE49-F238E27FC236}">
                <a16:creationId xmlns:a16="http://schemas.microsoft.com/office/drawing/2014/main" id="{2FD35F77-224F-2122-190A-872350056E70}"/>
              </a:ext>
            </a:extLst>
          </p:cNvPr>
          <p:cNvSpPr/>
          <p:nvPr/>
        </p:nvSpPr>
        <p:spPr>
          <a:xfrm>
            <a:off x="1259874" y="2281138"/>
            <a:ext cx="115294" cy="1068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3CE65BAE-776B-E7B5-C7CA-0B4439047FE3}"/>
              </a:ext>
            </a:extLst>
          </p:cNvPr>
          <p:cNvSpPr txBox="1"/>
          <p:nvPr/>
        </p:nvSpPr>
        <p:spPr>
          <a:xfrm>
            <a:off x="1467059" y="2118049"/>
            <a:ext cx="9586128" cy="646331"/>
          </a:xfrm>
          <a:prstGeom prst="rect">
            <a:avLst/>
          </a:prstGeom>
          <a:noFill/>
        </p:spPr>
        <p:txBody>
          <a:bodyPr wrap="square" rtlCol="0">
            <a:spAutoFit/>
          </a:bodyPr>
          <a:lstStyle/>
          <a:p>
            <a:r>
              <a:rPr kumimoji="1" lang="en-US" altLang="ja-JP" dirty="0">
                <a:latin typeface="メイリオ" panose="020B0604030504040204" pitchFamily="34" charset="-128"/>
              </a:rPr>
              <a:t>LLM</a:t>
            </a:r>
            <a:r>
              <a:rPr kumimoji="1" lang="ja-JP" altLang="en-US">
                <a:latin typeface="メイリオ" panose="020B0604030504040204" pitchFamily="34" charset="-128"/>
              </a:rPr>
              <a:t>は大規模な非構造データを解釈し新たな戦略を生成できる。株式自動取引においてルールや構造データベースの取引から</a:t>
            </a:r>
            <a:r>
              <a:rPr kumimoji="1" lang="en-US" altLang="ja-JP" dirty="0">
                <a:latin typeface="メイリオ" panose="020B0604030504040204" pitchFamily="34" charset="-128"/>
              </a:rPr>
              <a:t>LLM</a:t>
            </a:r>
            <a:r>
              <a:rPr kumimoji="1" lang="ja-JP" altLang="en-US">
                <a:latin typeface="メイリオ" panose="020B0604030504040204" pitchFamily="34" charset="-128"/>
              </a:rPr>
              <a:t>を用いた取引が注目されている。</a:t>
            </a:r>
          </a:p>
        </p:txBody>
      </p:sp>
      <p:cxnSp>
        <p:nvCxnSpPr>
          <p:cNvPr id="17" name="直線コネクタ 16">
            <a:extLst>
              <a:ext uri="{FF2B5EF4-FFF2-40B4-BE49-F238E27FC236}">
                <a16:creationId xmlns:a16="http://schemas.microsoft.com/office/drawing/2014/main" id="{726977BE-488F-4915-09A2-BA3131BAEA97}"/>
              </a:ext>
            </a:extLst>
          </p:cNvPr>
          <p:cNvCxnSpPr>
            <a:cxnSpLocks/>
          </p:cNvCxnSpPr>
          <p:nvPr/>
        </p:nvCxnSpPr>
        <p:spPr>
          <a:xfrm flipH="1">
            <a:off x="739045" y="3247872"/>
            <a:ext cx="10199396" cy="0"/>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字幕 2">
            <a:extLst>
              <a:ext uri="{FF2B5EF4-FFF2-40B4-BE49-F238E27FC236}">
                <a16:creationId xmlns:a16="http://schemas.microsoft.com/office/drawing/2014/main" id="{A8359B29-28C2-5329-3B00-A455AA9205F1}"/>
              </a:ext>
            </a:extLst>
          </p:cNvPr>
          <p:cNvSpPr txBox="1">
            <a:spLocks/>
          </p:cNvSpPr>
          <p:nvPr/>
        </p:nvSpPr>
        <p:spPr>
          <a:xfrm>
            <a:off x="945682" y="2808085"/>
            <a:ext cx="8374782" cy="439787"/>
          </a:xfrm>
          <a:prstGeom prst="rect">
            <a:avLst/>
          </a:prstGeom>
        </p:spPr>
        <p:txBody>
          <a:bodyPr vert="horz" lIns="91440" tIns="45720" rIns="91440" bIns="45720" rtlCol="0" anchor="ctr">
            <a:normAutofit lnSpcReduction="10000"/>
          </a:bodyPr>
          <a:lstStyle>
            <a:lvl1pPr marL="0" indent="0" algn="l" defTabSz="914400" rtl="0" eaLnBrk="1" latinLnBrk="0" hangingPunct="1">
              <a:lnSpc>
                <a:spcPct val="120000"/>
              </a:lnSpc>
              <a:spcBef>
                <a:spcPts val="1000"/>
              </a:spcBef>
              <a:buSzPct val="87000"/>
              <a:buFont typeface="Arial" panose="020B0604020202020204" pitchFamily="34" charset="0"/>
              <a:buNone/>
              <a:defRPr lang="en-US" sz="2000" kern="1200" spc="100" dirty="0">
                <a:solidFill>
                  <a:schemeClr val="tx2"/>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spc="1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spc="1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spc="1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spc="1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ja-JP" altLang="en-US" b="1">
                <a:solidFill>
                  <a:schemeClr val="accent1"/>
                </a:solidFill>
                <a:latin typeface="メイリオ" panose="020B0604030504040204" pitchFamily="34" charset="-128"/>
              </a:rPr>
              <a:t>実施内容</a:t>
            </a:r>
            <a:endParaRPr kumimoji="1" lang="ja-JP" altLang="en-US" b="1">
              <a:solidFill>
                <a:schemeClr val="accent1"/>
              </a:solidFill>
              <a:latin typeface="メイリオ" panose="020B0604030504040204" pitchFamily="34" charset="-128"/>
            </a:endParaRPr>
          </a:p>
        </p:txBody>
      </p:sp>
      <p:sp>
        <p:nvSpPr>
          <p:cNvPr id="21" name="テキスト ボックス 20">
            <a:extLst>
              <a:ext uri="{FF2B5EF4-FFF2-40B4-BE49-F238E27FC236}">
                <a16:creationId xmlns:a16="http://schemas.microsoft.com/office/drawing/2014/main" id="{5EF3F9B2-FBE9-435D-CB1E-5C2A536CE7D5}"/>
              </a:ext>
            </a:extLst>
          </p:cNvPr>
          <p:cNvSpPr txBox="1"/>
          <p:nvPr/>
        </p:nvSpPr>
        <p:spPr>
          <a:xfrm>
            <a:off x="1467058" y="3318327"/>
            <a:ext cx="9827557" cy="369332"/>
          </a:xfrm>
          <a:prstGeom prst="rect">
            <a:avLst/>
          </a:prstGeom>
          <a:noFill/>
        </p:spPr>
        <p:txBody>
          <a:bodyPr wrap="square" rtlCol="0">
            <a:spAutoFit/>
          </a:bodyPr>
          <a:lstStyle/>
          <a:p>
            <a:r>
              <a:rPr lang="en-US" altLang="ja-JP" dirty="0">
                <a:latin typeface="メイリオ" panose="020B0604030504040204" pitchFamily="34" charset="-128"/>
              </a:rPr>
              <a:t>LLM</a:t>
            </a:r>
            <a:r>
              <a:rPr lang="ja-JP" altLang="en-US">
                <a:latin typeface="メイリオ" panose="020B0604030504040204" pitchFamily="34" charset="-128"/>
              </a:rPr>
              <a:t>を株式取引に応用するための方法・知見の収集及び基本方針の策定した</a:t>
            </a:r>
            <a:endParaRPr kumimoji="1" lang="ja-JP" altLang="en-US">
              <a:latin typeface="メイリオ" panose="020B0604030504040204" pitchFamily="34" charset="-128"/>
            </a:endParaRPr>
          </a:p>
        </p:txBody>
      </p:sp>
      <p:sp>
        <p:nvSpPr>
          <p:cNvPr id="25" name="円/楕円 24">
            <a:extLst>
              <a:ext uri="{FF2B5EF4-FFF2-40B4-BE49-F238E27FC236}">
                <a16:creationId xmlns:a16="http://schemas.microsoft.com/office/drawing/2014/main" id="{A498914C-B21F-450B-0117-B43AEE253211}"/>
              </a:ext>
            </a:extLst>
          </p:cNvPr>
          <p:cNvSpPr/>
          <p:nvPr/>
        </p:nvSpPr>
        <p:spPr>
          <a:xfrm>
            <a:off x="1248414" y="3408953"/>
            <a:ext cx="115294" cy="1068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26">
            <a:extLst>
              <a:ext uri="{FF2B5EF4-FFF2-40B4-BE49-F238E27FC236}">
                <a16:creationId xmlns:a16="http://schemas.microsoft.com/office/drawing/2014/main" id="{83F3A4B4-C9DC-55A0-C713-097B5E00655E}"/>
              </a:ext>
            </a:extLst>
          </p:cNvPr>
          <p:cNvSpPr/>
          <p:nvPr/>
        </p:nvSpPr>
        <p:spPr>
          <a:xfrm>
            <a:off x="1252797" y="3797565"/>
            <a:ext cx="115294" cy="1068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27">
            <a:extLst>
              <a:ext uri="{FF2B5EF4-FFF2-40B4-BE49-F238E27FC236}">
                <a16:creationId xmlns:a16="http://schemas.microsoft.com/office/drawing/2014/main" id="{ECDFB623-2127-D504-D1BC-B4C009AB20E0}"/>
              </a:ext>
            </a:extLst>
          </p:cNvPr>
          <p:cNvSpPr/>
          <p:nvPr/>
        </p:nvSpPr>
        <p:spPr>
          <a:xfrm>
            <a:off x="1259873" y="4214041"/>
            <a:ext cx="115294" cy="1068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156E3896-BD20-9C61-59D8-4244A48A54C2}"/>
              </a:ext>
            </a:extLst>
          </p:cNvPr>
          <p:cNvSpPr txBox="1"/>
          <p:nvPr/>
        </p:nvSpPr>
        <p:spPr>
          <a:xfrm>
            <a:off x="1467058" y="3702218"/>
            <a:ext cx="9586128" cy="369332"/>
          </a:xfrm>
          <a:prstGeom prst="rect">
            <a:avLst/>
          </a:prstGeom>
          <a:noFill/>
        </p:spPr>
        <p:txBody>
          <a:bodyPr wrap="square" rtlCol="0">
            <a:spAutoFit/>
          </a:bodyPr>
          <a:lstStyle/>
          <a:p>
            <a:r>
              <a:rPr kumimoji="1" lang="ja-JP" altLang="en-US"/>
              <a:t>アーキテクチャ設計及びプログラムの作成、株式データ取得・成型を行なった。</a:t>
            </a:r>
          </a:p>
        </p:txBody>
      </p:sp>
      <p:sp>
        <p:nvSpPr>
          <p:cNvPr id="30" name="テキスト ボックス 29">
            <a:extLst>
              <a:ext uri="{FF2B5EF4-FFF2-40B4-BE49-F238E27FC236}">
                <a16:creationId xmlns:a16="http://schemas.microsoft.com/office/drawing/2014/main" id="{0FDBDFE8-14AD-9952-8EA1-EBFFD6FF084C}"/>
              </a:ext>
            </a:extLst>
          </p:cNvPr>
          <p:cNvSpPr txBox="1"/>
          <p:nvPr/>
        </p:nvSpPr>
        <p:spPr>
          <a:xfrm>
            <a:off x="1467058" y="4122508"/>
            <a:ext cx="9586128" cy="646331"/>
          </a:xfrm>
          <a:prstGeom prst="rect">
            <a:avLst/>
          </a:prstGeom>
          <a:noFill/>
        </p:spPr>
        <p:txBody>
          <a:bodyPr wrap="square" rtlCol="0">
            <a:spAutoFit/>
          </a:bodyPr>
          <a:lstStyle/>
          <a:p>
            <a:r>
              <a:rPr kumimoji="1" lang="en-US" altLang="ja-JP" dirty="0"/>
              <a:t>LLM</a:t>
            </a:r>
            <a:r>
              <a:rPr kumimoji="1" lang="ja-JP" altLang="en-US"/>
              <a:t>による株式リターン予測の実行、ポートフォリオ最適化の実施及び加重平均型・一般的な平均分散ポートフォリオ最適化との比較した。</a:t>
            </a:r>
          </a:p>
        </p:txBody>
      </p:sp>
      <p:cxnSp>
        <p:nvCxnSpPr>
          <p:cNvPr id="31" name="直線コネクタ 30">
            <a:extLst>
              <a:ext uri="{FF2B5EF4-FFF2-40B4-BE49-F238E27FC236}">
                <a16:creationId xmlns:a16="http://schemas.microsoft.com/office/drawing/2014/main" id="{FFA77DC7-0A33-58F6-50CD-4EA7729F6686}"/>
              </a:ext>
            </a:extLst>
          </p:cNvPr>
          <p:cNvCxnSpPr>
            <a:cxnSpLocks/>
          </p:cNvCxnSpPr>
          <p:nvPr/>
        </p:nvCxnSpPr>
        <p:spPr>
          <a:xfrm flipH="1">
            <a:off x="739045" y="5146133"/>
            <a:ext cx="10199396" cy="0"/>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字幕 2">
            <a:extLst>
              <a:ext uri="{FF2B5EF4-FFF2-40B4-BE49-F238E27FC236}">
                <a16:creationId xmlns:a16="http://schemas.microsoft.com/office/drawing/2014/main" id="{A2CE3A14-D6F0-DFCB-4CCA-80511ABCACBB}"/>
              </a:ext>
            </a:extLst>
          </p:cNvPr>
          <p:cNvSpPr txBox="1">
            <a:spLocks/>
          </p:cNvSpPr>
          <p:nvPr/>
        </p:nvSpPr>
        <p:spPr>
          <a:xfrm>
            <a:off x="945682" y="4758004"/>
            <a:ext cx="8374782" cy="398965"/>
          </a:xfrm>
          <a:prstGeom prst="rect">
            <a:avLst/>
          </a:prstGeom>
        </p:spPr>
        <p:txBody>
          <a:bodyPr vert="horz" lIns="91440" tIns="45720" rIns="91440" bIns="45720" rtlCol="0" anchor="ctr">
            <a:normAutofit fontScale="92500" lnSpcReduction="20000"/>
          </a:bodyPr>
          <a:lstStyle>
            <a:lvl1pPr marL="0" indent="0" algn="l" defTabSz="914400" rtl="0" eaLnBrk="1" latinLnBrk="0" hangingPunct="1">
              <a:lnSpc>
                <a:spcPct val="120000"/>
              </a:lnSpc>
              <a:spcBef>
                <a:spcPts val="1000"/>
              </a:spcBef>
              <a:buSzPct val="87000"/>
              <a:buFont typeface="Arial" panose="020B0604020202020204" pitchFamily="34" charset="0"/>
              <a:buNone/>
              <a:defRPr lang="en-US" sz="2000" kern="1200" spc="100" dirty="0">
                <a:solidFill>
                  <a:schemeClr val="tx2"/>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spc="1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spc="1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spc="1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spc="1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ja-JP" altLang="en-US" b="1">
                <a:solidFill>
                  <a:schemeClr val="accent1"/>
                </a:solidFill>
                <a:latin typeface="メイリオ" panose="020B0604030504040204" pitchFamily="34" charset="-128"/>
              </a:rPr>
              <a:t>結果・今後の課題</a:t>
            </a:r>
          </a:p>
        </p:txBody>
      </p:sp>
      <p:sp>
        <p:nvSpPr>
          <p:cNvPr id="33" name="円/楕円 32">
            <a:extLst>
              <a:ext uri="{FF2B5EF4-FFF2-40B4-BE49-F238E27FC236}">
                <a16:creationId xmlns:a16="http://schemas.microsoft.com/office/drawing/2014/main" id="{429647D3-D651-42A9-EFD3-CB26F4011107}"/>
              </a:ext>
            </a:extLst>
          </p:cNvPr>
          <p:cNvSpPr/>
          <p:nvPr/>
        </p:nvSpPr>
        <p:spPr>
          <a:xfrm>
            <a:off x="1253557" y="5372604"/>
            <a:ext cx="115294" cy="1068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31A0C97A-E5B8-19F1-2663-88A49B07D1CE}"/>
              </a:ext>
            </a:extLst>
          </p:cNvPr>
          <p:cNvSpPr txBox="1"/>
          <p:nvPr/>
        </p:nvSpPr>
        <p:spPr>
          <a:xfrm>
            <a:off x="1467058" y="5221932"/>
            <a:ext cx="9471383" cy="646331"/>
          </a:xfrm>
          <a:prstGeom prst="rect">
            <a:avLst/>
          </a:prstGeom>
          <a:noFill/>
        </p:spPr>
        <p:txBody>
          <a:bodyPr wrap="square" rtlCol="0">
            <a:spAutoFit/>
          </a:bodyPr>
          <a:lstStyle/>
          <a:p>
            <a:r>
              <a:rPr kumimoji="1" lang="ja-JP" altLang="en-US"/>
              <a:t>引用元の論文による最適化プログラム</a:t>
            </a:r>
            <a:r>
              <a:rPr kumimoji="1" lang="en-US" altLang="ja-JP" dirty="0"/>
              <a:t>(Black-</a:t>
            </a:r>
            <a:r>
              <a:rPr kumimoji="1" lang="en-US" altLang="ja-JP" dirty="0" err="1"/>
              <a:t>Litterman</a:t>
            </a:r>
            <a:r>
              <a:rPr kumimoji="1" lang="ja-JP" altLang="en-US"/>
              <a:t>モデル</a:t>
            </a:r>
            <a:r>
              <a:rPr kumimoji="1" lang="en-US" altLang="ja-JP" dirty="0"/>
              <a:t>)</a:t>
            </a:r>
            <a:r>
              <a:rPr kumimoji="1" lang="ja-JP" altLang="en-US"/>
              <a:t>ではほぼ</a:t>
            </a:r>
            <a:r>
              <a:rPr kumimoji="1" lang="en-US" altLang="ja-JP" dirty="0"/>
              <a:t>LLM</a:t>
            </a:r>
            <a:r>
              <a:rPr kumimoji="1" lang="ja-JP" altLang="en-US"/>
              <a:t>の予測になってしまい、リスクが大きすぎるためモデルの改善を実施する。</a:t>
            </a:r>
          </a:p>
        </p:txBody>
      </p:sp>
      <p:sp>
        <p:nvSpPr>
          <p:cNvPr id="35" name="円/楕円 34">
            <a:extLst>
              <a:ext uri="{FF2B5EF4-FFF2-40B4-BE49-F238E27FC236}">
                <a16:creationId xmlns:a16="http://schemas.microsoft.com/office/drawing/2014/main" id="{7335E74A-F202-759B-9316-7AE1C2B1A225}"/>
              </a:ext>
            </a:extLst>
          </p:cNvPr>
          <p:cNvSpPr/>
          <p:nvPr/>
        </p:nvSpPr>
        <p:spPr>
          <a:xfrm>
            <a:off x="1242614" y="5998908"/>
            <a:ext cx="115294" cy="1068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45459562-837F-E6D2-B26F-1EEE926DB8B3}"/>
              </a:ext>
            </a:extLst>
          </p:cNvPr>
          <p:cNvSpPr txBox="1"/>
          <p:nvPr/>
        </p:nvSpPr>
        <p:spPr>
          <a:xfrm>
            <a:off x="1467057" y="5871602"/>
            <a:ext cx="9471383" cy="369332"/>
          </a:xfrm>
          <a:prstGeom prst="rect">
            <a:avLst/>
          </a:prstGeom>
          <a:noFill/>
        </p:spPr>
        <p:txBody>
          <a:bodyPr wrap="square" rtlCol="0">
            <a:spAutoFit/>
          </a:bodyPr>
          <a:lstStyle/>
          <a:p>
            <a:r>
              <a:rPr lang="ja-JP" altLang="en-US"/>
              <a:t>実施結果をフィードバックする</a:t>
            </a:r>
            <a:r>
              <a:rPr lang="en-US" altLang="ja-JP" dirty="0"/>
              <a:t>LLM</a:t>
            </a:r>
            <a:r>
              <a:rPr lang="ja-JP" altLang="en-US"/>
              <a:t>の設計、新たな指標や変数の導入し考察する。</a:t>
            </a:r>
            <a:endParaRPr kumimoji="1" lang="ja-JP" altLang="en-US"/>
          </a:p>
        </p:txBody>
      </p:sp>
      <p:sp>
        <p:nvSpPr>
          <p:cNvPr id="38" name="テキスト ボックス 37">
            <a:extLst>
              <a:ext uri="{FF2B5EF4-FFF2-40B4-BE49-F238E27FC236}">
                <a16:creationId xmlns:a16="http://schemas.microsoft.com/office/drawing/2014/main" id="{A491D2EC-9454-477A-B57D-2A5B9F469E53}"/>
              </a:ext>
            </a:extLst>
          </p:cNvPr>
          <p:cNvSpPr txBox="1"/>
          <p:nvPr/>
        </p:nvSpPr>
        <p:spPr>
          <a:xfrm>
            <a:off x="739045" y="6420878"/>
            <a:ext cx="7860145" cy="246221"/>
          </a:xfrm>
          <a:prstGeom prst="rect">
            <a:avLst/>
          </a:prstGeom>
          <a:noFill/>
        </p:spPr>
        <p:txBody>
          <a:bodyPr wrap="square" rtlCol="0">
            <a:spAutoFit/>
          </a:bodyPr>
          <a:lstStyle/>
          <a:p>
            <a:r>
              <a:rPr lang="en-US" altLang="ja-JP" sz="1000" dirty="0">
                <a:latin typeface="メイリオ" panose="020B0604030504040204" pitchFamily="34" charset="-128"/>
              </a:rPr>
              <a:t>[1]</a:t>
            </a:r>
            <a:r>
              <a:rPr lang="ja-JP" altLang="ja-JP" sz="1000" dirty="0">
                <a:latin typeface="メイリオ" panose="020B0604030504040204" pitchFamily="34" charset="-128"/>
              </a:rPr>
              <a:t>Kemal Kirtac and Guido Germano. Sentiment trading with large language models. Finance Research Letters</a:t>
            </a:r>
            <a:r>
              <a:rPr lang="en-US" altLang="ja-JP" sz="1000" dirty="0">
                <a:latin typeface="メイリオ" panose="020B0604030504040204" pitchFamily="34" charset="-128"/>
              </a:rPr>
              <a:t>. 2024</a:t>
            </a:r>
            <a:endParaRPr kumimoji="1" lang="ja-JP" altLang="en-US" sz="1000" dirty="0">
              <a:latin typeface="メイリオ" panose="020B0604030504040204" pitchFamily="34" charset="-128"/>
            </a:endParaRPr>
          </a:p>
        </p:txBody>
      </p:sp>
    </p:spTree>
    <p:extLst>
      <p:ext uri="{BB962C8B-B14F-4D97-AF65-F5344CB8AC3E}">
        <p14:creationId xmlns:p14="http://schemas.microsoft.com/office/powerpoint/2010/main" val="4177442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E4847F5-1A76-A6EA-2014-163BAC0F85C0}"/>
              </a:ext>
            </a:extLst>
          </p:cNvPr>
          <p:cNvSpPr txBox="1"/>
          <p:nvPr/>
        </p:nvSpPr>
        <p:spPr>
          <a:xfrm>
            <a:off x="495968" y="185884"/>
            <a:ext cx="3962400" cy="754053"/>
          </a:xfrm>
          <a:prstGeom prst="rect">
            <a:avLst/>
          </a:prstGeom>
          <a:noFill/>
        </p:spPr>
        <p:txBody>
          <a:bodyPr wrap="square" rtlCol="0">
            <a:spAutoFit/>
          </a:bodyPr>
          <a:lstStyle/>
          <a:p>
            <a:r>
              <a:rPr kumimoji="1" lang="ja-JP" altLang="en-US" sz="4300" b="1">
                <a:latin typeface="+mj-lt"/>
                <a:ea typeface="メイリオ" panose="020B0604030504040204" pitchFamily="34" charset="-128"/>
              </a:rPr>
              <a:t>目次</a:t>
            </a:r>
          </a:p>
        </p:txBody>
      </p:sp>
      <p:sp>
        <p:nvSpPr>
          <p:cNvPr id="4" name="テキスト ボックス 3">
            <a:extLst>
              <a:ext uri="{FF2B5EF4-FFF2-40B4-BE49-F238E27FC236}">
                <a16:creationId xmlns:a16="http://schemas.microsoft.com/office/drawing/2014/main" id="{A6B580DF-4E31-BD87-D0B5-8280255D67D0}"/>
              </a:ext>
            </a:extLst>
          </p:cNvPr>
          <p:cNvSpPr txBox="1"/>
          <p:nvPr/>
        </p:nvSpPr>
        <p:spPr>
          <a:xfrm>
            <a:off x="679938" y="2271879"/>
            <a:ext cx="9812216" cy="369332"/>
          </a:xfrm>
          <a:prstGeom prst="rect">
            <a:avLst/>
          </a:prstGeom>
          <a:noFill/>
        </p:spPr>
        <p:txBody>
          <a:bodyPr wrap="square" rtlCol="0">
            <a:spAutoFit/>
          </a:bodyPr>
          <a:lstStyle/>
          <a:p>
            <a:r>
              <a:rPr lang="ja-JP" altLang="en-US" dirty="0">
                <a:latin typeface="メイリオ" panose="020B0604030504040204" pitchFamily="34" charset="-128"/>
                <a:ea typeface="メイリオ" panose="020B0604030504040204" pitchFamily="34" charset="-128"/>
              </a:rPr>
              <a:t>２</a:t>
            </a:r>
            <a:r>
              <a:rPr kumimoji="1" lang="ja-JP" altLang="en-US" dirty="0">
                <a:latin typeface="メイリオ" panose="020B0604030504040204" pitchFamily="34" charset="-128"/>
                <a:ea typeface="メイリオ" panose="020B0604030504040204" pitchFamily="34" charset="-128"/>
              </a:rPr>
              <a:t>．実施内容の概要</a:t>
            </a:r>
          </a:p>
        </p:txBody>
      </p:sp>
      <p:sp>
        <p:nvSpPr>
          <p:cNvPr id="5" name="テキスト ボックス 4">
            <a:extLst>
              <a:ext uri="{FF2B5EF4-FFF2-40B4-BE49-F238E27FC236}">
                <a16:creationId xmlns:a16="http://schemas.microsoft.com/office/drawing/2014/main" id="{025DC820-095A-AD23-14C8-8B7F7AA6688C}"/>
              </a:ext>
            </a:extLst>
          </p:cNvPr>
          <p:cNvSpPr txBox="1"/>
          <p:nvPr/>
        </p:nvSpPr>
        <p:spPr>
          <a:xfrm>
            <a:off x="679938" y="1361708"/>
            <a:ext cx="9812216" cy="369332"/>
          </a:xfrm>
          <a:prstGeom prst="rect">
            <a:avLst/>
          </a:prstGeom>
          <a:noFill/>
        </p:spPr>
        <p:txBody>
          <a:bodyPr wrap="square" rtlCol="0">
            <a:spAutoFit/>
          </a:bodyPr>
          <a:lstStyle/>
          <a:p>
            <a:r>
              <a:rPr kumimoji="1" lang="ja-JP" altLang="en-US" dirty="0">
                <a:latin typeface="メイリオ" panose="020B0604030504040204" pitchFamily="34" charset="-128"/>
                <a:ea typeface="メイリオ" panose="020B0604030504040204" pitchFamily="34" charset="-128"/>
              </a:rPr>
              <a:t>１．既存手法の解説及び問題点</a:t>
            </a:r>
          </a:p>
        </p:txBody>
      </p:sp>
      <p:sp>
        <p:nvSpPr>
          <p:cNvPr id="6" name="テキスト ボックス 5">
            <a:extLst>
              <a:ext uri="{FF2B5EF4-FFF2-40B4-BE49-F238E27FC236}">
                <a16:creationId xmlns:a16="http://schemas.microsoft.com/office/drawing/2014/main" id="{D4160B77-6433-81FA-A53C-FCCDC69F095F}"/>
              </a:ext>
            </a:extLst>
          </p:cNvPr>
          <p:cNvSpPr txBox="1"/>
          <p:nvPr/>
        </p:nvSpPr>
        <p:spPr>
          <a:xfrm>
            <a:off x="679938" y="3182051"/>
            <a:ext cx="9812216" cy="369332"/>
          </a:xfrm>
          <a:prstGeom prst="rect">
            <a:avLst/>
          </a:prstGeom>
          <a:noFill/>
        </p:spPr>
        <p:txBody>
          <a:bodyPr wrap="square" rtlCol="0">
            <a:spAutoFit/>
          </a:bodyPr>
          <a:lstStyle/>
          <a:p>
            <a:r>
              <a:rPr kumimoji="1" lang="ja-JP" altLang="en-US" dirty="0">
                <a:latin typeface="メイリオ" panose="020B0604030504040204" pitchFamily="34" charset="-128"/>
                <a:ea typeface="メイリオ" panose="020B0604030504040204" pitchFamily="34" charset="-128"/>
              </a:rPr>
              <a:t>３．提案手法の解説</a:t>
            </a:r>
          </a:p>
        </p:txBody>
      </p:sp>
      <p:sp>
        <p:nvSpPr>
          <p:cNvPr id="9" name="テキスト ボックス 8">
            <a:extLst>
              <a:ext uri="{FF2B5EF4-FFF2-40B4-BE49-F238E27FC236}">
                <a16:creationId xmlns:a16="http://schemas.microsoft.com/office/drawing/2014/main" id="{D226F1C1-49DA-14AD-3826-EB67732F856F}"/>
              </a:ext>
            </a:extLst>
          </p:cNvPr>
          <p:cNvSpPr txBox="1"/>
          <p:nvPr/>
        </p:nvSpPr>
        <p:spPr>
          <a:xfrm>
            <a:off x="679938" y="4092223"/>
            <a:ext cx="9812216" cy="369332"/>
          </a:xfrm>
          <a:prstGeom prst="rect">
            <a:avLst/>
          </a:prstGeom>
          <a:noFill/>
        </p:spPr>
        <p:txBody>
          <a:bodyPr wrap="square" rtlCol="0">
            <a:spAutoFit/>
          </a:bodyPr>
          <a:lstStyle/>
          <a:p>
            <a:r>
              <a:rPr lang="ja-JP" altLang="en-US" dirty="0">
                <a:latin typeface="メイリオ" panose="020B0604030504040204" pitchFamily="34" charset="-128"/>
                <a:ea typeface="メイリオ" panose="020B0604030504040204" pitchFamily="34" charset="-128"/>
              </a:rPr>
              <a:t>４</a:t>
            </a:r>
            <a:r>
              <a:rPr kumimoji="1" lang="ja-JP" altLang="en-US" dirty="0">
                <a:latin typeface="メイリオ" panose="020B0604030504040204" pitchFamily="34" charset="-128"/>
                <a:ea typeface="メイリオ" panose="020B0604030504040204" pitchFamily="34" charset="-128"/>
              </a:rPr>
              <a:t>．提案手法の実施の進捗</a:t>
            </a:r>
          </a:p>
        </p:txBody>
      </p:sp>
      <p:sp>
        <p:nvSpPr>
          <p:cNvPr id="11" name="テキスト ボックス 10">
            <a:extLst>
              <a:ext uri="{FF2B5EF4-FFF2-40B4-BE49-F238E27FC236}">
                <a16:creationId xmlns:a16="http://schemas.microsoft.com/office/drawing/2014/main" id="{A4FB5A04-C5E6-A495-7C99-D4C2692B867A}"/>
              </a:ext>
            </a:extLst>
          </p:cNvPr>
          <p:cNvSpPr txBox="1"/>
          <p:nvPr/>
        </p:nvSpPr>
        <p:spPr>
          <a:xfrm>
            <a:off x="679938" y="5002395"/>
            <a:ext cx="9812216" cy="369332"/>
          </a:xfrm>
          <a:prstGeom prst="rect">
            <a:avLst/>
          </a:prstGeom>
          <a:noFill/>
        </p:spPr>
        <p:txBody>
          <a:bodyPr wrap="square" rtlCol="0">
            <a:spAutoFit/>
          </a:bodyPr>
          <a:lstStyle/>
          <a:p>
            <a:r>
              <a:rPr lang="ja-JP" altLang="en-US" dirty="0">
                <a:latin typeface="メイリオ" panose="020B0604030504040204" pitchFamily="34" charset="-128"/>
                <a:ea typeface="メイリオ" panose="020B0604030504040204" pitchFamily="34" charset="-128"/>
              </a:rPr>
              <a:t>５</a:t>
            </a:r>
            <a:r>
              <a:rPr kumimoji="1" lang="ja-JP" altLang="en-US" dirty="0">
                <a:latin typeface="メイリオ" panose="020B0604030504040204" pitchFamily="34" charset="-128"/>
                <a:ea typeface="メイリオ" panose="020B0604030504040204" pitchFamily="34" charset="-128"/>
              </a:rPr>
              <a:t>．今後の展望・課題</a:t>
            </a:r>
          </a:p>
        </p:txBody>
      </p:sp>
    </p:spTree>
    <p:extLst>
      <p:ext uri="{BB962C8B-B14F-4D97-AF65-F5344CB8AC3E}">
        <p14:creationId xmlns:p14="http://schemas.microsoft.com/office/powerpoint/2010/main" val="4231658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p:cNvSpPr txBox="1"/>
          <p:nvPr/>
        </p:nvSpPr>
        <p:spPr>
          <a:xfrm>
            <a:off x="493776" y="182880"/>
            <a:ext cx="10149840" cy="717119"/>
          </a:xfrm>
          <a:prstGeom prst="rect">
            <a:avLst/>
          </a:prstGeom>
          <a:noFill/>
        </p:spPr>
        <p:txBody>
          <a:bodyPr wrap="square" lIns="45720" tIns="27432" rIns="45720" bIns="27432" anchor="t">
            <a:spAutoFit/>
          </a:bodyPr>
          <a:lstStyle/>
          <a:p>
            <a:pPr algn="l"/>
            <a:r>
              <a:rPr sz="4300" b="1" dirty="0">
                <a:solidFill>
                  <a:srgbClr val="000000"/>
                </a:solidFill>
                <a:latin typeface="メイリオ"/>
                <a:ea typeface="メイリオ"/>
              </a:rPr>
              <a:t>２．既存手法</a:t>
            </a:r>
          </a:p>
        </p:txBody>
      </p:sp>
      <p:sp>
        <p:nvSpPr>
          <p:cNvPr id="4" name="主張"/>
          <p:cNvSpPr txBox="1"/>
          <p:nvPr/>
        </p:nvSpPr>
        <p:spPr>
          <a:xfrm>
            <a:off x="676656" y="1115568"/>
            <a:ext cx="10881360" cy="393954"/>
          </a:xfrm>
          <a:prstGeom prst="rect">
            <a:avLst/>
          </a:prstGeom>
          <a:noFill/>
        </p:spPr>
        <p:txBody>
          <a:bodyPr wrap="square" lIns="45720" tIns="27432" rIns="45720" bIns="27432" anchor="t">
            <a:spAutoFit/>
          </a:bodyPr>
          <a:lstStyle/>
          <a:p>
            <a:pPr algn="l"/>
            <a:r>
              <a:rPr sz="2200" b="1" dirty="0">
                <a:solidFill>
                  <a:srgbClr val="1973EB"/>
                </a:solidFill>
                <a:latin typeface="メイリオ"/>
                <a:ea typeface="メイリオ"/>
              </a:rPr>
              <a:t>LLM </a:t>
            </a:r>
            <a:r>
              <a:rPr sz="2200" b="1" dirty="0" err="1">
                <a:solidFill>
                  <a:srgbClr val="1973EB"/>
                </a:solidFill>
                <a:latin typeface="メイリオ"/>
                <a:ea typeface="メイリオ"/>
              </a:rPr>
              <a:t>に</a:t>
            </a:r>
            <a:r>
              <a:rPr lang="ja-JP" altLang="en-US" sz="2200" b="1">
                <a:solidFill>
                  <a:srgbClr val="1973EB"/>
                </a:solidFill>
                <a:latin typeface="メイリオ"/>
                <a:ea typeface="メイリオ"/>
              </a:rPr>
              <a:t>翌月の値動きを</a:t>
            </a:r>
            <a:r>
              <a:rPr sz="2200" b="1" dirty="0">
                <a:solidFill>
                  <a:srgbClr val="1973EB"/>
                </a:solidFill>
                <a:latin typeface="メイリオ"/>
                <a:ea typeface="メイリオ"/>
              </a:rPr>
              <a:t>30回聞き</a:t>
            </a:r>
            <a:r>
              <a:rPr lang="ja-JP" altLang="en-US" sz="2200" b="1">
                <a:solidFill>
                  <a:srgbClr val="1973EB"/>
                </a:solidFill>
                <a:latin typeface="メイリオ"/>
                <a:ea typeface="メイリオ"/>
              </a:rPr>
              <a:t>、</a:t>
            </a:r>
            <a:r>
              <a:rPr sz="2200" b="1" dirty="0" err="1">
                <a:solidFill>
                  <a:srgbClr val="1973EB"/>
                </a:solidFill>
                <a:latin typeface="メイリオ"/>
                <a:ea typeface="メイリオ"/>
              </a:rPr>
              <a:t>平均を</a:t>
            </a:r>
            <a:r>
              <a:rPr lang="ja-JP" altLang="en-US" sz="2200" b="1">
                <a:solidFill>
                  <a:srgbClr val="1973EB"/>
                </a:solidFill>
                <a:latin typeface="メイリオ"/>
                <a:ea typeface="メイリオ"/>
              </a:rPr>
              <a:t>期待リターン</a:t>
            </a:r>
            <a:r>
              <a:rPr sz="2200" b="1" dirty="0" err="1">
                <a:solidFill>
                  <a:srgbClr val="1973EB"/>
                </a:solidFill>
                <a:latin typeface="メイリオ"/>
                <a:ea typeface="メイリオ"/>
              </a:rPr>
              <a:t>ばらつきを</a:t>
            </a:r>
            <a:r>
              <a:rPr lang="ja-JP" altLang="en-US" sz="2200" b="1">
                <a:solidFill>
                  <a:srgbClr val="1973EB"/>
                </a:solidFill>
                <a:latin typeface="メイリオ"/>
                <a:ea typeface="メイリオ"/>
              </a:rPr>
              <a:t>リスク</a:t>
            </a:r>
            <a:r>
              <a:rPr sz="2200" b="1" dirty="0" err="1">
                <a:solidFill>
                  <a:srgbClr val="1973EB"/>
                </a:solidFill>
                <a:latin typeface="メイリオ"/>
                <a:ea typeface="メイリオ"/>
              </a:rPr>
              <a:t>に使う</a:t>
            </a:r>
            <a:endParaRPr sz="2200" b="1" dirty="0">
              <a:solidFill>
                <a:srgbClr val="1973EB"/>
              </a:solidFill>
              <a:latin typeface="メイリオ"/>
              <a:ea typeface="メイリオ"/>
            </a:endParaRPr>
          </a:p>
        </p:txBody>
      </p:sp>
      <p:sp>
        <p:nvSpPr>
          <p:cNvPr id="5" name="流れ1"/>
          <p:cNvSpPr/>
          <p:nvPr/>
        </p:nvSpPr>
        <p:spPr>
          <a:xfrm>
            <a:off x="554346" y="2528463"/>
            <a:ext cx="1892807" cy="2286000"/>
          </a:xfrm>
          <a:prstGeom prst="roundRect">
            <a:avLst>
              <a:gd name="adj" fmla="val 4104"/>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角丸四角形 30">
            <a:extLst>
              <a:ext uri="{FF2B5EF4-FFF2-40B4-BE49-F238E27FC236}">
                <a16:creationId xmlns:a16="http://schemas.microsoft.com/office/drawing/2014/main" id="{2255D599-E6B1-5BA1-3D66-BA61EC44B1A6}"/>
              </a:ext>
            </a:extLst>
          </p:cNvPr>
          <p:cNvSpPr/>
          <p:nvPr/>
        </p:nvSpPr>
        <p:spPr>
          <a:xfrm>
            <a:off x="732432" y="3323825"/>
            <a:ext cx="1536633" cy="1027795"/>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400"/>
              </a:spcAft>
            </a:pPr>
            <a:r>
              <a:rPr lang="en-US" altLang="ja-JP" sz="1500" dirty="0">
                <a:solidFill>
                  <a:srgbClr val="000000"/>
                </a:solidFill>
                <a:latin typeface="メイリオ"/>
                <a:ea typeface="メイリオ"/>
              </a:rPr>
              <a:t>1</a:t>
            </a:r>
            <a:r>
              <a:rPr lang="ja-JP" altLang="en-US" sz="1500">
                <a:solidFill>
                  <a:srgbClr val="000000"/>
                </a:solidFill>
                <a:latin typeface="メイリオ"/>
                <a:ea typeface="メイリオ"/>
              </a:rPr>
              <a:t>か月分の</a:t>
            </a:r>
          </a:p>
          <a:p>
            <a:pPr algn="ctr">
              <a:spcAft>
                <a:spcPts val="400"/>
              </a:spcAft>
            </a:pPr>
            <a:r>
              <a:rPr lang="ja-JP" altLang="en-US" sz="1500">
                <a:solidFill>
                  <a:srgbClr val="000000"/>
                </a:solidFill>
                <a:latin typeface="メイリオ"/>
                <a:ea typeface="メイリオ"/>
              </a:rPr>
              <a:t>日次リターン</a:t>
            </a:r>
          </a:p>
          <a:p>
            <a:pPr algn="ctr">
              <a:spcAft>
                <a:spcPts val="400"/>
              </a:spcAft>
            </a:pPr>
            <a:r>
              <a:rPr lang="ja-JP" altLang="en-US" sz="1500">
                <a:solidFill>
                  <a:srgbClr val="000000"/>
                </a:solidFill>
                <a:latin typeface="メイリオ"/>
                <a:ea typeface="メイリオ"/>
              </a:rPr>
              <a:t>社名・業種</a:t>
            </a:r>
            <a:endParaRPr lang="ja-JP" altLang="en-US" sz="1500" dirty="0">
              <a:solidFill>
                <a:srgbClr val="000000"/>
              </a:solidFill>
              <a:latin typeface="メイリオ"/>
              <a:ea typeface="メイリオ"/>
            </a:endParaRPr>
          </a:p>
        </p:txBody>
      </p:sp>
      <p:sp>
        <p:nvSpPr>
          <p:cNvPr id="6" name="TextBox 5"/>
          <p:cNvSpPr txBox="1"/>
          <p:nvPr/>
        </p:nvSpPr>
        <p:spPr>
          <a:xfrm>
            <a:off x="700649" y="2816498"/>
            <a:ext cx="1527049" cy="301621"/>
          </a:xfrm>
          <a:prstGeom prst="rect">
            <a:avLst/>
          </a:prstGeom>
          <a:noFill/>
        </p:spPr>
        <p:txBody>
          <a:bodyPr wrap="square" lIns="45720" tIns="27432" rIns="45720" bIns="27432" anchor="t">
            <a:spAutoFit/>
          </a:bodyPr>
          <a:lstStyle/>
          <a:p>
            <a:pPr algn="ctr"/>
            <a:r>
              <a:rPr sz="1600" b="1" dirty="0" err="1">
                <a:solidFill>
                  <a:srgbClr val="1973EB"/>
                </a:solidFill>
                <a:latin typeface="メイリオ"/>
                <a:ea typeface="メイリオ"/>
              </a:rPr>
              <a:t>入力</a:t>
            </a:r>
            <a:endParaRPr sz="1600" b="1" dirty="0">
              <a:solidFill>
                <a:srgbClr val="1973EB"/>
              </a:solidFill>
              <a:latin typeface="メイリオ"/>
              <a:ea typeface="メイリオ"/>
            </a:endParaRPr>
          </a:p>
        </p:txBody>
      </p:sp>
      <p:cxnSp>
        <p:nvCxnSpPr>
          <p:cNvPr id="8" name="Connector 7"/>
          <p:cNvCxnSpPr/>
          <p:nvPr/>
        </p:nvCxnSpPr>
        <p:spPr>
          <a:xfrm>
            <a:off x="2592323" y="3671463"/>
            <a:ext cx="292609" cy="0"/>
          </a:xfrm>
          <a:prstGeom prst="line">
            <a:avLst/>
          </a:prstGeom>
          <a:ln w="31750">
            <a:solidFill>
              <a:srgbClr val="5B61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流れ2"/>
          <p:cNvSpPr/>
          <p:nvPr/>
        </p:nvSpPr>
        <p:spPr>
          <a:xfrm>
            <a:off x="2921508" y="2528463"/>
            <a:ext cx="1892807" cy="228600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94658" y="2816498"/>
            <a:ext cx="1746504" cy="411480"/>
          </a:xfrm>
          <a:prstGeom prst="rect">
            <a:avLst/>
          </a:prstGeom>
          <a:noFill/>
        </p:spPr>
        <p:txBody>
          <a:bodyPr wrap="square" lIns="45720" tIns="27432" rIns="45720" bIns="27432" anchor="t">
            <a:spAutoFit/>
          </a:bodyPr>
          <a:lstStyle/>
          <a:p>
            <a:pPr algn="ctr"/>
            <a:r>
              <a:rPr sz="1600" b="1" dirty="0">
                <a:solidFill>
                  <a:srgbClr val="1973EB"/>
                </a:solidFill>
                <a:latin typeface="メイリオ"/>
                <a:ea typeface="メイリオ"/>
              </a:rPr>
              <a:t>LLM</a:t>
            </a:r>
          </a:p>
        </p:txBody>
      </p:sp>
      <p:cxnSp>
        <p:nvCxnSpPr>
          <p:cNvPr id="12" name="Connector 11"/>
          <p:cNvCxnSpPr/>
          <p:nvPr/>
        </p:nvCxnSpPr>
        <p:spPr>
          <a:xfrm>
            <a:off x="4850892" y="3671463"/>
            <a:ext cx="292608" cy="0"/>
          </a:xfrm>
          <a:prstGeom prst="line">
            <a:avLst/>
          </a:prstGeom>
          <a:ln w="31750">
            <a:solidFill>
              <a:srgbClr val="5B61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109460" y="3671463"/>
            <a:ext cx="292608" cy="0"/>
          </a:xfrm>
          <a:prstGeom prst="line">
            <a:avLst/>
          </a:prstGeom>
          <a:ln w="31750">
            <a:solidFill>
              <a:srgbClr val="5B61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流れ4"/>
          <p:cNvSpPr/>
          <p:nvPr/>
        </p:nvSpPr>
        <p:spPr>
          <a:xfrm>
            <a:off x="7438644" y="2528463"/>
            <a:ext cx="1892807" cy="228600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11796" y="2638191"/>
            <a:ext cx="1746504" cy="411480"/>
          </a:xfrm>
          <a:prstGeom prst="rect">
            <a:avLst/>
          </a:prstGeom>
          <a:noFill/>
        </p:spPr>
        <p:txBody>
          <a:bodyPr wrap="square" lIns="45720" tIns="27432" rIns="45720" bIns="27432" anchor="t">
            <a:spAutoFit/>
          </a:bodyPr>
          <a:lstStyle/>
          <a:p>
            <a:pPr algn="ctr"/>
            <a:r>
              <a:rPr sz="1600" b="1">
                <a:solidFill>
                  <a:srgbClr val="1973EB"/>
                </a:solidFill>
                <a:latin typeface="メイリオ"/>
                <a:ea typeface="メイリオ"/>
              </a:rPr>
              <a:t>Black-Litterman</a:t>
            </a:r>
          </a:p>
        </p:txBody>
      </p:sp>
      <p:cxnSp>
        <p:nvCxnSpPr>
          <p:cNvPr id="20" name="Connector 19"/>
          <p:cNvCxnSpPr/>
          <p:nvPr/>
        </p:nvCxnSpPr>
        <p:spPr>
          <a:xfrm>
            <a:off x="9368028" y="3671463"/>
            <a:ext cx="292608" cy="0"/>
          </a:xfrm>
          <a:prstGeom prst="line">
            <a:avLst/>
          </a:prstGeom>
          <a:ln w="31750">
            <a:solidFill>
              <a:srgbClr val="5B61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流れ5"/>
          <p:cNvSpPr/>
          <p:nvPr/>
        </p:nvSpPr>
        <p:spPr>
          <a:xfrm>
            <a:off x="9697212" y="2528463"/>
            <a:ext cx="1892807" cy="228600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37562" y="2819014"/>
            <a:ext cx="2012105" cy="301621"/>
          </a:xfrm>
          <a:prstGeom prst="rect">
            <a:avLst/>
          </a:prstGeom>
          <a:noFill/>
        </p:spPr>
        <p:txBody>
          <a:bodyPr wrap="square" lIns="45720" tIns="27432" rIns="45720" bIns="27432" anchor="t">
            <a:spAutoFit/>
          </a:bodyPr>
          <a:lstStyle/>
          <a:p>
            <a:pPr algn="ctr"/>
            <a:r>
              <a:rPr sz="1600" b="1" dirty="0" err="1">
                <a:solidFill>
                  <a:srgbClr val="1973EB"/>
                </a:solidFill>
                <a:latin typeface="メイリオ"/>
                <a:ea typeface="メイリオ"/>
              </a:rPr>
              <a:t>最適</a:t>
            </a:r>
            <a:r>
              <a:rPr lang="ja-JP" altLang="en-US" sz="1600" b="1">
                <a:solidFill>
                  <a:srgbClr val="1973EB"/>
                </a:solidFill>
                <a:latin typeface="メイリオ"/>
                <a:ea typeface="メイリオ"/>
              </a:rPr>
              <a:t>ポートフォリオ</a:t>
            </a:r>
            <a:endParaRPr sz="1600" b="1" dirty="0">
              <a:solidFill>
                <a:srgbClr val="1973EB"/>
              </a:solidFill>
              <a:latin typeface="メイリオ"/>
              <a:ea typeface="メイリオ"/>
            </a:endParaRPr>
          </a:p>
        </p:txBody>
      </p:sp>
      <p:sp>
        <p:nvSpPr>
          <p:cNvPr id="26" name="Oval 25"/>
          <p:cNvSpPr/>
          <p:nvPr/>
        </p:nvSpPr>
        <p:spPr>
          <a:xfrm>
            <a:off x="822960" y="5756529"/>
            <a:ext cx="118872" cy="118872"/>
          </a:xfrm>
          <a:prstGeom prst="ellipse">
            <a:avLst/>
          </a:prstGeom>
          <a:solidFill>
            <a:srgbClr val="197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42416" y="5622036"/>
            <a:ext cx="10387584" cy="317010"/>
          </a:xfrm>
          <a:prstGeom prst="rect">
            <a:avLst/>
          </a:prstGeom>
          <a:noFill/>
        </p:spPr>
        <p:txBody>
          <a:bodyPr wrap="square" lIns="45720" tIns="27432" rIns="45720" bIns="27432" anchor="t">
            <a:spAutoFit/>
          </a:bodyPr>
          <a:lstStyle/>
          <a:p>
            <a:pPr algn="l"/>
            <a:r>
              <a:rPr sz="1700" b="0" dirty="0" err="1">
                <a:solidFill>
                  <a:srgbClr val="000000"/>
                </a:solidFill>
                <a:latin typeface="メイリオ"/>
                <a:ea typeface="メイリオ"/>
              </a:rPr>
              <a:t>比較相手は、等金額の比率</a:t>
            </a:r>
            <a:r>
              <a:rPr lang="ja-JP" altLang="en-US" sz="1700" b="0">
                <a:solidFill>
                  <a:srgbClr val="000000"/>
                </a:solidFill>
                <a:latin typeface="メイリオ"/>
                <a:ea typeface="メイリオ"/>
              </a:rPr>
              <a:t>・加重平均・</a:t>
            </a:r>
            <a:r>
              <a:rPr sz="1700" b="0" dirty="0" err="1">
                <a:solidFill>
                  <a:srgbClr val="000000"/>
                </a:solidFill>
                <a:latin typeface="メイリオ"/>
                <a:ea typeface="メイリオ"/>
              </a:rPr>
              <a:t>過去の平均リターンによる平均分散最適化</a:t>
            </a:r>
            <a:endParaRPr sz="1700" b="0" dirty="0">
              <a:solidFill>
                <a:srgbClr val="000000"/>
              </a:solidFill>
              <a:latin typeface="メイリオ"/>
              <a:ea typeface="メイリオ"/>
            </a:endParaRPr>
          </a:p>
        </p:txBody>
      </p:sp>
      <p:sp>
        <p:nvSpPr>
          <p:cNvPr id="28" name="TextBox 27"/>
          <p:cNvSpPr txBox="1"/>
          <p:nvPr/>
        </p:nvSpPr>
        <p:spPr>
          <a:xfrm>
            <a:off x="676656" y="6355080"/>
            <a:ext cx="10881360" cy="274320"/>
          </a:xfrm>
          <a:prstGeom prst="rect">
            <a:avLst/>
          </a:prstGeom>
          <a:noFill/>
        </p:spPr>
        <p:txBody>
          <a:bodyPr wrap="square" lIns="45720" tIns="27432" rIns="45720" bIns="27432" anchor="t">
            <a:spAutoFit/>
          </a:bodyPr>
          <a:lstStyle/>
          <a:p>
            <a:pPr algn="l"/>
            <a:r>
              <a:rPr sz="1000" b="0">
                <a:solidFill>
                  <a:srgbClr val="5B616B"/>
                </a:solidFill>
                <a:latin typeface="メイリオ"/>
                <a:ea typeface="メイリオ"/>
              </a:rPr>
              <a:t>[2] Integrating LLM-Generated Views into Mean-Variance Optimization Using the Black-Litterman Model. arXiv:2504.14345, 2025</a:t>
            </a:r>
          </a:p>
        </p:txBody>
      </p:sp>
      <p:sp>
        <p:nvSpPr>
          <p:cNvPr id="29" name="正方形/長方形 28">
            <a:extLst>
              <a:ext uri="{FF2B5EF4-FFF2-40B4-BE49-F238E27FC236}">
                <a16:creationId xmlns:a16="http://schemas.microsoft.com/office/drawing/2014/main" id="{ABF785A7-4EBA-E15C-6A8B-286E5ABA06C3}"/>
              </a:ext>
            </a:extLst>
          </p:cNvPr>
          <p:cNvSpPr/>
          <p:nvPr/>
        </p:nvSpPr>
        <p:spPr>
          <a:xfrm>
            <a:off x="554346" y="1874975"/>
            <a:ext cx="10927079" cy="361540"/>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既存手法の流れ</a:t>
            </a:r>
          </a:p>
        </p:txBody>
      </p:sp>
      <p:sp>
        <p:nvSpPr>
          <p:cNvPr id="32" name="角丸四角形 31">
            <a:extLst>
              <a:ext uri="{FF2B5EF4-FFF2-40B4-BE49-F238E27FC236}">
                <a16:creationId xmlns:a16="http://schemas.microsoft.com/office/drawing/2014/main" id="{54EF4E82-BB62-77BE-22ED-F42760985CD6}"/>
              </a:ext>
            </a:extLst>
          </p:cNvPr>
          <p:cNvSpPr/>
          <p:nvPr/>
        </p:nvSpPr>
        <p:spPr>
          <a:xfrm>
            <a:off x="3099594" y="3345923"/>
            <a:ext cx="1536633" cy="1027795"/>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400"/>
              </a:spcAft>
            </a:pPr>
            <a:r>
              <a:rPr lang="ja-JP" altLang="en-US" sz="1500">
                <a:solidFill>
                  <a:srgbClr val="000000"/>
                </a:solidFill>
                <a:latin typeface="メイリオ"/>
                <a:ea typeface="メイリオ"/>
              </a:rPr>
              <a:t>翌月の平均</a:t>
            </a:r>
          </a:p>
          <a:p>
            <a:pPr algn="ctr">
              <a:spcAft>
                <a:spcPts val="400"/>
              </a:spcAft>
            </a:pPr>
            <a:r>
              <a:rPr lang="ja-JP" altLang="en-US" sz="1500">
                <a:solidFill>
                  <a:srgbClr val="000000"/>
                </a:solidFill>
                <a:latin typeface="メイリオ"/>
                <a:ea typeface="メイリオ"/>
              </a:rPr>
              <a:t>リターンを</a:t>
            </a:r>
          </a:p>
          <a:p>
            <a:pPr algn="ctr">
              <a:spcAft>
                <a:spcPts val="400"/>
              </a:spcAft>
            </a:pPr>
            <a:r>
              <a:rPr lang="en-US" altLang="ja-JP" sz="1500" dirty="0">
                <a:solidFill>
                  <a:srgbClr val="000000"/>
                </a:solidFill>
                <a:latin typeface="メイリオ"/>
                <a:ea typeface="メイリオ"/>
              </a:rPr>
              <a:t>30 </a:t>
            </a:r>
            <a:r>
              <a:rPr lang="ja-JP" altLang="en-US" sz="1500">
                <a:solidFill>
                  <a:srgbClr val="000000"/>
                </a:solidFill>
                <a:latin typeface="メイリオ"/>
                <a:ea typeface="メイリオ"/>
              </a:rPr>
              <a:t>回予測</a:t>
            </a:r>
            <a:endParaRPr lang="ja-JP" altLang="en-US" sz="1500" dirty="0">
              <a:solidFill>
                <a:srgbClr val="000000"/>
              </a:solidFill>
              <a:latin typeface="メイリオ"/>
              <a:ea typeface="メイリオ"/>
            </a:endParaRPr>
          </a:p>
        </p:txBody>
      </p:sp>
      <p:sp>
        <p:nvSpPr>
          <p:cNvPr id="33" name="流れ2">
            <a:extLst>
              <a:ext uri="{FF2B5EF4-FFF2-40B4-BE49-F238E27FC236}">
                <a16:creationId xmlns:a16="http://schemas.microsoft.com/office/drawing/2014/main" id="{66EC43A3-1974-187C-43D8-6D1425B85073}"/>
              </a:ext>
            </a:extLst>
          </p:cNvPr>
          <p:cNvSpPr/>
          <p:nvPr/>
        </p:nvSpPr>
        <p:spPr>
          <a:xfrm>
            <a:off x="5198364" y="2532683"/>
            <a:ext cx="1892807" cy="228600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9">
            <a:extLst>
              <a:ext uri="{FF2B5EF4-FFF2-40B4-BE49-F238E27FC236}">
                <a16:creationId xmlns:a16="http://schemas.microsoft.com/office/drawing/2014/main" id="{1F0B371A-802A-EA1C-A0DB-15A2D26CCBB2}"/>
              </a:ext>
            </a:extLst>
          </p:cNvPr>
          <p:cNvSpPr txBox="1"/>
          <p:nvPr/>
        </p:nvSpPr>
        <p:spPr>
          <a:xfrm>
            <a:off x="5253226" y="2814814"/>
            <a:ext cx="1746504" cy="301621"/>
          </a:xfrm>
          <a:prstGeom prst="rect">
            <a:avLst/>
          </a:prstGeom>
          <a:noFill/>
        </p:spPr>
        <p:txBody>
          <a:bodyPr wrap="square" lIns="45720" tIns="27432" rIns="45720" bIns="27432" anchor="t">
            <a:spAutoFit/>
          </a:bodyPr>
          <a:lstStyle/>
          <a:p>
            <a:pPr algn="ctr"/>
            <a:r>
              <a:rPr lang="en-US" sz="1600" b="1" dirty="0" err="1">
                <a:solidFill>
                  <a:srgbClr val="1973EB"/>
                </a:solidFill>
                <a:latin typeface="メイリオ"/>
                <a:ea typeface="メイリオ"/>
              </a:rPr>
              <a:t>集計</a:t>
            </a:r>
            <a:endParaRPr lang="en-US" sz="1600" b="1" dirty="0">
              <a:solidFill>
                <a:srgbClr val="1973EB"/>
              </a:solidFill>
              <a:latin typeface="メイリオ"/>
              <a:ea typeface="メイリオ"/>
            </a:endParaRPr>
          </a:p>
        </p:txBody>
      </p:sp>
      <p:sp>
        <p:nvSpPr>
          <p:cNvPr id="35" name="角丸四角形 34">
            <a:extLst>
              <a:ext uri="{FF2B5EF4-FFF2-40B4-BE49-F238E27FC236}">
                <a16:creationId xmlns:a16="http://schemas.microsoft.com/office/drawing/2014/main" id="{D0ECB6B3-544E-983C-51AE-D8BD24178291}"/>
              </a:ext>
            </a:extLst>
          </p:cNvPr>
          <p:cNvSpPr/>
          <p:nvPr/>
        </p:nvSpPr>
        <p:spPr>
          <a:xfrm>
            <a:off x="5335303" y="3338593"/>
            <a:ext cx="1536633" cy="406698"/>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400"/>
              </a:spcAft>
            </a:pPr>
            <a:r>
              <a:rPr lang="ja-JP" altLang="en-US" sz="1500">
                <a:solidFill>
                  <a:srgbClr val="000000"/>
                </a:solidFill>
                <a:latin typeface="メイリオ"/>
                <a:ea typeface="メイリオ"/>
              </a:rPr>
              <a:t>平均</a:t>
            </a:r>
            <a:r>
              <a:rPr lang="en-US" altLang="ja-JP" sz="1500" dirty="0">
                <a:solidFill>
                  <a:srgbClr val="000000"/>
                </a:solidFill>
                <a:latin typeface="メイリオ"/>
                <a:ea typeface="メイリオ"/>
              </a:rPr>
              <a:t>=</a:t>
            </a:r>
            <a:r>
              <a:rPr lang="ja-JP" altLang="en-US" sz="1500">
                <a:solidFill>
                  <a:srgbClr val="000000"/>
                </a:solidFill>
                <a:latin typeface="メイリオ"/>
                <a:ea typeface="メイリオ"/>
              </a:rPr>
              <a:t>リターン</a:t>
            </a:r>
            <a:endParaRPr lang="ja-JP" altLang="en-US" sz="1500" dirty="0">
              <a:solidFill>
                <a:srgbClr val="000000"/>
              </a:solidFill>
              <a:latin typeface="メイリオ"/>
              <a:ea typeface="メイリオ"/>
            </a:endParaRPr>
          </a:p>
        </p:txBody>
      </p:sp>
      <p:sp>
        <p:nvSpPr>
          <p:cNvPr id="36" name="角丸四角形 35">
            <a:extLst>
              <a:ext uri="{FF2B5EF4-FFF2-40B4-BE49-F238E27FC236}">
                <a16:creationId xmlns:a16="http://schemas.microsoft.com/office/drawing/2014/main" id="{D67CD643-C290-F8B4-0342-289B0B6ED4DF}"/>
              </a:ext>
            </a:extLst>
          </p:cNvPr>
          <p:cNvSpPr/>
          <p:nvPr/>
        </p:nvSpPr>
        <p:spPr>
          <a:xfrm>
            <a:off x="5358163" y="3963396"/>
            <a:ext cx="1536633" cy="385959"/>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400"/>
              </a:spcAft>
            </a:pPr>
            <a:r>
              <a:rPr lang="ja-JP" altLang="en-US" sz="1500">
                <a:solidFill>
                  <a:srgbClr val="000000"/>
                </a:solidFill>
                <a:latin typeface="メイリオ"/>
                <a:ea typeface="メイリオ"/>
              </a:rPr>
              <a:t>分散</a:t>
            </a:r>
            <a:r>
              <a:rPr lang="en-US" altLang="ja-JP" sz="1500" dirty="0">
                <a:solidFill>
                  <a:srgbClr val="000000"/>
                </a:solidFill>
                <a:latin typeface="メイリオ"/>
                <a:ea typeface="メイリオ"/>
              </a:rPr>
              <a:t>=</a:t>
            </a:r>
            <a:r>
              <a:rPr lang="ja-JP" altLang="en-US" sz="1500">
                <a:solidFill>
                  <a:srgbClr val="000000"/>
                </a:solidFill>
                <a:latin typeface="メイリオ"/>
                <a:ea typeface="メイリオ"/>
              </a:rPr>
              <a:t>リスク</a:t>
            </a:r>
            <a:endParaRPr lang="ja-JP" altLang="en-US" sz="1500" dirty="0">
              <a:solidFill>
                <a:srgbClr val="000000"/>
              </a:solidFill>
              <a:latin typeface="メイリオ"/>
              <a:ea typeface="メイリオ"/>
            </a:endParaRPr>
          </a:p>
        </p:txBody>
      </p:sp>
      <p:sp>
        <p:nvSpPr>
          <p:cNvPr id="37" name="角丸四角形 36">
            <a:extLst>
              <a:ext uri="{FF2B5EF4-FFF2-40B4-BE49-F238E27FC236}">
                <a16:creationId xmlns:a16="http://schemas.microsoft.com/office/drawing/2014/main" id="{A395A9E7-ED51-150F-7BBC-12E2800AC2FB}"/>
              </a:ext>
            </a:extLst>
          </p:cNvPr>
          <p:cNvSpPr/>
          <p:nvPr/>
        </p:nvSpPr>
        <p:spPr>
          <a:xfrm>
            <a:off x="7648514" y="3323825"/>
            <a:ext cx="1536633" cy="1027795"/>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400"/>
              </a:spcAft>
            </a:pPr>
            <a:r>
              <a:rPr lang="en-US" altLang="ja-JP" sz="1500" dirty="0">
                <a:solidFill>
                  <a:srgbClr val="000000"/>
                </a:solidFill>
                <a:latin typeface="メイリオ"/>
                <a:ea typeface="メイリオ"/>
              </a:rPr>
              <a:t>S</a:t>
            </a:r>
            <a:r>
              <a:rPr lang="ja-JP" altLang="en-US" sz="1500">
                <a:solidFill>
                  <a:srgbClr val="000000"/>
                </a:solidFill>
                <a:latin typeface="メイリオ"/>
                <a:ea typeface="メイリオ"/>
              </a:rPr>
              <a:t>＆</a:t>
            </a:r>
            <a:r>
              <a:rPr lang="en-US" altLang="ja-JP" sz="1500" dirty="0">
                <a:solidFill>
                  <a:srgbClr val="000000"/>
                </a:solidFill>
                <a:latin typeface="メイリオ"/>
                <a:ea typeface="メイリオ"/>
              </a:rPr>
              <a:t>P500</a:t>
            </a:r>
            <a:r>
              <a:rPr lang="ja-JP" altLang="en-US" sz="1500">
                <a:solidFill>
                  <a:srgbClr val="000000"/>
                </a:solidFill>
                <a:latin typeface="メイリオ"/>
                <a:ea typeface="メイリオ"/>
              </a:rPr>
              <a:t>の加重平均と</a:t>
            </a:r>
            <a:r>
              <a:rPr lang="en-US" altLang="ja-JP" sz="1500" dirty="0">
                <a:solidFill>
                  <a:srgbClr val="000000"/>
                </a:solidFill>
                <a:latin typeface="メイリオ"/>
                <a:ea typeface="メイリオ"/>
              </a:rPr>
              <a:t>LLM</a:t>
            </a:r>
            <a:r>
              <a:rPr lang="ja-JP" altLang="en-US" sz="1500">
                <a:solidFill>
                  <a:srgbClr val="000000"/>
                </a:solidFill>
                <a:latin typeface="メイリオ"/>
                <a:ea typeface="メイリオ"/>
              </a:rPr>
              <a:t>の期待リターンを合算する</a:t>
            </a:r>
          </a:p>
        </p:txBody>
      </p:sp>
      <p:sp>
        <p:nvSpPr>
          <p:cNvPr id="38" name="角丸四角形 37">
            <a:extLst>
              <a:ext uri="{FF2B5EF4-FFF2-40B4-BE49-F238E27FC236}">
                <a16:creationId xmlns:a16="http://schemas.microsoft.com/office/drawing/2014/main" id="{2D9CFB8F-732F-C35D-727E-167BEA222B7B}"/>
              </a:ext>
            </a:extLst>
          </p:cNvPr>
          <p:cNvSpPr/>
          <p:nvPr/>
        </p:nvSpPr>
        <p:spPr>
          <a:xfrm>
            <a:off x="9879651" y="3345923"/>
            <a:ext cx="1536633" cy="1027795"/>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spcAft>
                <a:spcPts val="400"/>
              </a:spcAft>
            </a:pPr>
            <a:r>
              <a:rPr lang="ja-JP" altLang="en-US" sz="1500">
                <a:solidFill>
                  <a:srgbClr val="000000"/>
                </a:solidFill>
                <a:latin typeface="メイリオ"/>
                <a:ea typeface="メイリオ"/>
              </a:rPr>
              <a:t>最適化された株式ポートフォリオが生成される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p:cNvSpPr txBox="1"/>
          <p:nvPr/>
        </p:nvSpPr>
        <p:spPr>
          <a:xfrm>
            <a:off x="493776" y="182880"/>
            <a:ext cx="10149840" cy="749808"/>
          </a:xfrm>
          <a:prstGeom prst="rect">
            <a:avLst/>
          </a:prstGeom>
          <a:noFill/>
        </p:spPr>
        <p:txBody>
          <a:bodyPr wrap="square" lIns="45720" tIns="27432" rIns="45720" bIns="27432" anchor="t">
            <a:spAutoFit/>
          </a:bodyPr>
          <a:lstStyle/>
          <a:p>
            <a:pPr algn="l"/>
            <a:r>
              <a:rPr sz="4300" b="1">
                <a:solidFill>
                  <a:srgbClr val="000000"/>
                </a:solidFill>
                <a:latin typeface="メイリオ"/>
                <a:ea typeface="メイリオ"/>
              </a:rPr>
              <a:t>２．Black-Litterman モデル</a:t>
            </a:r>
          </a:p>
        </p:txBody>
      </p:sp>
      <p:sp>
        <p:nvSpPr>
          <p:cNvPr id="4" name="主張"/>
          <p:cNvSpPr txBox="1"/>
          <p:nvPr/>
        </p:nvSpPr>
        <p:spPr>
          <a:xfrm>
            <a:off x="676656" y="1115568"/>
            <a:ext cx="10881360" cy="393954"/>
          </a:xfrm>
          <a:prstGeom prst="rect">
            <a:avLst/>
          </a:prstGeom>
          <a:noFill/>
        </p:spPr>
        <p:txBody>
          <a:bodyPr wrap="square" lIns="45720" tIns="27432" rIns="45720" bIns="27432" anchor="t">
            <a:spAutoFit/>
          </a:bodyPr>
          <a:lstStyle/>
          <a:p>
            <a:pPr algn="l"/>
            <a:r>
              <a:rPr lang="en-US" altLang="ja-JP" sz="2200" b="1" dirty="0">
                <a:solidFill>
                  <a:srgbClr val="1973EB"/>
                </a:solidFill>
                <a:latin typeface="メイリオ"/>
                <a:ea typeface="メイリオ"/>
              </a:rPr>
              <a:t>S</a:t>
            </a:r>
            <a:r>
              <a:rPr lang="ja-JP" altLang="en-US" sz="2200" b="1" dirty="0">
                <a:solidFill>
                  <a:srgbClr val="1973EB"/>
                </a:solidFill>
                <a:latin typeface="メイリオ"/>
                <a:ea typeface="メイリオ"/>
              </a:rPr>
              <a:t>＆</a:t>
            </a:r>
            <a:r>
              <a:rPr lang="en-US" altLang="ja-JP" sz="2200" b="1" dirty="0">
                <a:solidFill>
                  <a:srgbClr val="1973EB"/>
                </a:solidFill>
                <a:latin typeface="メイリオ"/>
                <a:ea typeface="メイリオ"/>
              </a:rPr>
              <a:t>P500</a:t>
            </a:r>
            <a:r>
              <a:rPr lang="ja-JP" altLang="en-US" sz="2200" b="1" dirty="0">
                <a:solidFill>
                  <a:srgbClr val="1973EB"/>
                </a:solidFill>
                <a:latin typeface="メイリオ"/>
                <a:ea typeface="メイリオ"/>
              </a:rPr>
              <a:t>の投資比率をリスクの大きさによって</a:t>
            </a:r>
            <a:r>
              <a:rPr lang="en-US" altLang="ja-JP" sz="2200" b="1" dirty="0">
                <a:solidFill>
                  <a:srgbClr val="1973EB"/>
                </a:solidFill>
                <a:latin typeface="メイリオ"/>
                <a:ea typeface="メイリオ"/>
              </a:rPr>
              <a:t>LLM</a:t>
            </a:r>
            <a:r>
              <a:rPr lang="ja-JP" altLang="en-US" sz="2200" b="1" dirty="0">
                <a:solidFill>
                  <a:srgbClr val="1973EB"/>
                </a:solidFill>
                <a:latin typeface="メイリオ"/>
                <a:ea typeface="メイリオ"/>
              </a:rPr>
              <a:t>が導いた期待リターンに加工する</a:t>
            </a:r>
            <a:endParaRPr sz="2200" b="1" dirty="0">
              <a:solidFill>
                <a:srgbClr val="1973EB"/>
              </a:solidFill>
              <a:latin typeface="メイリオ"/>
              <a:ea typeface="メイリオ"/>
            </a:endParaRPr>
          </a:p>
        </p:txBody>
      </p:sp>
      <p:sp>
        <p:nvSpPr>
          <p:cNvPr id="5" name="市場の見方"/>
          <p:cNvSpPr/>
          <p:nvPr/>
        </p:nvSpPr>
        <p:spPr>
          <a:xfrm>
            <a:off x="676656" y="1965960"/>
            <a:ext cx="3931920" cy="160020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6656" y="4325112"/>
            <a:ext cx="3657600" cy="960120"/>
          </a:xfrm>
          <a:prstGeom prst="rect">
            <a:avLst/>
          </a:prstGeom>
          <a:noFill/>
        </p:spPr>
        <p:txBody>
          <a:bodyPr wrap="square" lIns="45720" tIns="27432" rIns="45720" bIns="27432" anchor="t">
            <a:spAutoFit/>
          </a:bodyPr>
          <a:lstStyle/>
          <a:p>
            <a:pPr algn="l"/>
            <a:r>
              <a:rPr sz="1500" b="0" dirty="0" err="1">
                <a:solidFill>
                  <a:srgbClr val="000000"/>
                </a:solidFill>
                <a:latin typeface="メイリオ"/>
                <a:ea typeface="メイリオ"/>
              </a:rPr>
              <a:t>時価総額の比率から逆算した</a:t>
            </a:r>
            <a:endParaRPr sz="1500" b="0" dirty="0">
              <a:solidFill>
                <a:srgbClr val="000000"/>
              </a:solidFill>
              <a:latin typeface="メイリオ"/>
              <a:ea typeface="メイリオ"/>
            </a:endParaRPr>
          </a:p>
          <a:p>
            <a:pPr algn="l"/>
            <a:r>
              <a:rPr sz="1500" b="0" dirty="0" err="1">
                <a:solidFill>
                  <a:srgbClr val="000000"/>
                </a:solidFill>
                <a:latin typeface="メイリオ"/>
                <a:ea typeface="メイリオ"/>
              </a:rPr>
              <a:t>期待リターン</a:t>
            </a:r>
            <a:endParaRPr sz="1500" b="0" dirty="0">
              <a:solidFill>
                <a:srgbClr val="000000"/>
              </a:solidFill>
              <a:latin typeface="メイリオ"/>
              <a:ea typeface="メイリオ"/>
            </a:endParaRPr>
          </a:p>
        </p:txBody>
      </p:sp>
      <p:sp>
        <p:nvSpPr>
          <p:cNvPr id="8" name="自分の予想"/>
          <p:cNvSpPr/>
          <p:nvPr/>
        </p:nvSpPr>
        <p:spPr>
          <a:xfrm>
            <a:off x="676656" y="3886200"/>
            <a:ext cx="3931920" cy="160020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094298"/>
            <a:ext cx="3657600" cy="317010"/>
          </a:xfrm>
          <a:prstGeom prst="rect">
            <a:avLst/>
          </a:prstGeom>
          <a:noFill/>
        </p:spPr>
        <p:txBody>
          <a:bodyPr wrap="square" lIns="45720" tIns="27432" rIns="45720" bIns="27432" anchor="t">
            <a:spAutoFit/>
          </a:bodyPr>
          <a:lstStyle/>
          <a:p>
            <a:pPr algn="l"/>
            <a:r>
              <a:rPr lang="ja-JP" altLang="en-US" sz="1700" b="1" dirty="0">
                <a:solidFill>
                  <a:srgbClr val="0D1C3B"/>
                </a:solidFill>
                <a:latin typeface="メイリオ"/>
                <a:ea typeface="メイリオ"/>
              </a:rPr>
              <a:t>予想する期待リターン</a:t>
            </a:r>
            <a:r>
              <a:rPr sz="1700" b="1" dirty="0">
                <a:solidFill>
                  <a:srgbClr val="0D1C3B"/>
                </a:solidFill>
                <a:latin typeface="メイリオ"/>
                <a:ea typeface="メイリオ"/>
              </a:rPr>
              <a:t>（</a:t>
            </a:r>
            <a:r>
              <a:rPr lang="en-US" altLang="ja-JP" sz="1700" b="1" dirty="0">
                <a:solidFill>
                  <a:srgbClr val="0D1C3B"/>
                </a:solidFill>
                <a:latin typeface="メイリオ"/>
                <a:ea typeface="メイリオ"/>
              </a:rPr>
              <a:t>V</a:t>
            </a:r>
            <a:r>
              <a:rPr sz="1700" b="1" dirty="0">
                <a:solidFill>
                  <a:srgbClr val="0D1C3B"/>
                </a:solidFill>
                <a:latin typeface="メイリオ"/>
                <a:ea typeface="メイリオ"/>
              </a:rPr>
              <a:t>）</a:t>
            </a:r>
          </a:p>
        </p:txBody>
      </p:sp>
      <p:sp>
        <p:nvSpPr>
          <p:cNvPr id="10" name="TextBox 9"/>
          <p:cNvSpPr txBox="1"/>
          <p:nvPr/>
        </p:nvSpPr>
        <p:spPr>
          <a:xfrm>
            <a:off x="886968" y="2468880"/>
            <a:ext cx="3657600" cy="517065"/>
          </a:xfrm>
          <a:prstGeom prst="rect">
            <a:avLst/>
          </a:prstGeom>
          <a:noFill/>
        </p:spPr>
        <p:txBody>
          <a:bodyPr wrap="square" lIns="45720" tIns="27432" rIns="45720" bIns="27432" anchor="t">
            <a:spAutoFit/>
          </a:bodyPr>
          <a:lstStyle/>
          <a:p>
            <a:pPr algn="l"/>
            <a:r>
              <a:rPr sz="1500" b="0" dirty="0" err="1">
                <a:solidFill>
                  <a:srgbClr val="000000"/>
                </a:solidFill>
                <a:latin typeface="メイリオ"/>
                <a:ea typeface="メイリオ"/>
              </a:rPr>
              <a:t>既存手法</a:t>
            </a:r>
            <a:r>
              <a:rPr lang="ja-JP" altLang="en-US" sz="1500" b="0" dirty="0">
                <a:solidFill>
                  <a:srgbClr val="000000"/>
                </a:solidFill>
                <a:latin typeface="メイリオ"/>
                <a:ea typeface="メイリオ"/>
              </a:rPr>
              <a:t>では日次データ、社名・業種を</a:t>
            </a:r>
            <a:r>
              <a:rPr sz="1500" b="0" dirty="0">
                <a:solidFill>
                  <a:srgbClr val="000000"/>
                </a:solidFill>
                <a:latin typeface="メイリオ"/>
                <a:ea typeface="メイリオ"/>
              </a:rPr>
              <a:t> LLM </a:t>
            </a:r>
            <a:r>
              <a:rPr lang="ja-JP" altLang="en-US" sz="1500" b="0" dirty="0">
                <a:solidFill>
                  <a:srgbClr val="000000"/>
                </a:solidFill>
                <a:latin typeface="メイリオ"/>
                <a:ea typeface="メイリオ"/>
              </a:rPr>
              <a:t>に入力したとき</a:t>
            </a:r>
            <a:r>
              <a:rPr sz="1500" b="0" dirty="0" err="1">
                <a:solidFill>
                  <a:srgbClr val="000000"/>
                </a:solidFill>
                <a:latin typeface="メイリオ"/>
                <a:ea typeface="メイリオ"/>
              </a:rPr>
              <a:t>の回答の平均</a:t>
            </a:r>
            <a:endParaRPr sz="1500" b="0" dirty="0">
              <a:solidFill>
                <a:srgbClr val="000000"/>
              </a:solidFill>
              <a:latin typeface="メイリオ"/>
              <a:ea typeface="メイリオ"/>
            </a:endParaRPr>
          </a:p>
        </p:txBody>
      </p:sp>
      <p:sp>
        <p:nvSpPr>
          <p:cNvPr id="11" name="混ぜる"/>
          <p:cNvSpPr/>
          <p:nvPr/>
        </p:nvSpPr>
        <p:spPr>
          <a:xfrm>
            <a:off x="5486400" y="2834640"/>
            <a:ext cx="2743200" cy="1783080"/>
          </a:xfrm>
          <a:prstGeom prst="roundRect">
            <a:avLst>
              <a:gd name="adj" fmla="val 8000"/>
            </a:avLst>
          </a:prstGeom>
          <a:solidFill>
            <a:srgbClr val="197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4663440" y="2761488"/>
            <a:ext cx="768096" cy="667512"/>
          </a:xfrm>
          <a:prstGeom prst="line">
            <a:avLst/>
          </a:prstGeom>
          <a:ln w="31750">
            <a:solidFill>
              <a:srgbClr val="5B61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663440" y="4023360"/>
            <a:ext cx="768096" cy="658368"/>
          </a:xfrm>
          <a:prstGeom prst="line">
            <a:avLst/>
          </a:prstGeom>
          <a:ln w="31750">
            <a:solidFill>
              <a:srgbClr val="5B61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結果"/>
          <p:cNvSpPr/>
          <p:nvPr/>
        </p:nvSpPr>
        <p:spPr>
          <a:xfrm>
            <a:off x="9189720" y="3977177"/>
            <a:ext cx="2423160" cy="731520"/>
          </a:xfrm>
          <a:prstGeom prst="roundRect">
            <a:avLst>
              <a:gd name="adj" fmla="val 8000"/>
            </a:avLst>
          </a:prstGeom>
          <a:solidFill>
            <a:srgbClr val="F5F2F9"/>
          </a:solidFill>
          <a:ln w="19050">
            <a:solidFill>
              <a:srgbClr val="197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26296" y="4209427"/>
            <a:ext cx="2240280" cy="286232"/>
          </a:xfrm>
          <a:prstGeom prst="rect">
            <a:avLst/>
          </a:prstGeom>
          <a:noFill/>
        </p:spPr>
        <p:txBody>
          <a:bodyPr wrap="square" lIns="45720" tIns="27432" rIns="45720" bIns="27432" anchor="ctr">
            <a:spAutoFit/>
          </a:bodyPr>
          <a:lstStyle/>
          <a:p>
            <a:pPr algn="ctr"/>
            <a:r>
              <a:rPr sz="1500" b="1" dirty="0" err="1">
                <a:solidFill>
                  <a:srgbClr val="0D1C3B"/>
                </a:solidFill>
                <a:latin typeface="メイリオ"/>
                <a:ea typeface="メイリオ"/>
              </a:rPr>
              <a:t>修正後</a:t>
            </a:r>
            <a:r>
              <a:rPr lang="ja-JP" altLang="en-US" sz="1500" b="1" dirty="0">
                <a:solidFill>
                  <a:srgbClr val="0D1C3B"/>
                </a:solidFill>
                <a:latin typeface="メイリオ"/>
                <a:ea typeface="メイリオ"/>
              </a:rPr>
              <a:t>の投資比率</a:t>
            </a:r>
            <a:endParaRPr sz="1500" b="1" dirty="0">
              <a:solidFill>
                <a:srgbClr val="0D1C3B"/>
              </a:solidFill>
              <a:latin typeface="メイリオ"/>
              <a:ea typeface="メイリオ"/>
            </a:endParaRPr>
          </a:p>
        </p:txBody>
      </p:sp>
      <p:cxnSp>
        <p:nvCxnSpPr>
          <p:cNvPr id="17" name="Connector 16"/>
          <p:cNvCxnSpPr>
            <a:cxnSpLocks/>
            <a:endCxn id="15" idx="1"/>
          </p:cNvCxnSpPr>
          <p:nvPr/>
        </p:nvCxnSpPr>
        <p:spPr>
          <a:xfrm>
            <a:off x="8229600" y="4342937"/>
            <a:ext cx="960120" cy="0"/>
          </a:xfrm>
          <a:prstGeom prst="line">
            <a:avLst/>
          </a:prstGeom>
          <a:ln w="31750">
            <a:solidFill>
              <a:srgbClr val="5B61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394960" y="5199888"/>
            <a:ext cx="118872" cy="118872"/>
          </a:xfrm>
          <a:prstGeom prst="ellipse">
            <a:avLst/>
          </a:prstGeom>
          <a:solidFill>
            <a:srgbClr val="197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14416" y="5047216"/>
            <a:ext cx="5998464" cy="377952"/>
          </a:xfrm>
          <a:prstGeom prst="rect">
            <a:avLst/>
          </a:prstGeom>
          <a:noFill/>
        </p:spPr>
        <p:txBody>
          <a:bodyPr wrap="square" lIns="45720" tIns="27432" rIns="45720" bIns="27432" anchor="t">
            <a:spAutoFit/>
          </a:bodyPr>
          <a:lstStyle/>
          <a:p>
            <a:pPr algn="l"/>
            <a:r>
              <a:rPr sz="1600" b="0">
                <a:solidFill>
                  <a:srgbClr val="000000"/>
                </a:solidFill>
                <a:latin typeface="メイリオ"/>
                <a:ea typeface="メイリオ"/>
              </a:rPr>
              <a:t>自信が弱い → 市場の比率（S&amp;P500）のまま</a:t>
            </a:r>
          </a:p>
        </p:txBody>
      </p:sp>
      <p:sp>
        <p:nvSpPr>
          <p:cNvPr id="20" name="Oval 19"/>
          <p:cNvSpPr/>
          <p:nvPr/>
        </p:nvSpPr>
        <p:spPr>
          <a:xfrm>
            <a:off x="5394960" y="5650992"/>
            <a:ext cx="118872" cy="118872"/>
          </a:xfrm>
          <a:prstGeom prst="ellipse">
            <a:avLst/>
          </a:prstGeom>
          <a:solidFill>
            <a:srgbClr val="197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14416" y="5526024"/>
            <a:ext cx="5998464" cy="377952"/>
          </a:xfrm>
          <a:prstGeom prst="rect">
            <a:avLst/>
          </a:prstGeom>
          <a:noFill/>
        </p:spPr>
        <p:txBody>
          <a:bodyPr wrap="square" lIns="45720" tIns="27432" rIns="45720" bIns="27432" anchor="t">
            <a:spAutoFit/>
          </a:bodyPr>
          <a:lstStyle/>
          <a:p>
            <a:pPr algn="l"/>
            <a:r>
              <a:rPr sz="1600" b="0">
                <a:solidFill>
                  <a:srgbClr val="000000"/>
                </a:solidFill>
                <a:latin typeface="メイリオ"/>
                <a:ea typeface="メイリオ"/>
              </a:rPr>
              <a:t>自信が強い → 予想どおりに比率を動かす</a:t>
            </a:r>
          </a:p>
        </p:txBody>
      </p:sp>
      <p:cxnSp>
        <p:nvCxnSpPr>
          <p:cNvPr id="22" name="Connector 16">
            <a:extLst>
              <a:ext uri="{FF2B5EF4-FFF2-40B4-BE49-F238E27FC236}">
                <a16:creationId xmlns:a16="http://schemas.microsoft.com/office/drawing/2014/main" id="{B5C3A662-6B2A-CE33-DD2A-4F62A802D6AF}"/>
              </a:ext>
            </a:extLst>
          </p:cNvPr>
          <p:cNvCxnSpPr>
            <a:cxnSpLocks/>
          </p:cNvCxnSpPr>
          <p:nvPr/>
        </p:nvCxnSpPr>
        <p:spPr>
          <a:xfrm flipH="1">
            <a:off x="8229600" y="3282881"/>
            <a:ext cx="882996" cy="0"/>
          </a:xfrm>
          <a:prstGeom prst="line">
            <a:avLst/>
          </a:prstGeom>
          <a:ln w="31750">
            <a:solidFill>
              <a:srgbClr val="5B61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12">
            <a:extLst>
              <a:ext uri="{FF2B5EF4-FFF2-40B4-BE49-F238E27FC236}">
                <a16:creationId xmlns:a16="http://schemas.microsoft.com/office/drawing/2014/main" id="{15199373-B7D0-596E-C674-D91BAA0E4780}"/>
              </a:ext>
            </a:extLst>
          </p:cNvPr>
          <p:cNvCxnSpPr>
            <a:cxnSpLocks/>
          </p:cNvCxnSpPr>
          <p:nvPr/>
        </p:nvCxnSpPr>
        <p:spPr>
          <a:xfrm flipH="1" flipV="1">
            <a:off x="4705235" y="2454171"/>
            <a:ext cx="722376" cy="619067"/>
          </a:xfrm>
          <a:prstGeom prst="line">
            <a:avLst/>
          </a:prstGeom>
          <a:ln w="31750">
            <a:solidFill>
              <a:srgbClr val="5B61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13">
            <a:extLst>
              <a:ext uri="{FF2B5EF4-FFF2-40B4-BE49-F238E27FC236}">
                <a16:creationId xmlns:a16="http://schemas.microsoft.com/office/drawing/2014/main" id="{41310C7E-9331-9A80-BDC7-D06E487CA1C6}"/>
              </a:ext>
            </a:extLst>
          </p:cNvPr>
          <p:cNvCxnSpPr>
            <a:cxnSpLocks/>
          </p:cNvCxnSpPr>
          <p:nvPr/>
        </p:nvCxnSpPr>
        <p:spPr>
          <a:xfrm flipH="1">
            <a:off x="4720590" y="4305300"/>
            <a:ext cx="674370" cy="562356"/>
          </a:xfrm>
          <a:prstGeom prst="line">
            <a:avLst/>
          </a:prstGeom>
          <a:ln w="31750">
            <a:solidFill>
              <a:srgbClr val="5B61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結果">
            <a:extLst>
              <a:ext uri="{FF2B5EF4-FFF2-40B4-BE49-F238E27FC236}">
                <a16:creationId xmlns:a16="http://schemas.microsoft.com/office/drawing/2014/main" id="{95F0CEB0-CE3A-CE3D-1D80-9C7A76C983E2}"/>
              </a:ext>
            </a:extLst>
          </p:cNvPr>
          <p:cNvSpPr/>
          <p:nvPr/>
        </p:nvSpPr>
        <p:spPr>
          <a:xfrm>
            <a:off x="9189720" y="2908062"/>
            <a:ext cx="2423160" cy="731520"/>
          </a:xfrm>
          <a:prstGeom prst="roundRect">
            <a:avLst>
              <a:gd name="adj" fmla="val 8000"/>
            </a:avLst>
          </a:prstGeom>
          <a:solidFill>
            <a:srgbClr val="F5F2F9"/>
          </a:solidFill>
          <a:ln w="19050">
            <a:solidFill>
              <a:srgbClr val="197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15">
            <a:extLst>
              <a:ext uri="{FF2B5EF4-FFF2-40B4-BE49-F238E27FC236}">
                <a16:creationId xmlns:a16="http://schemas.microsoft.com/office/drawing/2014/main" id="{09309B1C-5CE5-15E1-58CE-348258749421}"/>
              </a:ext>
            </a:extLst>
          </p:cNvPr>
          <p:cNvSpPr txBox="1"/>
          <p:nvPr/>
        </p:nvSpPr>
        <p:spPr>
          <a:xfrm>
            <a:off x="7973376" y="3060739"/>
            <a:ext cx="4890007" cy="517065"/>
          </a:xfrm>
          <a:prstGeom prst="rect">
            <a:avLst/>
          </a:prstGeom>
          <a:noFill/>
        </p:spPr>
        <p:txBody>
          <a:bodyPr wrap="square" lIns="45720" tIns="27432" rIns="45720" bIns="27432" anchor="ctr">
            <a:spAutoFit/>
          </a:bodyPr>
          <a:lstStyle/>
          <a:p>
            <a:pPr algn="ctr"/>
            <a:r>
              <a:rPr sz="1500" b="1" dirty="0" err="1">
                <a:solidFill>
                  <a:srgbClr val="0D1C3B"/>
                </a:solidFill>
                <a:latin typeface="メイリオ"/>
                <a:ea typeface="メイリオ"/>
              </a:rPr>
              <a:t>修正</a:t>
            </a:r>
            <a:r>
              <a:rPr lang="ja-JP" altLang="en-US" sz="1500" b="1" dirty="0">
                <a:solidFill>
                  <a:srgbClr val="0D1C3B"/>
                </a:solidFill>
                <a:latin typeface="メイリオ"/>
                <a:ea typeface="メイリオ"/>
              </a:rPr>
              <a:t>前の投資比率</a:t>
            </a:r>
            <a:endParaRPr lang="en-US" altLang="ja-JP" sz="1500" b="1" dirty="0">
              <a:solidFill>
                <a:srgbClr val="0D1C3B"/>
              </a:solidFill>
              <a:latin typeface="メイリオ"/>
              <a:ea typeface="メイリオ"/>
            </a:endParaRPr>
          </a:p>
          <a:p>
            <a:pPr algn="ctr"/>
            <a:r>
              <a:rPr lang="ja-JP" altLang="en-US" sz="1500" b="1" dirty="0">
                <a:solidFill>
                  <a:srgbClr val="0D1C3B"/>
                </a:solidFill>
                <a:latin typeface="メイリオ"/>
                <a:ea typeface="メイリオ"/>
              </a:rPr>
              <a:t>（</a:t>
            </a:r>
            <a:r>
              <a:rPr lang="en-US" altLang="ja-JP" sz="1500" b="1" dirty="0">
                <a:solidFill>
                  <a:srgbClr val="0D1C3B"/>
                </a:solidFill>
                <a:latin typeface="メイリオ"/>
                <a:ea typeface="メイリオ"/>
              </a:rPr>
              <a:t>S</a:t>
            </a:r>
            <a:r>
              <a:rPr lang="ja-JP" altLang="en-US" sz="1500" b="1" dirty="0">
                <a:solidFill>
                  <a:srgbClr val="0D1C3B"/>
                </a:solidFill>
                <a:latin typeface="メイリオ"/>
                <a:ea typeface="メイリオ"/>
              </a:rPr>
              <a:t>＆</a:t>
            </a:r>
            <a:r>
              <a:rPr lang="en-US" altLang="ja-JP" sz="1500" b="1" dirty="0">
                <a:solidFill>
                  <a:srgbClr val="0D1C3B"/>
                </a:solidFill>
                <a:latin typeface="メイリオ"/>
                <a:ea typeface="メイリオ"/>
              </a:rPr>
              <a:t>P500</a:t>
            </a:r>
            <a:r>
              <a:rPr lang="ja-JP" altLang="en-US" sz="1500" b="1" dirty="0">
                <a:solidFill>
                  <a:srgbClr val="0D1C3B"/>
                </a:solidFill>
                <a:latin typeface="メイリオ"/>
                <a:ea typeface="メイリオ"/>
              </a:rPr>
              <a:t>と全く同じ比率）</a:t>
            </a:r>
            <a:endParaRPr sz="1500" b="1" dirty="0">
              <a:solidFill>
                <a:srgbClr val="0D1C3B"/>
              </a:solidFill>
              <a:latin typeface="メイリオ"/>
              <a:ea typeface="メイリオ"/>
            </a:endParaRPr>
          </a:p>
        </p:txBody>
      </p:sp>
      <p:sp>
        <p:nvSpPr>
          <p:cNvPr id="6" name="TextBox 5"/>
          <p:cNvSpPr txBox="1"/>
          <p:nvPr/>
        </p:nvSpPr>
        <p:spPr>
          <a:xfrm>
            <a:off x="822960" y="3959352"/>
            <a:ext cx="3657600" cy="317010"/>
          </a:xfrm>
          <a:prstGeom prst="rect">
            <a:avLst/>
          </a:prstGeom>
          <a:noFill/>
        </p:spPr>
        <p:txBody>
          <a:bodyPr wrap="square" lIns="45720" tIns="27432" rIns="45720" bIns="27432" anchor="t">
            <a:spAutoFit/>
          </a:bodyPr>
          <a:lstStyle/>
          <a:p>
            <a:pPr algn="l"/>
            <a:r>
              <a:rPr lang="ja-JP" altLang="en-US" sz="1700" b="1" dirty="0">
                <a:solidFill>
                  <a:srgbClr val="0D1C3B"/>
                </a:solidFill>
                <a:latin typeface="メイリオ"/>
                <a:ea typeface="メイリオ"/>
              </a:rPr>
              <a:t>予想するリスク（</a:t>
            </a:r>
            <a:r>
              <a:rPr lang="en-US" altLang="ja-JP" sz="1700" b="1" dirty="0">
                <a:solidFill>
                  <a:srgbClr val="0D1C3B"/>
                </a:solidFill>
                <a:latin typeface="メイリオ"/>
                <a:ea typeface="メイリオ"/>
              </a:rPr>
              <a:t>Ω</a:t>
            </a:r>
            <a:r>
              <a:rPr lang="ja-JP" altLang="en-US" sz="1700" b="1" dirty="0">
                <a:solidFill>
                  <a:srgbClr val="0D1C3B"/>
                </a:solidFill>
                <a:latin typeface="メイリオ"/>
                <a:ea typeface="メイリオ"/>
              </a:rPr>
              <a:t>）</a:t>
            </a:r>
            <a:endParaRPr sz="1700" b="1" dirty="0">
              <a:solidFill>
                <a:srgbClr val="0D1C3B"/>
              </a:solidFill>
              <a:latin typeface="メイリオ"/>
              <a:ea typeface="メイリオ"/>
            </a:endParaRPr>
          </a:p>
        </p:txBody>
      </p:sp>
      <p:sp>
        <p:nvSpPr>
          <p:cNvPr id="35" name="正方形/長方形 34">
            <a:extLst>
              <a:ext uri="{FF2B5EF4-FFF2-40B4-BE49-F238E27FC236}">
                <a16:creationId xmlns:a16="http://schemas.microsoft.com/office/drawing/2014/main" id="{265EDFC0-6CA2-AED2-5805-383FF160A5D7}"/>
              </a:ext>
            </a:extLst>
          </p:cNvPr>
          <p:cNvSpPr/>
          <p:nvPr/>
        </p:nvSpPr>
        <p:spPr>
          <a:xfrm>
            <a:off x="5798820" y="3124758"/>
            <a:ext cx="2135995" cy="11805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dirty="0">
                <a:solidFill>
                  <a:schemeClr val="tx1"/>
                </a:solidFill>
              </a:rPr>
              <a:t>最適化</a:t>
            </a:r>
          </a:p>
        </p:txBody>
      </p:sp>
      <p:sp>
        <p:nvSpPr>
          <p:cNvPr id="36" name="テキスト ボックス 35">
            <a:extLst>
              <a:ext uri="{FF2B5EF4-FFF2-40B4-BE49-F238E27FC236}">
                <a16:creationId xmlns:a16="http://schemas.microsoft.com/office/drawing/2014/main" id="{BF1AC63A-2FE1-54C7-CE6A-284F18E8ED2E}"/>
              </a:ext>
            </a:extLst>
          </p:cNvPr>
          <p:cNvSpPr txBox="1"/>
          <p:nvPr/>
        </p:nvSpPr>
        <p:spPr>
          <a:xfrm>
            <a:off x="886968" y="4352543"/>
            <a:ext cx="3343287" cy="784830"/>
          </a:xfrm>
          <a:prstGeom prst="rect">
            <a:avLst/>
          </a:prstGeom>
          <a:noFill/>
        </p:spPr>
        <p:txBody>
          <a:bodyPr wrap="square" rtlCol="0">
            <a:spAutoFit/>
          </a:bodyPr>
          <a:lstStyle/>
          <a:p>
            <a:r>
              <a:rPr kumimoji="1" lang="en-US" altLang="ja-JP" sz="1500" dirty="0">
                <a:latin typeface="+mn-ea"/>
              </a:rPr>
              <a:t>LLM</a:t>
            </a:r>
            <a:r>
              <a:rPr kumimoji="1" lang="ja-JP" altLang="en-US" sz="1500" dirty="0">
                <a:latin typeface="+mn-ea"/>
              </a:rPr>
              <a:t>に各銘柄についての期待リターンを</a:t>
            </a:r>
            <a:r>
              <a:rPr lang="en-US" altLang="ja-JP" sz="1500" dirty="0">
                <a:latin typeface="+mn-ea"/>
              </a:rPr>
              <a:t>30</a:t>
            </a:r>
            <a:r>
              <a:rPr lang="ja-JP" altLang="en-US" sz="1500" dirty="0">
                <a:latin typeface="+mn-ea"/>
              </a:rPr>
              <a:t>回ずつ</a:t>
            </a:r>
            <a:r>
              <a:rPr kumimoji="1" lang="ja-JP" altLang="en-US" sz="1500" dirty="0">
                <a:latin typeface="+mn-ea"/>
              </a:rPr>
              <a:t>回答させたときの回答の分散</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p:cNvSpPr txBox="1"/>
          <p:nvPr/>
        </p:nvSpPr>
        <p:spPr>
          <a:xfrm>
            <a:off x="493776" y="182880"/>
            <a:ext cx="10149840" cy="749808"/>
          </a:xfrm>
          <a:prstGeom prst="rect">
            <a:avLst/>
          </a:prstGeom>
          <a:noFill/>
        </p:spPr>
        <p:txBody>
          <a:bodyPr wrap="square" lIns="45720" tIns="27432" rIns="45720" bIns="27432" anchor="t">
            <a:spAutoFit/>
          </a:bodyPr>
          <a:lstStyle/>
          <a:p>
            <a:pPr algn="l"/>
            <a:r>
              <a:rPr sz="4300" b="1">
                <a:solidFill>
                  <a:srgbClr val="000000"/>
                </a:solidFill>
                <a:latin typeface="メイリオ"/>
                <a:ea typeface="メイリオ"/>
              </a:rPr>
              <a:t>２．既存手法の再現結果</a:t>
            </a:r>
          </a:p>
        </p:txBody>
      </p:sp>
      <p:sp>
        <p:nvSpPr>
          <p:cNvPr id="4" name="主張"/>
          <p:cNvSpPr txBox="1"/>
          <p:nvPr/>
        </p:nvSpPr>
        <p:spPr>
          <a:xfrm>
            <a:off x="676656" y="1115568"/>
            <a:ext cx="10881360" cy="457200"/>
          </a:xfrm>
          <a:prstGeom prst="rect">
            <a:avLst/>
          </a:prstGeom>
          <a:noFill/>
        </p:spPr>
        <p:txBody>
          <a:bodyPr wrap="square" lIns="45720" tIns="27432" rIns="45720" bIns="27432" anchor="t">
            <a:spAutoFit/>
          </a:bodyPr>
          <a:lstStyle/>
          <a:p>
            <a:pPr algn="l"/>
            <a:r>
              <a:rPr sz="2200" b="1">
                <a:solidFill>
                  <a:srgbClr val="1973EB"/>
                </a:solidFill>
                <a:latin typeface="メイリオ"/>
                <a:ea typeface="メイリオ"/>
              </a:rPr>
              <a:t>再現すると、成績は元の S&amp;P500 を上回って見える</a:t>
            </a:r>
          </a:p>
        </p:txBody>
      </p:sp>
      <p:graphicFrame>
        <p:nvGraphicFramePr>
          <p:cNvPr id="5" name="累積リターン"/>
          <p:cNvGraphicFramePr>
            <a:graphicFrameLocks noGrp="1"/>
          </p:cNvGraphicFramePr>
          <p:nvPr/>
        </p:nvGraphicFramePr>
        <p:xfrm>
          <a:off x="548640" y="1783080"/>
          <a:ext cx="758952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8412480" y="1828800"/>
            <a:ext cx="3291840" cy="365760"/>
          </a:xfrm>
          <a:prstGeom prst="rect">
            <a:avLst/>
          </a:prstGeom>
          <a:noFill/>
        </p:spPr>
        <p:txBody>
          <a:bodyPr wrap="square" lIns="45720" tIns="27432" rIns="45720" bIns="27432" anchor="t">
            <a:spAutoFit/>
          </a:bodyPr>
          <a:lstStyle/>
          <a:p>
            <a:pPr algn="l"/>
            <a:r>
              <a:rPr sz="1300" b="1">
                <a:solidFill>
                  <a:srgbClr val="5B616B"/>
                </a:solidFill>
                <a:latin typeface="メイリオ"/>
                <a:ea typeface="メイリオ"/>
              </a:rPr>
              <a:t>年率リターン</a:t>
            </a:r>
            <a:r>
              <a:rPr sz="1300" b="0">
                <a:solidFill>
                  <a:srgbClr val="5B616B"/>
                </a:solidFill>
                <a:latin typeface="メイリオ"/>
                <a:ea typeface="メイリオ"/>
              </a:rPr>
              <a:t>　（年率リスク）</a:t>
            </a:r>
          </a:p>
        </p:txBody>
      </p:sp>
      <p:sp>
        <p:nvSpPr>
          <p:cNvPr id="7" name="Rounded Rectangle 6"/>
          <p:cNvSpPr/>
          <p:nvPr/>
        </p:nvSpPr>
        <p:spPr>
          <a:xfrm>
            <a:off x="8412480" y="2240280"/>
            <a:ext cx="3246120" cy="82296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49640" y="2295144"/>
            <a:ext cx="3017520" cy="320040"/>
          </a:xfrm>
          <a:prstGeom prst="rect">
            <a:avLst/>
          </a:prstGeom>
          <a:noFill/>
        </p:spPr>
        <p:txBody>
          <a:bodyPr wrap="square" lIns="45720" tIns="27432" rIns="45720" bIns="27432" anchor="t">
            <a:spAutoFit/>
          </a:bodyPr>
          <a:lstStyle/>
          <a:p>
            <a:pPr algn="l"/>
            <a:r>
              <a:rPr sz="1300" b="0">
                <a:solidFill>
                  <a:srgbClr val="0D1C3B"/>
                </a:solidFill>
                <a:latin typeface="メイリオ"/>
                <a:ea typeface="メイリオ"/>
              </a:rPr>
              <a:t>BL（既存手法）</a:t>
            </a:r>
          </a:p>
        </p:txBody>
      </p:sp>
      <p:sp>
        <p:nvSpPr>
          <p:cNvPr id="9" name="TextBox 8"/>
          <p:cNvSpPr txBox="1"/>
          <p:nvPr/>
        </p:nvSpPr>
        <p:spPr>
          <a:xfrm>
            <a:off x="8549640" y="2569464"/>
            <a:ext cx="3017520" cy="457200"/>
          </a:xfrm>
          <a:prstGeom prst="rect">
            <a:avLst/>
          </a:prstGeom>
          <a:noFill/>
        </p:spPr>
        <p:txBody>
          <a:bodyPr wrap="square" lIns="45720" tIns="27432" rIns="45720" bIns="27432" anchor="t">
            <a:spAutoFit/>
          </a:bodyPr>
          <a:lstStyle/>
          <a:p>
            <a:pPr algn="l"/>
            <a:r>
              <a:rPr sz="2400" b="1">
                <a:solidFill>
                  <a:srgbClr val="FE733C"/>
                </a:solidFill>
                <a:latin typeface="メイリオ"/>
                <a:ea typeface="メイリオ"/>
              </a:rPr>
              <a:t>+35.0%</a:t>
            </a:r>
            <a:r>
              <a:rPr sz="1400" b="0">
                <a:solidFill>
                  <a:srgbClr val="5B616B"/>
                </a:solidFill>
                <a:latin typeface="メイリオ"/>
                <a:ea typeface="メイリオ"/>
              </a:rPr>
              <a:t>　（23.5%）</a:t>
            </a:r>
          </a:p>
        </p:txBody>
      </p:sp>
      <p:sp>
        <p:nvSpPr>
          <p:cNvPr id="10" name="Rounded Rectangle 9"/>
          <p:cNvSpPr/>
          <p:nvPr/>
        </p:nvSpPr>
        <p:spPr>
          <a:xfrm>
            <a:off x="8412480" y="3172968"/>
            <a:ext cx="3246120" cy="82296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49640" y="3227832"/>
            <a:ext cx="3017520" cy="320040"/>
          </a:xfrm>
          <a:prstGeom prst="rect">
            <a:avLst/>
          </a:prstGeom>
          <a:noFill/>
        </p:spPr>
        <p:txBody>
          <a:bodyPr wrap="square" lIns="45720" tIns="27432" rIns="45720" bIns="27432" anchor="t">
            <a:spAutoFit/>
          </a:bodyPr>
          <a:lstStyle/>
          <a:p>
            <a:pPr algn="l"/>
            <a:r>
              <a:rPr sz="1300" b="0">
                <a:solidFill>
                  <a:srgbClr val="0D1C3B"/>
                </a:solidFill>
                <a:latin typeface="メイリオ"/>
                <a:ea typeface="メイリオ"/>
              </a:rPr>
              <a:t>平均分散</a:t>
            </a:r>
          </a:p>
        </p:txBody>
      </p:sp>
      <p:sp>
        <p:nvSpPr>
          <p:cNvPr id="12" name="TextBox 11"/>
          <p:cNvSpPr txBox="1"/>
          <p:nvPr/>
        </p:nvSpPr>
        <p:spPr>
          <a:xfrm>
            <a:off x="8549640" y="3502152"/>
            <a:ext cx="3017520" cy="457200"/>
          </a:xfrm>
          <a:prstGeom prst="rect">
            <a:avLst/>
          </a:prstGeom>
          <a:noFill/>
        </p:spPr>
        <p:txBody>
          <a:bodyPr wrap="square" lIns="45720" tIns="27432" rIns="45720" bIns="27432" anchor="t">
            <a:spAutoFit/>
          </a:bodyPr>
          <a:lstStyle/>
          <a:p>
            <a:pPr algn="l"/>
            <a:r>
              <a:rPr sz="2400" b="1">
                <a:solidFill>
                  <a:srgbClr val="B87A00"/>
                </a:solidFill>
                <a:latin typeface="メイリオ"/>
                <a:ea typeface="メイリオ"/>
              </a:rPr>
              <a:t>+29.4%</a:t>
            </a:r>
            <a:r>
              <a:rPr sz="1400" b="0">
                <a:solidFill>
                  <a:srgbClr val="5B616B"/>
                </a:solidFill>
                <a:latin typeface="メイリオ"/>
                <a:ea typeface="メイリオ"/>
              </a:rPr>
              <a:t>　（24.8%）</a:t>
            </a:r>
          </a:p>
        </p:txBody>
      </p:sp>
      <p:sp>
        <p:nvSpPr>
          <p:cNvPr id="13" name="Rounded Rectangle 12"/>
          <p:cNvSpPr/>
          <p:nvPr/>
        </p:nvSpPr>
        <p:spPr>
          <a:xfrm>
            <a:off x="8412480" y="4105656"/>
            <a:ext cx="3246120" cy="82296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49640" y="4160520"/>
            <a:ext cx="3017520" cy="320040"/>
          </a:xfrm>
          <a:prstGeom prst="rect">
            <a:avLst/>
          </a:prstGeom>
          <a:noFill/>
        </p:spPr>
        <p:txBody>
          <a:bodyPr wrap="square" lIns="45720" tIns="27432" rIns="45720" bIns="27432" anchor="t">
            <a:spAutoFit/>
          </a:bodyPr>
          <a:lstStyle/>
          <a:p>
            <a:pPr algn="l"/>
            <a:r>
              <a:rPr sz="1300" b="0">
                <a:solidFill>
                  <a:srgbClr val="0D1C3B"/>
                </a:solidFill>
                <a:latin typeface="メイリオ"/>
                <a:ea typeface="メイリオ"/>
              </a:rPr>
              <a:t>元の S&amp;P500</a:t>
            </a:r>
          </a:p>
        </p:txBody>
      </p:sp>
      <p:sp>
        <p:nvSpPr>
          <p:cNvPr id="15" name="TextBox 14"/>
          <p:cNvSpPr txBox="1"/>
          <p:nvPr/>
        </p:nvSpPr>
        <p:spPr>
          <a:xfrm>
            <a:off x="8549640" y="4434840"/>
            <a:ext cx="3017520" cy="457200"/>
          </a:xfrm>
          <a:prstGeom prst="rect">
            <a:avLst/>
          </a:prstGeom>
          <a:noFill/>
        </p:spPr>
        <p:txBody>
          <a:bodyPr wrap="square" lIns="45720" tIns="27432" rIns="45720" bIns="27432" anchor="t">
            <a:spAutoFit/>
          </a:bodyPr>
          <a:lstStyle/>
          <a:p>
            <a:pPr algn="l"/>
            <a:r>
              <a:rPr sz="2400" b="1">
                <a:solidFill>
                  <a:srgbClr val="1973EB"/>
                </a:solidFill>
                <a:latin typeface="メイリオ"/>
                <a:ea typeface="メイリオ"/>
              </a:rPr>
              <a:t>+17.7%</a:t>
            </a:r>
            <a:r>
              <a:rPr sz="1400" b="0">
                <a:solidFill>
                  <a:srgbClr val="5B616B"/>
                </a:solidFill>
                <a:latin typeface="メイリオ"/>
                <a:ea typeface="メイリオ"/>
              </a:rPr>
              <a:t>　（12.2%）</a:t>
            </a:r>
          </a:p>
        </p:txBody>
      </p:sp>
      <p:sp>
        <p:nvSpPr>
          <p:cNvPr id="16" name="Rounded Rectangle 15"/>
          <p:cNvSpPr/>
          <p:nvPr/>
        </p:nvSpPr>
        <p:spPr>
          <a:xfrm>
            <a:off x="8412480" y="5038344"/>
            <a:ext cx="3246120" cy="82296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49640" y="5093207"/>
            <a:ext cx="3017520" cy="320040"/>
          </a:xfrm>
          <a:prstGeom prst="rect">
            <a:avLst/>
          </a:prstGeom>
          <a:noFill/>
        </p:spPr>
        <p:txBody>
          <a:bodyPr wrap="square" lIns="45720" tIns="27432" rIns="45720" bIns="27432" anchor="t">
            <a:spAutoFit/>
          </a:bodyPr>
          <a:lstStyle/>
          <a:p>
            <a:pPr algn="l"/>
            <a:r>
              <a:rPr sz="1300" b="0">
                <a:solidFill>
                  <a:srgbClr val="0D1C3B"/>
                </a:solidFill>
                <a:latin typeface="メイリオ"/>
                <a:ea typeface="メイリオ"/>
              </a:rPr>
              <a:t>等金額</a:t>
            </a:r>
          </a:p>
        </p:txBody>
      </p:sp>
      <p:sp>
        <p:nvSpPr>
          <p:cNvPr id="18" name="TextBox 17"/>
          <p:cNvSpPr txBox="1"/>
          <p:nvPr/>
        </p:nvSpPr>
        <p:spPr>
          <a:xfrm>
            <a:off x="8549640" y="5367528"/>
            <a:ext cx="3017520" cy="457200"/>
          </a:xfrm>
          <a:prstGeom prst="rect">
            <a:avLst/>
          </a:prstGeom>
          <a:noFill/>
        </p:spPr>
        <p:txBody>
          <a:bodyPr wrap="square" lIns="45720" tIns="27432" rIns="45720" bIns="27432" anchor="t">
            <a:spAutoFit/>
          </a:bodyPr>
          <a:lstStyle/>
          <a:p>
            <a:pPr algn="l"/>
            <a:r>
              <a:rPr sz="2400" b="1">
                <a:solidFill>
                  <a:srgbClr val="12876C"/>
                </a:solidFill>
                <a:latin typeface="メイリオ"/>
                <a:ea typeface="メイリオ"/>
              </a:rPr>
              <a:t>+10.1%</a:t>
            </a:r>
            <a:r>
              <a:rPr sz="1400" b="0">
                <a:solidFill>
                  <a:srgbClr val="5B616B"/>
                </a:solidFill>
                <a:latin typeface="メイリオ"/>
                <a:ea typeface="メイリオ"/>
              </a:rPr>
              <a:t>　（11.7%）</a:t>
            </a:r>
          </a:p>
        </p:txBody>
      </p:sp>
      <p:sp>
        <p:nvSpPr>
          <p:cNvPr id="19" name="TextBox 18"/>
          <p:cNvSpPr txBox="1"/>
          <p:nvPr/>
        </p:nvSpPr>
        <p:spPr>
          <a:xfrm>
            <a:off x="676656" y="6263640"/>
            <a:ext cx="10881360" cy="320040"/>
          </a:xfrm>
          <a:prstGeom prst="rect">
            <a:avLst/>
          </a:prstGeom>
          <a:noFill/>
        </p:spPr>
        <p:txBody>
          <a:bodyPr wrap="square" lIns="45720" tIns="27432" rIns="45720" bIns="27432" anchor="t">
            <a:spAutoFit/>
          </a:bodyPr>
          <a:lstStyle/>
          <a:p>
            <a:pPr algn="l"/>
            <a:r>
              <a:rPr sz="1100" b="0">
                <a:solidFill>
                  <a:srgbClr val="5B616B"/>
                </a:solidFill>
                <a:latin typeface="メイリオ"/>
                <a:ea typeface="メイリオ"/>
              </a:rPr>
              <a:t>予測期間：2024年4月〜2026年9月（30か月）。配当込み、売買コストなし。モデル・期間・構成銘柄の扱いは [2] と異なる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p:cNvSpPr txBox="1"/>
          <p:nvPr/>
        </p:nvSpPr>
        <p:spPr>
          <a:xfrm>
            <a:off x="493776" y="182880"/>
            <a:ext cx="10149840" cy="717119"/>
          </a:xfrm>
          <a:prstGeom prst="rect">
            <a:avLst/>
          </a:prstGeom>
          <a:noFill/>
        </p:spPr>
        <p:txBody>
          <a:bodyPr wrap="square" lIns="45720" tIns="27432" rIns="45720" bIns="27432" anchor="t">
            <a:spAutoFit/>
          </a:bodyPr>
          <a:lstStyle/>
          <a:p>
            <a:pPr algn="l"/>
            <a:r>
              <a:rPr sz="4300" b="1" dirty="0">
                <a:solidFill>
                  <a:srgbClr val="000000"/>
                </a:solidFill>
                <a:latin typeface="メイリオ"/>
                <a:ea typeface="メイリオ"/>
              </a:rPr>
              <a:t>２．問題点</a:t>
            </a:r>
          </a:p>
        </p:txBody>
      </p:sp>
      <p:sp>
        <p:nvSpPr>
          <p:cNvPr id="4" name="主張"/>
          <p:cNvSpPr txBox="1"/>
          <p:nvPr/>
        </p:nvSpPr>
        <p:spPr>
          <a:xfrm>
            <a:off x="676656" y="1097280"/>
            <a:ext cx="10881360" cy="438912"/>
          </a:xfrm>
          <a:prstGeom prst="rect">
            <a:avLst/>
          </a:prstGeom>
          <a:noFill/>
        </p:spPr>
        <p:txBody>
          <a:bodyPr wrap="square" lIns="45720" tIns="27432" rIns="45720" bIns="27432" anchor="t">
            <a:spAutoFit/>
          </a:bodyPr>
          <a:lstStyle/>
          <a:p>
            <a:pPr algn="l"/>
            <a:r>
              <a:rPr sz="2000" b="1">
                <a:solidFill>
                  <a:srgbClr val="1973EB"/>
                </a:solidFill>
                <a:latin typeface="メイリオ"/>
                <a:ea typeface="メイリオ"/>
              </a:rPr>
              <a:t>既存手法は LLM に数値しか渡しておらず、非構造データを読む LLM の強みを使えていない</a:t>
            </a:r>
          </a:p>
        </p:txBody>
      </p:sp>
      <p:sp>
        <p:nvSpPr>
          <p:cNvPr id="5" name="渡している情報"/>
          <p:cNvSpPr/>
          <p:nvPr/>
        </p:nvSpPr>
        <p:spPr>
          <a:xfrm>
            <a:off x="676656" y="1783080"/>
            <a:ext cx="5349240" cy="2971800"/>
          </a:xfrm>
          <a:prstGeom prst="roundRect">
            <a:avLst>
              <a:gd name="adj" fmla="val 6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1874519"/>
            <a:ext cx="4983480" cy="384048"/>
          </a:xfrm>
          <a:prstGeom prst="rect">
            <a:avLst/>
          </a:prstGeom>
          <a:noFill/>
        </p:spPr>
        <p:txBody>
          <a:bodyPr wrap="square" lIns="45720" tIns="27432" rIns="45720" bIns="27432" anchor="t">
            <a:spAutoFit/>
          </a:bodyPr>
          <a:lstStyle/>
          <a:p>
            <a:pPr algn="l"/>
            <a:r>
              <a:rPr sz="1700" b="1">
                <a:solidFill>
                  <a:srgbClr val="0D1C3B"/>
                </a:solidFill>
                <a:latin typeface="メイリオ"/>
                <a:ea typeface="メイリオ"/>
              </a:rPr>
              <a:t>既存手法が LLM に渡している情報</a:t>
            </a:r>
          </a:p>
        </p:txBody>
      </p:sp>
      <p:sp>
        <p:nvSpPr>
          <p:cNvPr id="7" name="プロンプトの例"/>
          <p:cNvSpPr/>
          <p:nvPr/>
        </p:nvSpPr>
        <p:spPr>
          <a:xfrm>
            <a:off x="859536" y="2359152"/>
            <a:ext cx="4983480" cy="1645920"/>
          </a:xfrm>
          <a:prstGeom prst="roundRect">
            <a:avLst>
              <a:gd name="adj" fmla="val 4000"/>
            </a:avLst>
          </a:prstGeom>
          <a:solidFill>
            <a:srgbClr val="FFFFFF"/>
          </a:solidFill>
          <a:ln w="19050">
            <a:solidFill>
              <a:srgbClr val="C9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9264" y="2414016"/>
            <a:ext cx="4800600" cy="1554480"/>
          </a:xfrm>
          <a:prstGeom prst="rect">
            <a:avLst/>
          </a:prstGeom>
          <a:noFill/>
        </p:spPr>
        <p:txBody>
          <a:bodyPr wrap="square" lIns="45720" tIns="27432" rIns="45720" bIns="27432" anchor="t">
            <a:spAutoFit/>
          </a:bodyPr>
          <a:lstStyle/>
          <a:p>
            <a:pPr algn="l">
              <a:spcAft>
                <a:spcPts val="200"/>
              </a:spcAft>
            </a:pPr>
            <a:r>
              <a:rPr sz="1250" b="0" dirty="0">
                <a:solidFill>
                  <a:srgbClr val="0D1C3B"/>
                </a:solidFill>
                <a:latin typeface="Courier New"/>
                <a:ea typeface="メイリオ"/>
              </a:rPr>
              <a:t>Ticker: AAPL</a:t>
            </a:r>
          </a:p>
          <a:p>
            <a:pPr algn="l">
              <a:spcAft>
                <a:spcPts val="200"/>
              </a:spcAft>
            </a:pPr>
            <a:r>
              <a:rPr sz="1250" b="0" dirty="0">
                <a:solidFill>
                  <a:srgbClr val="0D1C3B"/>
                </a:solidFill>
                <a:latin typeface="Courier New"/>
                <a:ea typeface="メイリオ"/>
              </a:rPr>
              <a:t>Security: Apple Inc.</a:t>
            </a:r>
          </a:p>
          <a:p>
            <a:pPr algn="l">
              <a:spcAft>
                <a:spcPts val="200"/>
              </a:spcAft>
            </a:pPr>
            <a:r>
              <a:rPr sz="1250" b="0" dirty="0">
                <a:solidFill>
                  <a:srgbClr val="0D1C3B"/>
                </a:solidFill>
                <a:latin typeface="Courier New"/>
                <a:ea typeface="メイリオ"/>
              </a:rPr>
              <a:t>Sector: Information Technology</a:t>
            </a:r>
          </a:p>
          <a:p>
            <a:pPr algn="l">
              <a:spcAft>
                <a:spcPts val="200"/>
              </a:spcAft>
            </a:pPr>
            <a:r>
              <a:rPr sz="1250" b="0" dirty="0">
                <a:solidFill>
                  <a:srgbClr val="0D1C3B"/>
                </a:solidFill>
                <a:latin typeface="Courier New"/>
                <a:ea typeface="メイリオ"/>
              </a:rPr>
              <a:t>Sub-Industry: Technology Hardware, ...</a:t>
            </a:r>
          </a:p>
          <a:p>
            <a:pPr algn="l">
              <a:spcAft>
                <a:spcPts val="200"/>
              </a:spcAft>
            </a:pPr>
            <a:r>
              <a:rPr sz="1250" b="0" dirty="0" err="1">
                <a:solidFill>
                  <a:srgbClr val="0D1C3B"/>
                </a:solidFill>
                <a:latin typeface="Courier New"/>
                <a:ea typeface="メイリオ"/>
              </a:rPr>
              <a:t>pct_change</a:t>
            </a:r>
            <a:r>
              <a:rPr sz="1250" b="0" dirty="0">
                <a:solidFill>
                  <a:srgbClr val="0D1C3B"/>
                </a:solidFill>
                <a:latin typeface="Courier New"/>
                <a:ea typeface="メイリオ"/>
              </a:rPr>
              <a:t>: [0.0016, 0.0078, -0.0071, ...]</a:t>
            </a:r>
          </a:p>
        </p:txBody>
      </p:sp>
      <p:sp>
        <p:nvSpPr>
          <p:cNvPr id="9" name="TextBox 8"/>
          <p:cNvSpPr txBox="1"/>
          <p:nvPr/>
        </p:nvSpPr>
        <p:spPr>
          <a:xfrm>
            <a:off x="859536" y="4096512"/>
            <a:ext cx="4983480" cy="566928"/>
          </a:xfrm>
          <a:prstGeom prst="rect">
            <a:avLst/>
          </a:prstGeom>
          <a:noFill/>
        </p:spPr>
        <p:txBody>
          <a:bodyPr wrap="square" lIns="45720" tIns="27432" rIns="45720" bIns="27432" anchor="t">
            <a:spAutoFit/>
          </a:bodyPr>
          <a:lstStyle/>
          <a:p>
            <a:pPr algn="l"/>
            <a:r>
              <a:rPr sz="1400" b="1">
                <a:solidFill>
                  <a:srgbClr val="000000"/>
                </a:solidFill>
                <a:latin typeface="メイリオ"/>
                <a:ea typeface="メイリオ"/>
              </a:rPr>
              <a:t>1か月分の日次リターン（約20個の数値）</a:t>
            </a:r>
            <a:r>
              <a:rPr sz="1400" b="0">
                <a:solidFill>
                  <a:srgbClr val="000000"/>
                </a:solidFill>
                <a:latin typeface="メイリオ"/>
                <a:ea typeface="メイリオ"/>
              </a:rPr>
              <a:t>と、社名・業種だけ</a:t>
            </a:r>
          </a:p>
        </p:txBody>
      </p:sp>
      <p:sp>
        <p:nvSpPr>
          <p:cNvPr id="10" name="渡していない情報"/>
          <p:cNvSpPr/>
          <p:nvPr/>
        </p:nvSpPr>
        <p:spPr>
          <a:xfrm>
            <a:off x="6263640" y="1783080"/>
            <a:ext cx="5349240" cy="2971800"/>
          </a:xfrm>
          <a:prstGeom prst="roundRect">
            <a:avLst>
              <a:gd name="adj" fmla="val 6000"/>
            </a:avLst>
          </a:prstGeom>
          <a:noFill/>
          <a:ln w="19050">
            <a:solidFill>
              <a:srgbClr val="5B616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874519"/>
            <a:ext cx="4983480" cy="384048"/>
          </a:xfrm>
          <a:prstGeom prst="rect">
            <a:avLst/>
          </a:prstGeom>
          <a:noFill/>
        </p:spPr>
        <p:txBody>
          <a:bodyPr wrap="square" lIns="45720" tIns="27432" rIns="45720" bIns="27432" anchor="t">
            <a:spAutoFit/>
          </a:bodyPr>
          <a:lstStyle/>
          <a:p>
            <a:pPr algn="l"/>
            <a:r>
              <a:rPr sz="1700" b="1">
                <a:solidFill>
                  <a:srgbClr val="5B616B"/>
                </a:solidFill>
                <a:latin typeface="メイリオ"/>
                <a:ea typeface="メイリオ"/>
              </a:rPr>
              <a:t>渡していない情報</a:t>
            </a:r>
            <a:r>
              <a:rPr sz="1300" b="0">
                <a:solidFill>
                  <a:srgbClr val="5B616B"/>
                </a:solidFill>
                <a:latin typeface="メイリオ"/>
                <a:ea typeface="メイリオ"/>
              </a:rPr>
              <a:t>（LLM の強み）</a:t>
            </a:r>
          </a:p>
        </p:txBody>
      </p:sp>
      <p:sp>
        <p:nvSpPr>
          <p:cNvPr id="12" name="未使用1"/>
          <p:cNvSpPr/>
          <p:nvPr/>
        </p:nvSpPr>
        <p:spPr>
          <a:xfrm>
            <a:off x="6446520" y="2377440"/>
            <a:ext cx="2414016" cy="987552"/>
          </a:xfrm>
          <a:prstGeom prst="roundRect">
            <a:avLst>
              <a:gd name="adj" fmla="val 6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59" y="2468880"/>
            <a:ext cx="2231136" cy="365760"/>
          </a:xfrm>
          <a:prstGeom prst="rect">
            <a:avLst/>
          </a:prstGeom>
          <a:noFill/>
        </p:spPr>
        <p:txBody>
          <a:bodyPr wrap="square" lIns="45720" tIns="27432" rIns="45720" bIns="27432" anchor="t">
            <a:spAutoFit/>
          </a:bodyPr>
          <a:lstStyle/>
          <a:p>
            <a:pPr algn="l"/>
            <a:r>
              <a:rPr sz="1400" b="1">
                <a:solidFill>
                  <a:srgbClr val="0D1C3B"/>
                </a:solidFill>
                <a:latin typeface="メイリオ"/>
                <a:ea typeface="メイリオ"/>
              </a:rPr>
              <a:t>ニュース・決算発表</a:t>
            </a:r>
          </a:p>
        </p:txBody>
      </p:sp>
      <p:sp>
        <p:nvSpPr>
          <p:cNvPr id="14" name="TextBox 13"/>
          <p:cNvSpPr txBox="1"/>
          <p:nvPr/>
        </p:nvSpPr>
        <p:spPr>
          <a:xfrm>
            <a:off x="6537959" y="2852928"/>
            <a:ext cx="2231136" cy="457200"/>
          </a:xfrm>
          <a:prstGeom prst="rect">
            <a:avLst/>
          </a:prstGeom>
          <a:noFill/>
        </p:spPr>
        <p:txBody>
          <a:bodyPr wrap="square" lIns="45720" tIns="27432" rIns="45720" bIns="27432" anchor="t">
            <a:spAutoFit/>
          </a:bodyPr>
          <a:lstStyle/>
          <a:p>
            <a:pPr algn="l"/>
            <a:r>
              <a:rPr sz="1150" b="0">
                <a:solidFill>
                  <a:srgbClr val="5B616B"/>
                </a:solidFill>
                <a:latin typeface="メイリオ"/>
                <a:ea typeface="メイリオ"/>
              </a:rPr>
              <a:t>何が起きたか、なぜ動いたか</a:t>
            </a:r>
          </a:p>
        </p:txBody>
      </p:sp>
      <p:sp>
        <p:nvSpPr>
          <p:cNvPr id="15" name="未使用2"/>
          <p:cNvSpPr/>
          <p:nvPr/>
        </p:nvSpPr>
        <p:spPr>
          <a:xfrm>
            <a:off x="8988552" y="2377440"/>
            <a:ext cx="2414016" cy="987552"/>
          </a:xfrm>
          <a:prstGeom prst="roundRect">
            <a:avLst>
              <a:gd name="adj" fmla="val 6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79992" y="2468880"/>
            <a:ext cx="2231136" cy="365760"/>
          </a:xfrm>
          <a:prstGeom prst="rect">
            <a:avLst/>
          </a:prstGeom>
          <a:noFill/>
        </p:spPr>
        <p:txBody>
          <a:bodyPr wrap="square" lIns="45720" tIns="27432" rIns="45720" bIns="27432" anchor="t">
            <a:spAutoFit/>
          </a:bodyPr>
          <a:lstStyle/>
          <a:p>
            <a:pPr algn="l"/>
            <a:r>
              <a:rPr sz="1400" b="1">
                <a:solidFill>
                  <a:srgbClr val="0D1C3B"/>
                </a:solidFill>
                <a:latin typeface="メイリオ"/>
                <a:ea typeface="メイリオ"/>
              </a:rPr>
              <a:t>財務諸表・決算説明</a:t>
            </a:r>
          </a:p>
        </p:txBody>
      </p:sp>
      <p:sp>
        <p:nvSpPr>
          <p:cNvPr id="17" name="TextBox 16"/>
          <p:cNvSpPr txBox="1"/>
          <p:nvPr/>
        </p:nvSpPr>
        <p:spPr>
          <a:xfrm>
            <a:off x="9079992" y="2852928"/>
            <a:ext cx="2231136" cy="457200"/>
          </a:xfrm>
          <a:prstGeom prst="rect">
            <a:avLst/>
          </a:prstGeom>
          <a:noFill/>
        </p:spPr>
        <p:txBody>
          <a:bodyPr wrap="square" lIns="45720" tIns="27432" rIns="45720" bIns="27432" anchor="t">
            <a:spAutoFit/>
          </a:bodyPr>
          <a:lstStyle/>
          <a:p>
            <a:pPr algn="l"/>
            <a:r>
              <a:rPr sz="1150" b="0">
                <a:solidFill>
                  <a:srgbClr val="5B616B"/>
                </a:solidFill>
                <a:latin typeface="メイリオ"/>
                <a:ea typeface="メイリオ"/>
              </a:rPr>
              <a:t>業績の変化と、経営者の見通し</a:t>
            </a:r>
          </a:p>
        </p:txBody>
      </p:sp>
      <p:sp>
        <p:nvSpPr>
          <p:cNvPr id="18" name="未使用3"/>
          <p:cNvSpPr/>
          <p:nvPr/>
        </p:nvSpPr>
        <p:spPr>
          <a:xfrm>
            <a:off x="6446520" y="3493008"/>
            <a:ext cx="2414016" cy="987552"/>
          </a:xfrm>
          <a:prstGeom prst="roundRect">
            <a:avLst>
              <a:gd name="adj" fmla="val 6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37959" y="3584448"/>
            <a:ext cx="2231136" cy="365760"/>
          </a:xfrm>
          <a:prstGeom prst="rect">
            <a:avLst/>
          </a:prstGeom>
          <a:noFill/>
        </p:spPr>
        <p:txBody>
          <a:bodyPr wrap="square" lIns="45720" tIns="27432" rIns="45720" bIns="27432" anchor="t">
            <a:spAutoFit/>
          </a:bodyPr>
          <a:lstStyle/>
          <a:p>
            <a:pPr algn="l"/>
            <a:r>
              <a:rPr sz="1400" b="1">
                <a:solidFill>
                  <a:srgbClr val="0D1C3B"/>
                </a:solidFill>
                <a:latin typeface="メイリオ"/>
                <a:ea typeface="メイリオ"/>
              </a:rPr>
              <a:t>運用会社の月次レポート</a:t>
            </a:r>
          </a:p>
        </p:txBody>
      </p:sp>
      <p:sp>
        <p:nvSpPr>
          <p:cNvPr id="20" name="TextBox 19"/>
          <p:cNvSpPr txBox="1"/>
          <p:nvPr/>
        </p:nvSpPr>
        <p:spPr>
          <a:xfrm>
            <a:off x="6537959" y="3968496"/>
            <a:ext cx="2231136" cy="457200"/>
          </a:xfrm>
          <a:prstGeom prst="rect">
            <a:avLst/>
          </a:prstGeom>
          <a:noFill/>
        </p:spPr>
        <p:txBody>
          <a:bodyPr wrap="square" lIns="45720" tIns="27432" rIns="45720" bIns="27432" anchor="t">
            <a:spAutoFit/>
          </a:bodyPr>
          <a:lstStyle/>
          <a:p>
            <a:pPr algn="l"/>
            <a:r>
              <a:rPr sz="1150" b="0" dirty="0" err="1">
                <a:solidFill>
                  <a:srgbClr val="5B616B"/>
                </a:solidFill>
                <a:latin typeface="メイリオ"/>
                <a:ea typeface="メイリオ"/>
              </a:rPr>
              <a:t>市場やセクターの見方</a:t>
            </a:r>
            <a:endParaRPr sz="1150" b="0" dirty="0">
              <a:solidFill>
                <a:srgbClr val="5B616B"/>
              </a:solidFill>
              <a:latin typeface="メイリオ"/>
              <a:ea typeface="メイリオ"/>
            </a:endParaRPr>
          </a:p>
        </p:txBody>
      </p:sp>
      <p:sp>
        <p:nvSpPr>
          <p:cNvPr id="21" name="未使用4"/>
          <p:cNvSpPr/>
          <p:nvPr/>
        </p:nvSpPr>
        <p:spPr>
          <a:xfrm>
            <a:off x="8988552" y="3493008"/>
            <a:ext cx="2414016" cy="987552"/>
          </a:xfrm>
          <a:prstGeom prst="roundRect">
            <a:avLst>
              <a:gd name="adj" fmla="val 6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79992" y="3584448"/>
            <a:ext cx="2231136" cy="365760"/>
          </a:xfrm>
          <a:prstGeom prst="rect">
            <a:avLst/>
          </a:prstGeom>
          <a:noFill/>
        </p:spPr>
        <p:txBody>
          <a:bodyPr wrap="square" lIns="45720" tIns="27432" rIns="45720" bIns="27432" anchor="t">
            <a:spAutoFit/>
          </a:bodyPr>
          <a:lstStyle/>
          <a:p>
            <a:pPr algn="l"/>
            <a:r>
              <a:rPr sz="1400" b="1">
                <a:solidFill>
                  <a:srgbClr val="0D1C3B"/>
                </a:solidFill>
                <a:latin typeface="メイリオ"/>
                <a:ea typeface="メイリオ"/>
              </a:rPr>
              <a:t>金利・政策などの環境</a:t>
            </a:r>
          </a:p>
        </p:txBody>
      </p:sp>
      <p:sp>
        <p:nvSpPr>
          <p:cNvPr id="23" name="TextBox 22"/>
          <p:cNvSpPr txBox="1"/>
          <p:nvPr/>
        </p:nvSpPr>
        <p:spPr>
          <a:xfrm>
            <a:off x="9079992" y="3968496"/>
            <a:ext cx="2231136" cy="457200"/>
          </a:xfrm>
          <a:prstGeom prst="rect">
            <a:avLst/>
          </a:prstGeom>
          <a:noFill/>
        </p:spPr>
        <p:txBody>
          <a:bodyPr wrap="square" lIns="45720" tIns="27432" rIns="45720" bIns="27432" anchor="t">
            <a:spAutoFit/>
          </a:bodyPr>
          <a:lstStyle/>
          <a:p>
            <a:pPr algn="l"/>
            <a:r>
              <a:rPr sz="1150" b="0">
                <a:solidFill>
                  <a:srgbClr val="5B616B"/>
                </a:solidFill>
                <a:latin typeface="メイリオ"/>
                <a:ea typeface="メイリオ"/>
              </a:rPr>
              <a:t>値動きの背景</a:t>
            </a:r>
          </a:p>
        </p:txBody>
      </p:sp>
      <p:sp>
        <p:nvSpPr>
          <p:cNvPr id="24" name="TextBox 23"/>
          <p:cNvSpPr txBox="1"/>
          <p:nvPr/>
        </p:nvSpPr>
        <p:spPr>
          <a:xfrm>
            <a:off x="676656" y="4937760"/>
            <a:ext cx="10881360" cy="286232"/>
          </a:xfrm>
          <a:prstGeom prst="rect">
            <a:avLst/>
          </a:prstGeom>
          <a:noFill/>
        </p:spPr>
        <p:txBody>
          <a:bodyPr wrap="square" lIns="45720" tIns="27432" rIns="45720" bIns="27432" anchor="t">
            <a:spAutoFit/>
          </a:bodyPr>
          <a:lstStyle/>
          <a:p>
            <a:pPr algn="l"/>
            <a:r>
              <a:rPr sz="1500" b="1" dirty="0" err="1">
                <a:solidFill>
                  <a:srgbClr val="0D1C3B"/>
                </a:solidFill>
                <a:latin typeface="メイリオ"/>
                <a:ea typeface="メイリオ"/>
              </a:rPr>
              <a:t>結果</a:t>
            </a:r>
            <a:endParaRPr sz="1500" b="1" dirty="0">
              <a:solidFill>
                <a:srgbClr val="0D1C3B"/>
              </a:solidFill>
              <a:latin typeface="メイリオ"/>
              <a:ea typeface="メイリオ"/>
            </a:endParaRPr>
          </a:p>
        </p:txBody>
      </p:sp>
      <p:sp>
        <p:nvSpPr>
          <p:cNvPr id="25" name="結果1"/>
          <p:cNvSpPr/>
          <p:nvPr/>
        </p:nvSpPr>
        <p:spPr>
          <a:xfrm>
            <a:off x="676656" y="5349240"/>
            <a:ext cx="5349240" cy="822960"/>
          </a:xfrm>
          <a:prstGeom prst="roundRect">
            <a:avLst>
              <a:gd name="adj" fmla="val 6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3816" y="5563743"/>
            <a:ext cx="2011680" cy="393954"/>
          </a:xfrm>
          <a:prstGeom prst="rect">
            <a:avLst/>
          </a:prstGeom>
          <a:noFill/>
        </p:spPr>
        <p:txBody>
          <a:bodyPr wrap="square" lIns="45720" tIns="27432" rIns="45720" bIns="27432" anchor="ctr">
            <a:spAutoFit/>
          </a:bodyPr>
          <a:lstStyle/>
          <a:p>
            <a:pPr algn="l"/>
            <a:r>
              <a:rPr sz="2200" b="1" dirty="0" err="1">
                <a:latin typeface="メイリオ"/>
                <a:ea typeface="メイリオ"/>
              </a:rPr>
              <a:t>相関</a:t>
            </a:r>
            <a:r>
              <a:rPr sz="2200" b="1" dirty="0">
                <a:latin typeface="メイリオ"/>
                <a:ea typeface="メイリオ"/>
              </a:rPr>
              <a:t> 0.89</a:t>
            </a:r>
          </a:p>
        </p:txBody>
      </p:sp>
      <p:sp>
        <p:nvSpPr>
          <p:cNvPr id="27" name="TextBox 26"/>
          <p:cNvSpPr txBox="1"/>
          <p:nvPr/>
        </p:nvSpPr>
        <p:spPr>
          <a:xfrm>
            <a:off x="2825496" y="5367528"/>
            <a:ext cx="3108960" cy="786384"/>
          </a:xfrm>
          <a:prstGeom prst="rect">
            <a:avLst/>
          </a:prstGeom>
          <a:noFill/>
        </p:spPr>
        <p:txBody>
          <a:bodyPr wrap="square" lIns="45720" tIns="27432" rIns="45720" bIns="27432" anchor="ctr">
            <a:spAutoFit/>
          </a:bodyPr>
          <a:lstStyle/>
          <a:p>
            <a:pPr algn="l"/>
            <a:r>
              <a:rPr sz="1150" b="0">
                <a:solidFill>
                  <a:srgbClr val="0D1C3B"/>
                </a:solidFill>
                <a:latin typeface="メイリオ"/>
                <a:ea typeface="メイリオ"/>
              </a:rPr>
              <a:t>LLM の予想と、渡した月の平均リターン</a:t>
            </a:r>
          </a:p>
          <a:p>
            <a:pPr algn="l"/>
            <a:r>
              <a:rPr sz="1150" b="0">
                <a:solidFill>
                  <a:srgbClr val="0D1C3B"/>
                </a:solidFill>
                <a:latin typeface="メイリオ"/>
                <a:ea typeface="メイリオ"/>
              </a:rPr>
              <a:t>→ 渡した数値をなぞっているだけ</a:t>
            </a:r>
          </a:p>
        </p:txBody>
      </p:sp>
      <p:sp>
        <p:nvSpPr>
          <p:cNvPr id="28" name="結果2"/>
          <p:cNvSpPr/>
          <p:nvPr/>
        </p:nvSpPr>
        <p:spPr>
          <a:xfrm>
            <a:off x="6263640" y="5349240"/>
            <a:ext cx="5349240" cy="822960"/>
          </a:xfrm>
          <a:prstGeom prst="roundRect">
            <a:avLst>
              <a:gd name="adj" fmla="val 6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0" y="5563743"/>
            <a:ext cx="2011680" cy="393954"/>
          </a:xfrm>
          <a:prstGeom prst="rect">
            <a:avLst/>
          </a:prstGeom>
          <a:noFill/>
        </p:spPr>
        <p:txBody>
          <a:bodyPr wrap="square" lIns="45720" tIns="27432" rIns="45720" bIns="27432" anchor="ctr">
            <a:spAutoFit/>
          </a:bodyPr>
          <a:lstStyle/>
          <a:p>
            <a:pPr algn="l"/>
            <a:r>
              <a:rPr sz="2200" b="1" dirty="0" err="1">
                <a:latin typeface="メイリオ"/>
                <a:ea typeface="メイリオ"/>
              </a:rPr>
              <a:t>相関</a:t>
            </a:r>
            <a:r>
              <a:rPr sz="2200" b="1" dirty="0">
                <a:latin typeface="メイリオ"/>
                <a:ea typeface="メイリオ"/>
              </a:rPr>
              <a:t> +0.05</a:t>
            </a:r>
          </a:p>
        </p:txBody>
      </p:sp>
      <p:sp>
        <p:nvSpPr>
          <p:cNvPr id="30" name="TextBox 29"/>
          <p:cNvSpPr txBox="1"/>
          <p:nvPr/>
        </p:nvSpPr>
        <p:spPr>
          <a:xfrm>
            <a:off x="8412480" y="5367528"/>
            <a:ext cx="3108960" cy="786384"/>
          </a:xfrm>
          <a:prstGeom prst="rect">
            <a:avLst/>
          </a:prstGeom>
          <a:noFill/>
        </p:spPr>
        <p:txBody>
          <a:bodyPr wrap="square" lIns="45720" tIns="27432" rIns="45720" bIns="27432" anchor="ctr">
            <a:spAutoFit/>
          </a:bodyPr>
          <a:lstStyle/>
          <a:p>
            <a:pPr algn="l"/>
            <a:r>
              <a:rPr sz="1150" b="0">
                <a:solidFill>
                  <a:srgbClr val="0D1C3B"/>
                </a:solidFill>
                <a:latin typeface="メイリオ"/>
                <a:ea typeface="メイリオ"/>
              </a:rPr>
              <a:t>LLM の予想と、翌月の実際のリターン（順位）</a:t>
            </a:r>
          </a:p>
          <a:p>
            <a:pPr algn="l"/>
            <a:r>
              <a:rPr sz="1150" b="0">
                <a:solidFill>
                  <a:srgbClr val="0D1C3B"/>
                </a:solidFill>
                <a:latin typeface="メイリオ"/>
                <a:ea typeface="メイリオ"/>
              </a:rPr>
              <a:t>→ ほとんど当たっていない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p:cNvSpPr txBox="1"/>
          <p:nvPr/>
        </p:nvSpPr>
        <p:spPr>
          <a:xfrm>
            <a:off x="493776" y="182880"/>
            <a:ext cx="10149840" cy="749808"/>
          </a:xfrm>
          <a:prstGeom prst="rect">
            <a:avLst/>
          </a:prstGeom>
          <a:noFill/>
        </p:spPr>
        <p:txBody>
          <a:bodyPr wrap="square" lIns="45720" tIns="27432" rIns="45720" bIns="27432" anchor="t">
            <a:spAutoFit/>
          </a:bodyPr>
          <a:lstStyle/>
          <a:p>
            <a:pPr algn="l"/>
            <a:r>
              <a:rPr sz="4300" b="1">
                <a:solidFill>
                  <a:srgbClr val="000000"/>
                </a:solidFill>
                <a:latin typeface="メイリオ"/>
                <a:ea typeface="メイリオ"/>
              </a:rPr>
              <a:t>３．提案手法：方針</a:t>
            </a:r>
          </a:p>
        </p:txBody>
      </p:sp>
      <p:sp>
        <p:nvSpPr>
          <p:cNvPr id="4" name="主張"/>
          <p:cNvSpPr txBox="1"/>
          <p:nvPr/>
        </p:nvSpPr>
        <p:spPr>
          <a:xfrm>
            <a:off x="676656" y="1115568"/>
            <a:ext cx="10881360" cy="457200"/>
          </a:xfrm>
          <a:prstGeom prst="rect">
            <a:avLst/>
          </a:prstGeom>
          <a:noFill/>
        </p:spPr>
        <p:txBody>
          <a:bodyPr wrap="square" lIns="45720" tIns="27432" rIns="45720" bIns="27432" anchor="t">
            <a:spAutoFit/>
          </a:bodyPr>
          <a:lstStyle/>
          <a:p>
            <a:pPr algn="l"/>
            <a:r>
              <a:rPr sz="2200" b="1">
                <a:solidFill>
                  <a:srgbClr val="1973EB"/>
                </a:solidFill>
                <a:latin typeface="メイリオ"/>
                <a:ea typeface="メイリオ"/>
              </a:rPr>
              <a:t>問題点ごとに対策を立て、「LLM が何を足せるか」を測れる形にする</a:t>
            </a:r>
          </a:p>
        </p:txBody>
      </p:sp>
      <p:sp>
        <p:nvSpPr>
          <p:cNvPr id="5" name="TextBox 4"/>
          <p:cNvSpPr txBox="1"/>
          <p:nvPr/>
        </p:nvSpPr>
        <p:spPr>
          <a:xfrm>
            <a:off x="676656" y="1783080"/>
            <a:ext cx="3657600" cy="365760"/>
          </a:xfrm>
          <a:prstGeom prst="rect">
            <a:avLst/>
          </a:prstGeom>
          <a:noFill/>
        </p:spPr>
        <p:txBody>
          <a:bodyPr wrap="square" lIns="45720" tIns="27432" rIns="45720" bIns="27432" anchor="t">
            <a:spAutoFit/>
          </a:bodyPr>
          <a:lstStyle/>
          <a:p>
            <a:pPr algn="l"/>
            <a:r>
              <a:rPr sz="1400" b="1">
                <a:solidFill>
                  <a:srgbClr val="5B616B"/>
                </a:solidFill>
                <a:latin typeface="メイリオ"/>
                <a:ea typeface="メイリオ"/>
              </a:rPr>
              <a:t>問題点</a:t>
            </a:r>
          </a:p>
        </p:txBody>
      </p:sp>
      <p:sp>
        <p:nvSpPr>
          <p:cNvPr id="6" name="TextBox 5"/>
          <p:cNvSpPr txBox="1"/>
          <p:nvPr/>
        </p:nvSpPr>
        <p:spPr>
          <a:xfrm>
            <a:off x="5074920" y="1783080"/>
            <a:ext cx="6400800" cy="365760"/>
          </a:xfrm>
          <a:prstGeom prst="rect">
            <a:avLst/>
          </a:prstGeom>
          <a:noFill/>
        </p:spPr>
        <p:txBody>
          <a:bodyPr wrap="square" lIns="45720" tIns="27432" rIns="45720" bIns="27432" anchor="t">
            <a:spAutoFit/>
          </a:bodyPr>
          <a:lstStyle/>
          <a:p>
            <a:pPr algn="l"/>
            <a:r>
              <a:rPr sz="1400" b="1">
                <a:solidFill>
                  <a:srgbClr val="5B616B"/>
                </a:solidFill>
                <a:latin typeface="メイリオ"/>
                <a:ea typeface="メイリオ"/>
              </a:rPr>
              <a:t>対策</a:t>
            </a:r>
          </a:p>
        </p:txBody>
      </p:sp>
      <p:sp>
        <p:nvSpPr>
          <p:cNvPr id="7" name="Rounded Rectangle 6"/>
          <p:cNvSpPr/>
          <p:nvPr/>
        </p:nvSpPr>
        <p:spPr>
          <a:xfrm>
            <a:off x="676656" y="2194560"/>
            <a:ext cx="3794760" cy="1170432"/>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240279"/>
            <a:ext cx="3520440" cy="1078992"/>
          </a:xfrm>
          <a:prstGeom prst="rect">
            <a:avLst/>
          </a:prstGeom>
          <a:noFill/>
        </p:spPr>
        <p:txBody>
          <a:bodyPr wrap="square" lIns="45720" tIns="27432" rIns="45720" bIns="27432" anchor="ctr">
            <a:spAutoFit/>
          </a:bodyPr>
          <a:lstStyle/>
          <a:p>
            <a:pPr algn="l"/>
            <a:r>
              <a:rPr sz="1600" b="1">
                <a:solidFill>
                  <a:srgbClr val="0D1C3B"/>
                </a:solidFill>
                <a:latin typeface="メイリオ"/>
                <a:ea typeface="メイリオ"/>
              </a:rPr>
              <a:t>LLM の予想が、先月の値動きの写し</a:t>
            </a:r>
          </a:p>
        </p:txBody>
      </p:sp>
      <p:cxnSp>
        <p:nvCxnSpPr>
          <p:cNvPr id="9" name="Connector 8"/>
          <p:cNvCxnSpPr/>
          <p:nvPr/>
        </p:nvCxnSpPr>
        <p:spPr>
          <a:xfrm>
            <a:off x="4544568" y="2779776"/>
            <a:ext cx="438912" cy="0"/>
          </a:xfrm>
          <a:prstGeom prst="line">
            <a:avLst/>
          </a:prstGeom>
          <a:ln w="38100">
            <a:solidFill>
              <a:srgbClr val="197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74920" y="2194560"/>
            <a:ext cx="6537960" cy="1170432"/>
          </a:xfrm>
          <a:prstGeom prst="roundRect">
            <a:avLst>
              <a:gd name="adj" fmla="val 8000"/>
            </a:avLst>
          </a:prstGeom>
          <a:noFill/>
          <a:ln w="19050">
            <a:solidFill>
              <a:srgbClr val="197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30368" y="2286000"/>
            <a:ext cx="6217920" cy="384048"/>
          </a:xfrm>
          <a:prstGeom prst="rect">
            <a:avLst/>
          </a:prstGeom>
          <a:noFill/>
        </p:spPr>
        <p:txBody>
          <a:bodyPr wrap="square" lIns="45720" tIns="27432" rIns="45720" bIns="27432" anchor="t">
            <a:spAutoFit/>
          </a:bodyPr>
          <a:lstStyle/>
          <a:p>
            <a:pPr algn="l"/>
            <a:r>
              <a:rPr sz="1700" b="1">
                <a:solidFill>
                  <a:srgbClr val="1973EB"/>
                </a:solidFill>
                <a:latin typeface="メイリオ"/>
                <a:ea typeface="メイリオ"/>
              </a:rPr>
              <a:t>入力を増やす</a:t>
            </a:r>
          </a:p>
        </p:txBody>
      </p:sp>
      <p:sp>
        <p:nvSpPr>
          <p:cNvPr id="12" name="TextBox 11"/>
          <p:cNvSpPr txBox="1"/>
          <p:nvPr/>
        </p:nvSpPr>
        <p:spPr>
          <a:xfrm>
            <a:off x="5230368" y="2688336"/>
            <a:ext cx="6217920" cy="640080"/>
          </a:xfrm>
          <a:prstGeom prst="rect">
            <a:avLst/>
          </a:prstGeom>
          <a:noFill/>
        </p:spPr>
        <p:txBody>
          <a:bodyPr wrap="square" lIns="45720" tIns="27432" rIns="45720" bIns="27432" anchor="t">
            <a:spAutoFit/>
          </a:bodyPr>
          <a:lstStyle/>
          <a:p>
            <a:pPr algn="l"/>
            <a:r>
              <a:rPr sz="1400" b="0">
                <a:solidFill>
                  <a:srgbClr val="000000"/>
                </a:solidFill>
                <a:latin typeface="メイリオ"/>
                <a:ea typeface="メイリオ"/>
              </a:rPr>
              <a:t>セクター単位の予測、財務諸表、金利・VIX、運用会社の月次レポート</a:t>
            </a:r>
          </a:p>
        </p:txBody>
      </p:sp>
      <p:sp>
        <p:nvSpPr>
          <p:cNvPr id="13" name="Rounded Rectangle 12"/>
          <p:cNvSpPr/>
          <p:nvPr/>
        </p:nvSpPr>
        <p:spPr>
          <a:xfrm>
            <a:off x="676656" y="3547872"/>
            <a:ext cx="3794760" cy="1170432"/>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593591"/>
            <a:ext cx="3520440" cy="1078992"/>
          </a:xfrm>
          <a:prstGeom prst="rect">
            <a:avLst/>
          </a:prstGeom>
          <a:noFill/>
        </p:spPr>
        <p:txBody>
          <a:bodyPr wrap="square" lIns="45720" tIns="27432" rIns="45720" bIns="27432" anchor="ctr">
            <a:spAutoFit/>
          </a:bodyPr>
          <a:lstStyle/>
          <a:p>
            <a:pPr algn="l"/>
            <a:r>
              <a:rPr sz="1600" b="1">
                <a:solidFill>
                  <a:srgbClr val="0D1C3B"/>
                </a:solidFill>
                <a:latin typeface="メイリオ"/>
                <a:ea typeface="メイリオ"/>
              </a:rPr>
              <a:t>予想を 99.9% 採用してしまう</a:t>
            </a:r>
          </a:p>
        </p:txBody>
      </p:sp>
      <p:cxnSp>
        <p:nvCxnSpPr>
          <p:cNvPr id="15" name="Connector 14"/>
          <p:cNvCxnSpPr/>
          <p:nvPr/>
        </p:nvCxnSpPr>
        <p:spPr>
          <a:xfrm>
            <a:off x="4544568" y="4133087"/>
            <a:ext cx="438912" cy="0"/>
          </a:xfrm>
          <a:prstGeom prst="line">
            <a:avLst/>
          </a:prstGeom>
          <a:ln w="38100">
            <a:solidFill>
              <a:srgbClr val="197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74920" y="3547872"/>
            <a:ext cx="6537960" cy="1170432"/>
          </a:xfrm>
          <a:prstGeom prst="roundRect">
            <a:avLst>
              <a:gd name="adj" fmla="val 8000"/>
            </a:avLst>
          </a:prstGeom>
          <a:noFill/>
          <a:ln w="19050">
            <a:solidFill>
              <a:srgbClr val="197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30368" y="3639312"/>
            <a:ext cx="6217920" cy="384048"/>
          </a:xfrm>
          <a:prstGeom prst="rect">
            <a:avLst/>
          </a:prstGeom>
          <a:noFill/>
        </p:spPr>
        <p:txBody>
          <a:bodyPr wrap="square" lIns="45720" tIns="27432" rIns="45720" bIns="27432" anchor="t">
            <a:spAutoFit/>
          </a:bodyPr>
          <a:lstStyle/>
          <a:p>
            <a:pPr algn="l"/>
            <a:r>
              <a:rPr sz="1700" b="1">
                <a:solidFill>
                  <a:srgbClr val="1973EB"/>
                </a:solidFill>
                <a:latin typeface="メイリオ"/>
                <a:ea typeface="メイリオ"/>
              </a:rPr>
              <a:t>自信の度合いを決め直す</a:t>
            </a:r>
          </a:p>
        </p:txBody>
      </p:sp>
      <p:sp>
        <p:nvSpPr>
          <p:cNvPr id="18" name="TextBox 17"/>
          <p:cNvSpPr txBox="1"/>
          <p:nvPr/>
        </p:nvSpPr>
        <p:spPr>
          <a:xfrm>
            <a:off x="5230368" y="4041648"/>
            <a:ext cx="6217920" cy="640080"/>
          </a:xfrm>
          <a:prstGeom prst="rect">
            <a:avLst/>
          </a:prstGeom>
          <a:noFill/>
        </p:spPr>
        <p:txBody>
          <a:bodyPr wrap="square" lIns="45720" tIns="27432" rIns="45720" bIns="27432" anchor="t">
            <a:spAutoFit/>
          </a:bodyPr>
          <a:lstStyle/>
          <a:p>
            <a:pPr algn="l"/>
            <a:r>
              <a:rPr sz="1400" b="0">
                <a:solidFill>
                  <a:srgbClr val="000000"/>
                </a:solidFill>
                <a:latin typeface="メイリオ"/>
                <a:ea typeface="メイリオ"/>
              </a:rPr>
              <a:t>回答のばらつきではなく、実際の当たり具合から決める。指数からのずれに上限を付ける</a:t>
            </a:r>
          </a:p>
        </p:txBody>
      </p:sp>
      <p:sp>
        <p:nvSpPr>
          <p:cNvPr id="19" name="Rounded Rectangle 18"/>
          <p:cNvSpPr/>
          <p:nvPr/>
        </p:nvSpPr>
        <p:spPr>
          <a:xfrm>
            <a:off x="676656" y="4901183"/>
            <a:ext cx="3794760" cy="1170432"/>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4946903"/>
            <a:ext cx="3520440" cy="1078992"/>
          </a:xfrm>
          <a:prstGeom prst="rect">
            <a:avLst/>
          </a:prstGeom>
          <a:noFill/>
        </p:spPr>
        <p:txBody>
          <a:bodyPr wrap="square" lIns="45720" tIns="27432" rIns="45720" bIns="27432" anchor="ctr">
            <a:spAutoFit/>
          </a:bodyPr>
          <a:lstStyle/>
          <a:p>
            <a:pPr algn="l"/>
            <a:r>
              <a:rPr sz="1600" b="1">
                <a:solidFill>
                  <a:srgbClr val="0D1C3B"/>
                </a:solidFill>
                <a:latin typeface="メイリオ"/>
                <a:ea typeface="メイリオ"/>
              </a:rPr>
              <a:t>未来の情報が混ざる</a:t>
            </a:r>
          </a:p>
        </p:txBody>
      </p:sp>
      <p:cxnSp>
        <p:nvCxnSpPr>
          <p:cNvPr id="21" name="Connector 20"/>
          <p:cNvCxnSpPr/>
          <p:nvPr/>
        </p:nvCxnSpPr>
        <p:spPr>
          <a:xfrm>
            <a:off x="4544568" y="5486399"/>
            <a:ext cx="438912" cy="0"/>
          </a:xfrm>
          <a:prstGeom prst="line">
            <a:avLst/>
          </a:prstGeom>
          <a:ln w="38100">
            <a:solidFill>
              <a:srgbClr val="197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74920" y="4901183"/>
            <a:ext cx="6537960" cy="1170432"/>
          </a:xfrm>
          <a:prstGeom prst="roundRect">
            <a:avLst>
              <a:gd name="adj" fmla="val 8000"/>
            </a:avLst>
          </a:prstGeom>
          <a:noFill/>
          <a:ln w="19050">
            <a:solidFill>
              <a:srgbClr val="197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30368" y="4992623"/>
            <a:ext cx="6217920" cy="384048"/>
          </a:xfrm>
          <a:prstGeom prst="rect">
            <a:avLst/>
          </a:prstGeom>
          <a:noFill/>
        </p:spPr>
        <p:txBody>
          <a:bodyPr wrap="square" lIns="45720" tIns="27432" rIns="45720" bIns="27432" anchor="t">
            <a:spAutoFit/>
          </a:bodyPr>
          <a:lstStyle/>
          <a:p>
            <a:pPr algn="l"/>
            <a:r>
              <a:rPr sz="1700" b="1">
                <a:solidFill>
                  <a:srgbClr val="1973EB"/>
                </a:solidFill>
                <a:latin typeface="メイリオ"/>
                <a:ea typeface="メイリオ"/>
              </a:rPr>
              <a:t>その時点の情報だけを使う</a:t>
            </a:r>
          </a:p>
        </p:txBody>
      </p:sp>
      <p:sp>
        <p:nvSpPr>
          <p:cNvPr id="24" name="TextBox 23"/>
          <p:cNvSpPr txBox="1"/>
          <p:nvPr/>
        </p:nvSpPr>
        <p:spPr>
          <a:xfrm>
            <a:off x="5230368" y="5394959"/>
            <a:ext cx="6217920" cy="640080"/>
          </a:xfrm>
          <a:prstGeom prst="rect">
            <a:avLst/>
          </a:prstGeom>
          <a:noFill/>
        </p:spPr>
        <p:txBody>
          <a:bodyPr wrap="square" lIns="45720" tIns="27432" rIns="45720" bIns="27432" anchor="t">
            <a:spAutoFit/>
          </a:bodyPr>
          <a:lstStyle/>
          <a:p>
            <a:pPr algn="l"/>
            <a:r>
              <a:rPr sz="1400" b="0">
                <a:solidFill>
                  <a:srgbClr val="000000"/>
                </a:solidFill>
                <a:latin typeface="メイリオ"/>
                <a:ea typeface="メイリオ"/>
              </a:rPr>
              <a:t>各月末の構成銘柄と時価総額、提出日つきの財務データ、モデルの知識の期限を確認</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p:cNvSpPr txBox="1"/>
          <p:nvPr/>
        </p:nvSpPr>
        <p:spPr>
          <a:xfrm>
            <a:off x="493776" y="182880"/>
            <a:ext cx="10149840" cy="717119"/>
          </a:xfrm>
          <a:prstGeom prst="rect">
            <a:avLst/>
          </a:prstGeom>
          <a:noFill/>
        </p:spPr>
        <p:txBody>
          <a:bodyPr wrap="square" lIns="54864" tIns="27432" rIns="54864" bIns="27432" anchor="t">
            <a:spAutoFit/>
          </a:bodyPr>
          <a:lstStyle/>
          <a:p>
            <a:r>
              <a:rPr lang="ja-JP" altLang="en-US" sz="4300" b="1">
                <a:solidFill>
                  <a:srgbClr val="000000"/>
                </a:solidFill>
                <a:latin typeface="メイリオ"/>
                <a:ea typeface="メイリオ"/>
              </a:rPr>
              <a:t>３．提案手法：全体構成</a:t>
            </a:r>
            <a:endParaRPr lang="ja-JP" altLang="en-US" sz="4300" b="1" dirty="0">
              <a:solidFill>
                <a:srgbClr val="000000"/>
              </a:solidFill>
              <a:latin typeface="メイリオ"/>
              <a:ea typeface="メイリオ"/>
            </a:endParaRPr>
          </a:p>
        </p:txBody>
      </p:sp>
      <p:sp>
        <p:nvSpPr>
          <p:cNvPr id="4" name="主張"/>
          <p:cNvSpPr txBox="1"/>
          <p:nvPr/>
        </p:nvSpPr>
        <p:spPr>
          <a:xfrm>
            <a:off x="676656" y="1097280"/>
            <a:ext cx="10881360" cy="438912"/>
          </a:xfrm>
          <a:prstGeom prst="rect">
            <a:avLst/>
          </a:prstGeom>
          <a:noFill/>
        </p:spPr>
        <p:txBody>
          <a:bodyPr wrap="square" lIns="54864" tIns="27432" rIns="54864" bIns="27432" anchor="t">
            <a:spAutoFit/>
          </a:bodyPr>
          <a:lstStyle/>
          <a:p>
            <a:pPr algn="l"/>
            <a:r>
              <a:rPr sz="2000" b="1">
                <a:solidFill>
                  <a:srgbClr val="1973EB"/>
                </a:solidFill>
                <a:latin typeface="メイリオ"/>
                <a:ea typeface="メイリオ"/>
              </a:rPr>
              <a:t>LLM の予想と市場データを BLM で統合し、結果を次の予測にフィードバックする</a:t>
            </a:r>
          </a:p>
        </p:txBody>
      </p:sp>
      <p:sp>
        <p:nvSpPr>
          <p:cNvPr id="5" name="日次・財務データ"/>
          <p:cNvSpPr/>
          <p:nvPr/>
        </p:nvSpPr>
        <p:spPr>
          <a:xfrm>
            <a:off x="4160520" y="1783080"/>
            <a:ext cx="2514600" cy="822960"/>
          </a:xfrm>
          <a:prstGeom prst="roundRect">
            <a:avLst>
              <a:gd name="adj" fmla="val 12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sz="1100" b="0" dirty="0">
              <a:solidFill>
                <a:srgbClr val="0D1C3B"/>
              </a:solidFill>
              <a:latin typeface="メイリオ"/>
              <a:ea typeface="メイリオ"/>
            </a:endParaRPr>
          </a:p>
        </p:txBody>
      </p:sp>
      <p:sp>
        <p:nvSpPr>
          <p:cNvPr id="6" name="PDF"/>
          <p:cNvSpPr/>
          <p:nvPr/>
        </p:nvSpPr>
        <p:spPr>
          <a:xfrm>
            <a:off x="7498079" y="1783080"/>
            <a:ext cx="1691640" cy="822960"/>
          </a:xfrm>
          <a:prstGeom prst="roundRect">
            <a:avLst>
              <a:gd name="adj" fmla="val 12000"/>
            </a:avLst>
          </a:prstGeom>
          <a:noFill/>
          <a:ln w="19050">
            <a:solidFill>
              <a:srgbClr val="5B616B"/>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a:solidFill>
                  <a:srgbClr val="5B616B"/>
                </a:solidFill>
                <a:latin typeface="メイリオ"/>
                <a:ea typeface="メイリオ"/>
              </a:rPr>
              <a:t>PDF</a:t>
            </a:r>
          </a:p>
          <a:p>
            <a:pPr algn="ctr"/>
            <a:r>
              <a:rPr sz="1000" b="0">
                <a:solidFill>
                  <a:srgbClr val="5B616B"/>
                </a:solidFill>
                <a:latin typeface="メイリオ"/>
                <a:ea typeface="メイリオ"/>
              </a:rPr>
              <a:t>運用会社の月次レポート</a:t>
            </a:r>
          </a:p>
        </p:txBody>
      </p:sp>
      <p:sp>
        <p:nvSpPr>
          <p:cNvPr id="7" name="テキスト化LLM"/>
          <p:cNvSpPr/>
          <p:nvPr/>
        </p:nvSpPr>
        <p:spPr>
          <a:xfrm>
            <a:off x="9646920" y="1783080"/>
            <a:ext cx="1965960" cy="822960"/>
          </a:xfrm>
          <a:prstGeom prst="roundRect">
            <a:avLst>
              <a:gd name="adj" fmla="val 12000"/>
            </a:avLst>
          </a:prstGeom>
          <a:noFill/>
          <a:ln w="19050">
            <a:solidFill>
              <a:srgbClr val="5B616B"/>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dirty="0">
                <a:solidFill>
                  <a:srgbClr val="5B616B"/>
                </a:solidFill>
                <a:latin typeface="メイリオ"/>
                <a:ea typeface="メイリオ"/>
              </a:rPr>
              <a:t>LLM</a:t>
            </a:r>
          </a:p>
          <a:p>
            <a:pPr algn="ctr"/>
            <a:r>
              <a:rPr sz="1100" b="0" dirty="0" err="1">
                <a:solidFill>
                  <a:srgbClr val="5B616B"/>
                </a:solidFill>
                <a:latin typeface="メイリオ"/>
                <a:ea typeface="メイリオ"/>
              </a:rPr>
              <a:t>テキスト化・要約</a:t>
            </a:r>
            <a:endParaRPr sz="1100" b="0" dirty="0">
              <a:solidFill>
                <a:srgbClr val="5B616B"/>
              </a:solidFill>
              <a:latin typeface="メイリオ"/>
              <a:ea typeface="メイリオ"/>
            </a:endParaRPr>
          </a:p>
        </p:txBody>
      </p:sp>
      <p:sp>
        <p:nvSpPr>
          <p:cNvPr id="8" name="OpenAI API"/>
          <p:cNvSpPr/>
          <p:nvPr/>
        </p:nvSpPr>
        <p:spPr>
          <a:xfrm>
            <a:off x="1325880" y="2971800"/>
            <a:ext cx="2103120" cy="822960"/>
          </a:xfrm>
          <a:prstGeom prst="roundRect">
            <a:avLst>
              <a:gd name="adj" fmla="val 12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sz="1100" b="0" dirty="0">
              <a:solidFill>
                <a:srgbClr val="0D1C3B"/>
              </a:solidFill>
              <a:latin typeface="メイリオ"/>
              <a:ea typeface="メイリオ"/>
            </a:endParaRPr>
          </a:p>
        </p:txBody>
      </p:sp>
      <p:sp>
        <p:nvSpPr>
          <p:cNvPr id="9" name="LLM"/>
          <p:cNvSpPr/>
          <p:nvPr/>
        </p:nvSpPr>
        <p:spPr>
          <a:xfrm>
            <a:off x="4160520" y="2971800"/>
            <a:ext cx="2514600" cy="822960"/>
          </a:xfrm>
          <a:prstGeom prst="roundRect">
            <a:avLst>
              <a:gd name="adj" fmla="val 12000"/>
            </a:avLst>
          </a:prstGeom>
          <a:solidFill>
            <a:srgbClr val="1973E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a:solidFill>
                  <a:srgbClr val="FFFFFF"/>
                </a:solidFill>
                <a:latin typeface="メイリオ"/>
                <a:ea typeface="メイリオ"/>
              </a:rPr>
              <a:t>LLM</a:t>
            </a:r>
          </a:p>
          <a:p>
            <a:pPr algn="ctr"/>
            <a:r>
              <a:rPr sz="1100" b="0">
                <a:solidFill>
                  <a:srgbClr val="FFFFFF"/>
                </a:solidFill>
                <a:latin typeface="メイリオ"/>
                <a:ea typeface="メイリオ"/>
              </a:rPr>
              <a:t>翌月のリターンを予測（30個）</a:t>
            </a:r>
          </a:p>
        </p:txBody>
      </p:sp>
      <p:sp>
        <p:nvSpPr>
          <p:cNvPr id="11" name="BLM"/>
          <p:cNvSpPr/>
          <p:nvPr/>
        </p:nvSpPr>
        <p:spPr>
          <a:xfrm>
            <a:off x="4160520" y="4160520"/>
            <a:ext cx="2514600" cy="822960"/>
          </a:xfrm>
          <a:prstGeom prst="roundRect">
            <a:avLst>
              <a:gd name="adj" fmla="val 12000"/>
            </a:avLst>
          </a:prstGeom>
          <a:solidFill>
            <a:srgbClr val="1973E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a:solidFill>
                  <a:srgbClr val="FFFFFF"/>
                </a:solidFill>
                <a:latin typeface="メイリオ"/>
                <a:ea typeface="メイリオ"/>
              </a:rPr>
              <a:t>BLM</a:t>
            </a:r>
          </a:p>
          <a:p>
            <a:pPr algn="ctr"/>
            <a:r>
              <a:rPr sz="1100" b="0">
                <a:solidFill>
                  <a:srgbClr val="FFFFFF"/>
                </a:solidFill>
                <a:latin typeface="メイリオ"/>
                <a:ea typeface="メイリオ"/>
              </a:rPr>
              <a:t>Black-Litterman モデル ＋ 最適化</a:t>
            </a:r>
          </a:p>
        </p:txBody>
      </p:sp>
      <p:sp>
        <p:nvSpPr>
          <p:cNvPr id="12" name="フィードバックLLM"/>
          <p:cNvSpPr/>
          <p:nvPr/>
        </p:nvSpPr>
        <p:spPr>
          <a:xfrm>
            <a:off x="4160520" y="5440680"/>
            <a:ext cx="2514600" cy="822960"/>
          </a:xfrm>
          <a:prstGeom prst="roundRect">
            <a:avLst>
              <a:gd name="adj" fmla="val 12000"/>
            </a:avLst>
          </a:prstGeom>
          <a:noFill/>
          <a:ln w="19050">
            <a:solidFill>
              <a:srgbClr val="5B616B"/>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dirty="0" err="1">
                <a:solidFill>
                  <a:srgbClr val="5B616B"/>
                </a:solidFill>
                <a:latin typeface="メイリオ"/>
                <a:ea typeface="メイリオ"/>
              </a:rPr>
              <a:t>フィードバック</a:t>
            </a:r>
            <a:r>
              <a:rPr sz="1500" b="1" dirty="0">
                <a:solidFill>
                  <a:srgbClr val="5B616B"/>
                </a:solidFill>
                <a:latin typeface="メイリオ"/>
                <a:ea typeface="メイリオ"/>
              </a:rPr>
              <a:t> LLM</a:t>
            </a:r>
          </a:p>
          <a:p>
            <a:pPr algn="ctr"/>
            <a:r>
              <a:rPr sz="1100" b="0" dirty="0" err="1">
                <a:solidFill>
                  <a:srgbClr val="5B616B"/>
                </a:solidFill>
                <a:latin typeface="メイリオ"/>
                <a:ea typeface="メイリオ"/>
              </a:rPr>
              <a:t>結果の要因を説明する</a:t>
            </a:r>
            <a:endParaRPr sz="1100" b="0" dirty="0">
              <a:solidFill>
                <a:srgbClr val="5B616B"/>
              </a:solidFill>
              <a:latin typeface="メイリオ"/>
              <a:ea typeface="メイリオ"/>
            </a:endParaRPr>
          </a:p>
        </p:txBody>
      </p:sp>
      <p:sp>
        <p:nvSpPr>
          <p:cNvPr id="13" name="ポートフォリオ"/>
          <p:cNvSpPr/>
          <p:nvPr/>
        </p:nvSpPr>
        <p:spPr>
          <a:xfrm>
            <a:off x="8503920" y="5440680"/>
            <a:ext cx="2743200" cy="822960"/>
          </a:xfrm>
          <a:prstGeom prst="roundRect">
            <a:avLst>
              <a:gd name="adj" fmla="val 12000"/>
            </a:avLst>
          </a:prstGeom>
          <a:solidFill>
            <a:srgbClr val="0D1C3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a:solidFill>
                  <a:srgbClr val="FFFFFF"/>
                </a:solidFill>
                <a:latin typeface="メイリオ"/>
                <a:ea typeface="メイリオ"/>
              </a:rPr>
              <a:t>ポートフォリオ</a:t>
            </a:r>
          </a:p>
          <a:p>
            <a:pPr algn="ctr"/>
            <a:r>
              <a:rPr sz="1100" b="0">
                <a:solidFill>
                  <a:srgbClr val="FFFFFF"/>
                </a:solidFill>
                <a:latin typeface="メイリオ"/>
                <a:ea typeface="メイリオ"/>
              </a:rPr>
              <a:t>銘柄ごとの投資比率</a:t>
            </a:r>
          </a:p>
        </p:txBody>
      </p:sp>
      <p:cxnSp>
        <p:nvCxnSpPr>
          <p:cNvPr id="14" name="Connector 13"/>
          <p:cNvCxnSpPr/>
          <p:nvPr/>
        </p:nvCxnSpPr>
        <p:spPr>
          <a:xfrm>
            <a:off x="5417820" y="2606040"/>
            <a:ext cx="0" cy="320040"/>
          </a:xfrm>
          <a:prstGeom prst="line">
            <a:avLst/>
          </a:prstGeom>
          <a:ln w="28575">
            <a:solidFill>
              <a:srgbClr val="5B61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429000" y="3383280"/>
            <a:ext cx="685800" cy="0"/>
          </a:xfrm>
          <a:prstGeom prst="line">
            <a:avLst/>
          </a:prstGeom>
          <a:ln w="28575">
            <a:solidFill>
              <a:srgbClr val="5B61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189720" y="2194560"/>
            <a:ext cx="411480" cy="0"/>
          </a:xfrm>
          <a:prstGeom prst="line">
            <a:avLst/>
          </a:prstGeom>
          <a:ln w="28575">
            <a:solidFill>
              <a:srgbClr val="5B616B"/>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625328" y="2606040"/>
            <a:ext cx="0" cy="640080"/>
          </a:xfrm>
          <a:prstGeom prst="line">
            <a:avLst/>
          </a:prstGeom>
          <a:ln w="28575">
            <a:solidFill>
              <a:srgbClr val="5B616B"/>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6729984" y="3246120"/>
            <a:ext cx="3895344" cy="0"/>
          </a:xfrm>
          <a:prstGeom prst="line">
            <a:avLst/>
          </a:prstGeom>
          <a:ln w="28575">
            <a:solidFill>
              <a:srgbClr val="5B616B"/>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417820" y="3794760"/>
            <a:ext cx="0" cy="320040"/>
          </a:xfrm>
          <a:prstGeom prst="line">
            <a:avLst/>
          </a:prstGeom>
          <a:ln w="28575">
            <a:solidFill>
              <a:srgbClr val="5B61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429000" y="4572000"/>
            <a:ext cx="685800" cy="0"/>
          </a:xfrm>
          <a:prstGeom prst="line">
            <a:avLst/>
          </a:prstGeom>
          <a:ln w="28575">
            <a:solidFill>
              <a:srgbClr val="5B61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417820" y="4983480"/>
            <a:ext cx="0" cy="411480"/>
          </a:xfrm>
          <a:prstGeom prst="line">
            <a:avLst/>
          </a:prstGeom>
          <a:ln w="28575">
            <a:solidFill>
              <a:srgbClr val="5B616B"/>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675120" y="4572000"/>
            <a:ext cx="3200400" cy="0"/>
          </a:xfrm>
          <a:prstGeom prst="line">
            <a:avLst/>
          </a:prstGeom>
          <a:ln w="28575">
            <a:solidFill>
              <a:srgbClr val="5B616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875520" y="4572000"/>
            <a:ext cx="0" cy="822960"/>
          </a:xfrm>
          <a:prstGeom prst="line">
            <a:avLst/>
          </a:prstGeom>
          <a:ln w="28575">
            <a:solidFill>
              <a:srgbClr val="5B61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868680" y="5852160"/>
            <a:ext cx="3291840" cy="0"/>
          </a:xfrm>
          <a:prstGeom prst="line">
            <a:avLst/>
          </a:prstGeom>
          <a:ln w="28575">
            <a:solidFill>
              <a:srgbClr val="5B616B"/>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68680" y="2194560"/>
            <a:ext cx="0" cy="3657600"/>
          </a:xfrm>
          <a:prstGeom prst="line">
            <a:avLst/>
          </a:prstGeom>
          <a:ln w="28575">
            <a:solidFill>
              <a:srgbClr val="5B616B"/>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 y="2194560"/>
            <a:ext cx="3246120" cy="0"/>
          </a:xfrm>
          <a:prstGeom prst="line">
            <a:avLst/>
          </a:prstGeom>
          <a:ln w="28575">
            <a:solidFill>
              <a:srgbClr val="5B616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509259" y="3813048"/>
            <a:ext cx="2377440" cy="274320"/>
          </a:xfrm>
          <a:prstGeom prst="rect">
            <a:avLst/>
          </a:prstGeom>
          <a:noFill/>
        </p:spPr>
        <p:txBody>
          <a:bodyPr wrap="square" lIns="54864" tIns="27432" rIns="54864" bIns="27432" anchor="t">
            <a:spAutoFit/>
          </a:bodyPr>
          <a:lstStyle/>
          <a:p>
            <a:pPr algn="l"/>
            <a:r>
              <a:rPr sz="1100" b="0">
                <a:solidFill>
                  <a:srgbClr val="5B616B"/>
                </a:solidFill>
                <a:latin typeface="メイリオ"/>
                <a:ea typeface="メイリオ"/>
              </a:rPr>
              <a:t>予想（平均と分散）</a:t>
            </a:r>
          </a:p>
        </p:txBody>
      </p:sp>
      <p:sp>
        <p:nvSpPr>
          <p:cNvPr id="28" name="TextBox 27"/>
          <p:cNvSpPr txBox="1"/>
          <p:nvPr/>
        </p:nvSpPr>
        <p:spPr>
          <a:xfrm>
            <a:off x="5509259" y="5047488"/>
            <a:ext cx="2377440" cy="274320"/>
          </a:xfrm>
          <a:prstGeom prst="rect">
            <a:avLst/>
          </a:prstGeom>
          <a:noFill/>
        </p:spPr>
        <p:txBody>
          <a:bodyPr wrap="square" lIns="54864" tIns="27432" rIns="54864" bIns="27432" anchor="t">
            <a:spAutoFit/>
          </a:bodyPr>
          <a:lstStyle/>
          <a:p>
            <a:pPr algn="l"/>
            <a:r>
              <a:rPr sz="1100" b="0">
                <a:solidFill>
                  <a:srgbClr val="5B616B"/>
                </a:solidFill>
                <a:latin typeface="メイリオ"/>
                <a:ea typeface="メイリオ"/>
              </a:rPr>
              <a:t>比率と成績</a:t>
            </a:r>
          </a:p>
        </p:txBody>
      </p:sp>
      <p:sp>
        <p:nvSpPr>
          <p:cNvPr id="29" name="TextBox 28"/>
          <p:cNvSpPr txBox="1"/>
          <p:nvPr/>
        </p:nvSpPr>
        <p:spPr>
          <a:xfrm>
            <a:off x="6858000" y="4279392"/>
            <a:ext cx="2926080" cy="274320"/>
          </a:xfrm>
          <a:prstGeom prst="rect">
            <a:avLst/>
          </a:prstGeom>
          <a:noFill/>
        </p:spPr>
        <p:txBody>
          <a:bodyPr wrap="square" lIns="54864" tIns="27432" rIns="54864" bIns="27432" anchor="t">
            <a:spAutoFit/>
          </a:bodyPr>
          <a:lstStyle/>
          <a:p>
            <a:pPr algn="l"/>
            <a:r>
              <a:rPr sz="1100" b="0">
                <a:solidFill>
                  <a:srgbClr val="5B616B"/>
                </a:solidFill>
                <a:latin typeface="メイリオ"/>
                <a:ea typeface="メイリオ"/>
              </a:rPr>
              <a:t>投資比率</a:t>
            </a:r>
          </a:p>
        </p:txBody>
      </p:sp>
      <p:sp>
        <p:nvSpPr>
          <p:cNvPr id="30" name="TextBox 29"/>
          <p:cNvSpPr txBox="1"/>
          <p:nvPr/>
        </p:nvSpPr>
        <p:spPr>
          <a:xfrm>
            <a:off x="6858000" y="2962656"/>
            <a:ext cx="3657600" cy="274320"/>
          </a:xfrm>
          <a:prstGeom prst="rect">
            <a:avLst/>
          </a:prstGeom>
          <a:noFill/>
        </p:spPr>
        <p:txBody>
          <a:bodyPr wrap="square" lIns="54864" tIns="27432" rIns="54864" bIns="27432" anchor="t">
            <a:spAutoFit/>
          </a:bodyPr>
          <a:lstStyle/>
          <a:p>
            <a:pPr algn="l"/>
            <a:r>
              <a:rPr sz="1100" b="0">
                <a:solidFill>
                  <a:srgbClr val="5B616B"/>
                </a:solidFill>
                <a:latin typeface="メイリオ"/>
                <a:ea typeface="メイリオ"/>
              </a:rPr>
              <a:t>レポートの要約（テキスト）</a:t>
            </a:r>
          </a:p>
        </p:txBody>
      </p:sp>
      <p:sp>
        <p:nvSpPr>
          <p:cNvPr id="31" name="TextBox 30"/>
          <p:cNvSpPr txBox="1"/>
          <p:nvPr/>
        </p:nvSpPr>
        <p:spPr>
          <a:xfrm>
            <a:off x="960120" y="1901952"/>
            <a:ext cx="3108960" cy="274320"/>
          </a:xfrm>
          <a:prstGeom prst="rect">
            <a:avLst/>
          </a:prstGeom>
          <a:noFill/>
        </p:spPr>
        <p:txBody>
          <a:bodyPr wrap="square" lIns="54864" tIns="27432" rIns="54864" bIns="27432" anchor="t">
            <a:spAutoFit/>
          </a:bodyPr>
          <a:lstStyle/>
          <a:p>
            <a:pPr algn="ctr"/>
            <a:r>
              <a:rPr sz="1100" b="0">
                <a:solidFill>
                  <a:srgbClr val="5B616B"/>
                </a:solidFill>
                <a:latin typeface="メイリオ"/>
                <a:ea typeface="メイリオ"/>
              </a:rPr>
              <a:t>次の予測に反映</a:t>
            </a:r>
          </a:p>
        </p:txBody>
      </p:sp>
      <p:sp>
        <p:nvSpPr>
          <p:cNvPr id="32" name="Rounded Rectangle 31"/>
          <p:cNvSpPr/>
          <p:nvPr/>
        </p:nvSpPr>
        <p:spPr>
          <a:xfrm>
            <a:off x="7498079" y="6419088"/>
            <a:ext cx="384048" cy="219456"/>
          </a:xfrm>
          <a:prstGeom prst="roundRect">
            <a:avLst/>
          </a:prstGeom>
          <a:solidFill>
            <a:srgbClr val="197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936992" y="6373368"/>
            <a:ext cx="1463040" cy="310896"/>
          </a:xfrm>
          <a:prstGeom prst="rect">
            <a:avLst/>
          </a:prstGeom>
          <a:noFill/>
        </p:spPr>
        <p:txBody>
          <a:bodyPr wrap="square" lIns="54864" tIns="27432" rIns="54864" bIns="27432" anchor="t">
            <a:spAutoFit/>
          </a:bodyPr>
          <a:lstStyle/>
          <a:p>
            <a:pPr algn="l"/>
            <a:r>
              <a:rPr sz="1200" b="0">
                <a:solidFill>
                  <a:srgbClr val="5B616B"/>
                </a:solidFill>
                <a:latin typeface="メイリオ"/>
                <a:ea typeface="メイリオ"/>
              </a:rPr>
              <a:t>実装済み</a:t>
            </a:r>
          </a:p>
        </p:txBody>
      </p:sp>
      <p:sp>
        <p:nvSpPr>
          <p:cNvPr id="34" name="Rounded Rectangle 33"/>
          <p:cNvSpPr/>
          <p:nvPr/>
        </p:nvSpPr>
        <p:spPr>
          <a:xfrm>
            <a:off x="9326880" y="6419088"/>
            <a:ext cx="384048" cy="219456"/>
          </a:xfrm>
          <a:prstGeom prst="roundRect">
            <a:avLst/>
          </a:prstGeom>
          <a:noFill/>
          <a:ln w="19050">
            <a:solidFill>
              <a:srgbClr val="5B616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765792" y="6373368"/>
            <a:ext cx="2011680" cy="310896"/>
          </a:xfrm>
          <a:prstGeom prst="rect">
            <a:avLst/>
          </a:prstGeom>
          <a:noFill/>
        </p:spPr>
        <p:txBody>
          <a:bodyPr wrap="square" lIns="54864" tIns="27432" rIns="54864" bIns="27432" anchor="t">
            <a:spAutoFit/>
          </a:bodyPr>
          <a:lstStyle/>
          <a:p>
            <a:pPr algn="l"/>
            <a:r>
              <a:rPr sz="1200" b="0">
                <a:solidFill>
                  <a:srgbClr val="5B616B"/>
                </a:solidFill>
                <a:latin typeface="メイリオ"/>
                <a:ea typeface="メイリオ"/>
              </a:rPr>
              <a:t>今後実装（点線）</a:t>
            </a:r>
          </a:p>
        </p:txBody>
      </p:sp>
      <p:pic>
        <p:nvPicPr>
          <p:cNvPr id="3" name="図 2">
            <a:extLst>
              <a:ext uri="{FF2B5EF4-FFF2-40B4-BE49-F238E27FC236}">
                <a16:creationId xmlns:a16="http://schemas.microsoft.com/office/drawing/2014/main" id="{1228FDAE-04DC-9187-6E47-8B7B740B87DD}"/>
              </a:ext>
            </a:extLst>
          </p:cNvPr>
          <p:cNvPicPr>
            <a:picLocks noChangeAspect="1"/>
          </p:cNvPicPr>
          <p:nvPr/>
        </p:nvPicPr>
        <p:blipFill>
          <a:blip r:embed="rId3"/>
          <a:stretch>
            <a:fillRect/>
          </a:stretch>
        </p:blipFill>
        <p:spPr>
          <a:xfrm>
            <a:off x="1307049" y="3063242"/>
            <a:ext cx="640079" cy="640079"/>
          </a:xfrm>
          <a:prstGeom prst="rect">
            <a:avLst/>
          </a:prstGeom>
        </p:spPr>
      </p:pic>
      <p:sp>
        <p:nvSpPr>
          <p:cNvPr id="36" name="角丸四角形 35">
            <a:extLst>
              <a:ext uri="{FF2B5EF4-FFF2-40B4-BE49-F238E27FC236}">
                <a16:creationId xmlns:a16="http://schemas.microsoft.com/office/drawing/2014/main" id="{C9236A52-696A-DA69-C8EC-77E8ABE4AD6E}"/>
              </a:ext>
            </a:extLst>
          </p:cNvPr>
          <p:cNvSpPr/>
          <p:nvPr/>
        </p:nvSpPr>
        <p:spPr>
          <a:xfrm>
            <a:off x="1928297" y="3095972"/>
            <a:ext cx="1381830" cy="57461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 altLang="ja-JP" sz="1100" b="1" dirty="0">
                <a:solidFill>
                  <a:srgbClr val="0D1C3B"/>
                </a:solidFill>
                <a:latin typeface="メイリオ"/>
                <a:ea typeface="メイリオ"/>
              </a:rPr>
              <a:t>OpenAI API</a:t>
            </a:r>
          </a:p>
          <a:p>
            <a:pPr algn="ctr"/>
            <a:r>
              <a:rPr lang="en" altLang="ja-JP" sz="1100" dirty="0">
                <a:solidFill>
                  <a:srgbClr val="0D1C3B"/>
                </a:solidFill>
                <a:latin typeface="メイリオ"/>
                <a:ea typeface="メイリオ"/>
              </a:rPr>
              <a:t>gpt-4o-mini</a:t>
            </a:r>
          </a:p>
        </p:txBody>
      </p:sp>
      <p:sp>
        <p:nvSpPr>
          <p:cNvPr id="38" name="OpenAI API">
            <a:extLst>
              <a:ext uri="{FF2B5EF4-FFF2-40B4-BE49-F238E27FC236}">
                <a16:creationId xmlns:a16="http://schemas.microsoft.com/office/drawing/2014/main" id="{493ADCF4-00DF-BD4C-69EE-9DA588292EB8}"/>
              </a:ext>
            </a:extLst>
          </p:cNvPr>
          <p:cNvSpPr/>
          <p:nvPr/>
        </p:nvSpPr>
        <p:spPr>
          <a:xfrm>
            <a:off x="1312164" y="4160519"/>
            <a:ext cx="2103120" cy="822960"/>
          </a:xfrm>
          <a:prstGeom prst="roundRect">
            <a:avLst>
              <a:gd name="adj" fmla="val 12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sz="1100" b="0" dirty="0">
              <a:solidFill>
                <a:srgbClr val="0D1C3B"/>
              </a:solidFill>
              <a:latin typeface="メイリオ"/>
              <a:ea typeface="メイリオ"/>
            </a:endParaRPr>
          </a:p>
        </p:txBody>
      </p:sp>
      <p:sp>
        <p:nvSpPr>
          <p:cNvPr id="39" name="角丸四角形 38">
            <a:extLst>
              <a:ext uri="{FF2B5EF4-FFF2-40B4-BE49-F238E27FC236}">
                <a16:creationId xmlns:a16="http://schemas.microsoft.com/office/drawing/2014/main" id="{EF18426F-6BD0-25E2-B578-013756FEF960}"/>
              </a:ext>
            </a:extLst>
          </p:cNvPr>
          <p:cNvSpPr/>
          <p:nvPr/>
        </p:nvSpPr>
        <p:spPr>
          <a:xfrm>
            <a:off x="4972975" y="1912553"/>
            <a:ext cx="1381830" cy="57461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100" b="1">
                <a:solidFill>
                  <a:srgbClr val="0D1C3B"/>
                </a:solidFill>
                <a:latin typeface="メイリオ"/>
                <a:ea typeface="メイリオ"/>
              </a:rPr>
              <a:t>株価情報</a:t>
            </a:r>
            <a:endParaRPr lang="en-US" altLang="ja-JP" sz="1100" b="1" dirty="0">
              <a:solidFill>
                <a:srgbClr val="0D1C3B"/>
              </a:solidFill>
              <a:latin typeface="メイリオ"/>
              <a:ea typeface="メイリオ"/>
            </a:endParaRPr>
          </a:p>
          <a:p>
            <a:pPr algn="ctr"/>
            <a:r>
              <a:rPr lang="ja-JP" altLang="en-US" sz="1100">
                <a:solidFill>
                  <a:srgbClr val="0D1C3B"/>
                </a:solidFill>
                <a:latin typeface="メイリオ"/>
                <a:ea typeface="メイリオ"/>
              </a:rPr>
              <a:t>銘柄・株価・時価</a:t>
            </a:r>
          </a:p>
        </p:txBody>
      </p:sp>
      <p:pic>
        <p:nvPicPr>
          <p:cNvPr id="37" name="図 36">
            <a:extLst>
              <a:ext uri="{FF2B5EF4-FFF2-40B4-BE49-F238E27FC236}">
                <a16:creationId xmlns:a16="http://schemas.microsoft.com/office/drawing/2014/main" id="{B049986B-93A9-AB93-A9A7-D91E80192FAE}"/>
              </a:ext>
            </a:extLst>
          </p:cNvPr>
          <p:cNvPicPr>
            <a:picLocks noChangeAspect="1"/>
          </p:cNvPicPr>
          <p:nvPr/>
        </p:nvPicPr>
        <p:blipFill>
          <a:blip r:embed="rId4"/>
          <a:srcRect r="70551"/>
          <a:stretch>
            <a:fillRect/>
          </a:stretch>
        </p:blipFill>
        <p:spPr>
          <a:xfrm>
            <a:off x="4450660" y="1901952"/>
            <a:ext cx="364728" cy="526139"/>
          </a:xfrm>
          <a:prstGeom prst="rect">
            <a:avLst/>
          </a:prstGeom>
        </p:spPr>
      </p:pic>
      <p:sp>
        <p:nvSpPr>
          <p:cNvPr id="40" name="角丸四角形 39">
            <a:extLst>
              <a:ext uri="{FF2B5EF4-FFF2-40B4-BE49-F238E27FC236}">
                <a16:creationId xmlns:a16="http://schemas.microsoft.com/office/drawing/2014/main" id="{8D564775-2F03-AA54-0E83-195D7167222E}"/>
              </a:ext>
            </a:extLst>
          </p:cNvPr>
          <p:cNvSpPr/>
          <p:nvPr/>
        </p:nvSpPr>
        <p:spPr>
          <a:xfrm>
            <a:off x="1480784" y="4284691"/>
            <a:ext cx="1765335" cy="57461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 altLang="ja-JP" sz="1100" dirty="0">
                <a:solidFill>
                  <a:srgbClr val="0D1C3B"/>
                </a:solidFill>
                <a:latin typeface="メイリオ"/>
                <a:ea typeface="メイリオ"/>
              </a:rPr>
              <a:t>S</a:t>
            </a:r>
            <a:r>
              <a:rPr lang="ja-JP" altLang="en-US" sz="1100">
                <a:solidFill>
                  <a:srgbClr val="0D1C3B"/>
                </a:solidFill>
                <a:latin typeface="メイリオ"/>
                <a:ea typeface="メイリオ"/>
              </a:rPr>
              <a:t>＆</a:t>
            </a:r>
            <a:r>
              <a:rPr lang="en-US" altLang="ja-JP" sz="1100" dirty="0">
                <a:solidFill>
                  <a:srgbClr val="0D1C3B"/>
                </a:solidFill>
                <a:latin typeface="メイリオ"/>
                <a:ea typeface="メイリオ"/>
              </a:rPr>
              <a:t>P500</a:t>
            </a:r>
            <a:r>
              <a:rPr lang="ja-JP" altLang="en-US" sz="1100">
                <a:solidFill>
                  <a:srgbClr val="0D1C3B"/>
                </a:solidFill>
                <a:latin typeface="メイリオ"/>
                <a:ea typeface="メイリオ"/>
              </a:rPr>
              <a:t>の銘柄比率</a:t>
            </a:r>
            <a:endParaRPr lang="en-US" altLang="ja-JP" sz="1100" dirty="0">
              <a:solidFill>
                <a:srgbClr val="0D1C3B"/>
              </a:solidFill>
              <a:latin typeface="メイリオ"/>
              <a:ea typeface="メイリオ"/>
            </a:endParaRPr>
          </a:p>
          <a:p>
            <a:pPr algn="ctr"/>
            <a:r>
              <a:rPr lang="ja-JP" altLang="en-US" sz="1100">
                <a:solidFill>
                  <a:srgbClr val="0D1C3B"/>
                </a:solidFill>
                <a:latin typeface="メイリオ"/>
                <a:ea typeface="メイリオ"/>
              </a:rPr>
              <a:t>（時価総額加重平均）</a:t>
            </a:r>
            <a:endParaRPr lang="en" altLang="ja-JP" sz="1100" dirty="0">
              <a:solidFill>
                <a:srgbClr val="0D1C3B"/>
              </a:solidFill>
              <a:latin typeface="メイリオ"/>
              <a:ea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p:cNvSpPr txBox="1"/>
          <p:nvPr/>
        </p:nvSpPr>
        <p:spPr>
          <a:xfrm>
            <a:off x="493776" y="182880"/>
            <a:ext cx="10149840" cy="749808"/>
          </a:xfrm>
          <a:prstGeom prst="rect">
            <a:avLst/>
          </a:prstGeom>
          <a:noFill/>
        </p:spPr>
        <p:txBody>
          <a:bodyPr wrap="square" lIns="45720" tIns="27432" rIns="45720" bIns="27432" anchor="t">
            <a:spAutoFit/>
          </a:bodyPr>
          <a:lstStyle/>
          <a:p>
            <a:pPr algn="l"/>
            <a:r>
              <a:rPr sz="4300" b="1">
                <a:solidFill>
                  <a:srgbClr val="000000"/>
                </a:solidFill>
                <a:latin typeface="メイリオ"/>
                <a:ea typeface="メイリオ"/>
              </a:rPr>
              <a:t>４．進捗：データと予測</a:t>
            </a:r>
          </a:p>
        </p:txBody>
      </p:sp>
      <p:sp>
        <p:nvSpPr>
          <p:cNvPr id="4" name="主張"/>
          <p:cNvSpPr txBox="1"/>
          <p:nvPr/>
        </p:nvSpPr>
        <p:spPr>
          <a:xfrm>
            <a:off x="676656" y="1115568"/>
            <a:ext cx="10881360" cy="457200"/>
          </a:xfrm>
          <a:prstGeom prst="rect">
            <a:avLst/>
          </a:prstGeom>
          <a:noFill/>
        </p:spPr>
        <p:txBody>
          <a:bodyPr wrap="square" lIns="45720" tIns="27432" rIns="45720" bIns="27432" anchor="t">
            <a:spAutoFit/>
          </a:bodyPr>
          <a:lstStyle/>
          <a:p>
            <a:pPr algn="l"/>
            <a:r>
              <a:rPr sz="2200" b="1">
                <a:solidFill>
                  <a:srgbClr val="1973EB"/>
                </a:solidFill>
                <a:latin typeface="メイリオ"/>
                <a:ea typeface="メイリオ"/>
              </a:rPr>
              <a:t>データ基盤の構築と、LLM による予測まで完了した</a:t>
            </a:r>
          </a:p>
        </p:txBody>
      </p:sp>
      <p:sp>
        <p:nvSpPr>
          <p:cNvPr id="5" name="Rounded Rectangle 4"/>
          <p:cNvSpPr/>
          <p:nvPr/>
        </p:nvSpPr>
        <p:spPr>
          <a:xfrm>
            <a:off x="676656" y="1828800"/>
            <a:ext cx="2542032" cy="182880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3816" y="1938528"/>
            <a:ext cx="2267712" cy="582930"/>
          </a:xfrm>
          <a:prstGeom prst="rect">
            <a:avLst/>
          </a:prstGeom>
          <a:noFill/>
        </p:spPr>
        <p:txBody>
          <a:bodyPr wrap="square" lIns="45720" tIns="27432" rIns="45720" bIns="27432" anchor="t">
            <a:spAutoFit/>
          </a:bodyPr>
          <a:lstStyle/>
          <a:p>
            <a:pPr algn="ctr"/>
            <a:r>
              <a:rPr sz="3400" b="1">
                <a:solidFill>
                  <a:srgbClr val="1973EB"/>
                </a:solidFill>
                <a:latin typeface="メイリオ"/>
                <a:ea typeface="メイリオ"/>
              </a:rPr>
              <a:t>568</a:t>
            </a:r>
          </a:p>
        </p:txBody>
      </p:sp>
      <p:sp>
        <p:nvSpPr>
          <p:cNvPr id="7" name="TextBox 6"/>
          <p:cNvSpPr txBox="1"/>
          <p:nvPr/>
        </p:nvSpPr>
        <p:spPr>
          <a:xfrm>
            <a:off x="859536" y="2573020"/>
            <a:ext cx="2176272" cy="993139"/>
          </a:xfrm>
          <a:prstGeom prst="rect">
            <a:avLst/>
          </a:prstGeom>
          <a:noFill/>
        </p:spPr>
        <p:txBody>
          <a:bodyPr wrap="square" lIns="45720" tIns="27432" rIns="45720" bIns="27432" anchor="t">
            <a:spAutoFit/>
          </a:bodyPr>
          <a:lstStyle/>
          <a:p>
            <a:pPr algn="ctr"/>
            <a:r>
              <a:rPr sz="1400" b="0">
                <a:solidFill>
                  <a:srgbClr val="0D1C3B"/>
                </a:solidFill>
                <a:latin typeface="メイリオ"/>
                <a:ea typeface="メイリオ"/>
              </a:rPr>
              <a:t>銘柄
約3年半の日次株価</a:t>
            </a:r>
          </a:p>
        </p:txBody>
      </p:sp>
      <p:sp>
        <p:nvSpPr>
          <p:cNvPr id="8" name="Rounded Rectangle 7"/>
          <p:cNvSpPr/>
          <p:nvPr/>
        </p:nvSpPr>
        <p:spPr>
          <a:xfrm>
            <a:off x="3474720" y="1828800"/>
            <a:ext cx="2542032" cy="182880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11879" y="1938528"/>
            <a:ext cx="2267712" cy="582930"/>
          </a:xfrm>
          <a:prstGeom prst="rect">
            <a:avLst/>
          </a:prstGeom>
          <a:noFill/>
        </p:spPr>
        <p:txBody>
          <a:bodyPr wrap="square" lIns="45720" tIns="27432" rIns="45720" bIns="27432" anchor="t">
            <a:spAutoFit/>
          </a:bodyPr>
          <a:lstStyle/>
          <a:p>
            <a:pPr algn="ctr"/>
            <a:r>
              <a:rPr sz="3400" b="1">
                <a:solidFill>
                  <a:srgbClr val="1973EB"/>
                </a:solidFill>
                <a:latin typeface="メイリオ"/>
                <a:ea typeface="メイリオ"/>
              </a:rPr>
              <a:t>約44万</a:t>
            </a:r>
          </a:p>
        </p:txBody>
      </p:sp>
      <p:sp>
        <p:nvSpPr>
          <p:cNvPr id="10" name="TextBox 9"/>
          <p:cNvSpPr txBox="1"/>
          <p:nvPr/>
        </p:nvSpPr>
        <p:spPr>
          <a:xfrm>
            <a:off x="3657600" y="2573020"/>
            <a:ext cx="2176272" cy="993139"/>
          </a:xfrm>
          <a:prstGeom prst="rect">
            <a:avLst/>
          </a:prstGeom>
          <a:noFill/>
        </p:spPr>
        <p:txBody>
          <a:bodyPr wrap="square" lIns="45720" tIns="27432" rIns="45720" bIns="27432" anchor="t">
            <a:spAutoFit/>
          </a:bodyPr>
          <a:lstStyle/>
          <a:p>
            <a:pPr algn="ctr"/>
            <a:r>
              <a:rPr sz="1400" b="0">
                <a:solidFill>
                  <a:srgbClr val="0D1C3B"/>
                </a:solidFill>
                <a:latin typeface="メイリオ"/>
                <a:ea typeface="メイリオ"/>
              </a:rPr>
              <a:t>個の LLM の回答
30か月 × 約490銘柄 × 30個</a:t>
            </a:r>
          </a:p>
        </p:txBody>
      </p:sp>
      <p:sp>
        <p:nvSpPr>
          <p:cNvPr id="11" name="Rounded Rectangle 10"/>
          <p:cNvSpPr/>
          <p:nvPr/>
        </p:nvSpPr>
        <p:spPr>
          <a:xfrm>
            <a:off x="6272784" y="1828800"/>
            <a:ext cx="2542032" cy="182880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9944" y="1938528"/>
            <a:ext cx="2267712" cy="582930"/>
          </a:xfrm>
          <a:prstGeom prst="rect">
            <a:avLst/>
          </a:prstGeom>
          <a:noFill/>
        </p:spPr>
        <p:txBody>
          <a:bodyPr wrap="square" lIns="45720" tIns="27432" rIns="45720" bIns="27432" anchor="t">
            <a:spAutoFit/>
          </a:bodyPr>
          <a:lstStyle/>
          <a:p>
            <a:pPr algn="ctr"/>
            <a:r>
              <a:rPr sz="3400" b="1">
                <a:solidFill>
                  <a:srgbClr val="1973EB"/>
                </a:solidFill>
                <a:latin typeface="メイリオ"/>
                <a:ea typeface="メイリオ"/>
              </a:rPr>
              <a:t>0.9997</a:t>
            </a:r>
          </a:p>
        </p:txBody>
      </p:sp>
      <p:sp>
        <p:nvSpPr>
          <p:cNvPr id="13" name="TextBox 12"/>
          <p:cNvSpPr txBox="1"/>
          <p:nvPr/>
        </p:nvSpPr>
        <p:spPr>
          <a:xfrm>
            <a:off x="6455664" y="2573020"/>
            <a:ext cx="2176272" cy="993139"/>
          </a:xfrm>
          <a:prstGeom prst="rect">
            <a:avLst/>
          </a:prstGeom>
          <a:noFill/>
        </p:spPr>
        <p:txBody>
          <a:bodyPr wrap="square" lIns="45720" tIns="27432" rIns="45720" bIns="27432" anchor="t">
            <a:spAutoFit/>
          </a:bodyPr>
          <a:lstStyle/>
          <a:p>
            <a:pPr algn="ctr"/>
            <a:r>
              <a:rPr sz="1400" b="0">
                <a:solidFill>
                  <a:srgbClr val="0D1C3B"/>
                </a:solidFill>
                <a:latin typeface="メイリオ"/>
                <a:ea typeface="メイリオ"/>
              </a:rPr>
              <a:t>作った指数と実際の S&amp;P500 の
日次リターンの相関</a:t>
            </a:r>
          </a:p>
        </p:txBody>
      </p:sp>
      <p:sp>
        <p:nvSpPr>
          <p:cNvPr id="14" name="Rounded Rectangle 13"/>
          <p:cNvSpPr/>
          <p:nvPr/>
        </p:nvSpPr>
        <p:spPr>
          <a:xfrm>
            <a:off x="9070848" y="1828800"/>
            <a:ext cx="2542032" cy="182880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08008" y="1938528"/>
            <a:ext cx="2267712" cy="582930"/>
          </a:xfrm>
          <a:prstGeom prst="rect">
            <a:avLst/>
          </a:prstGeom>
          <a:noFill/>
        </p:spPr>
        <p:txBody>
          <a:bodyPr wrap="square" lIns="45720" tIns="27432" rIns="45720" bIns="27432" anchor="t">
            <a:spAutoFit/>
          </a:bodyPr>
          <a:lstStyle/>
          <a:p>
            <a:pPr algn="ctr"/>
            <a:r>
              <a:rPr sz="3400" b="1">
                <a:solidFill>
                  <a:srgbClr val="1973EB"/>
                </a:solidFill>
                <a:latin typeface="メイリオ"/>
                <a:ea typeface="メイリオ"/>
              </a:rPr>
              <a:t>0 件</a:t>
            </a:r>
          </a:p>
        </p:txBody>
      </p:sp>
      <p:sp>
        <p:nvSpPr>
          <p:cNvPr id="16" name="TextBox 15"/>
          <p:cNvSpPr txBox="1"/>
          <p:nvPr/>
        </p:nvSpPr>
        <p:spPr>
          <a:xfrm>
            <a:off x="9253728" y="2573020"/>
            <a:ext cx="2176272" cy="993139"/>
          </a:xfrm>
          <a:prstGeom prst="rect">
            <a:avLst/>
          </a:prstGeom>
          <a:noFill/>
        </p:spPr>
        <p:txBody>
          <a:bodyPr wrap="square" lIns="45720" tIns="27432" rIns="45720" bIns="27432" anchor="t">
            <a:spAutoFit/>
          </a:bodyPr>
          <a:lstStyle/>
          <a:p>
            <a:pPr algn="ctr"/>
            <a:r>
              <a:rPr sz="1400" b="0">
                <a:solidFill>
                  <a:srgbClr val="0D1C3B"/>
                </a:solidFill>
                <a:latin typeface="メイリオ"/>
                <a:ea typeface="メイリオ"/>
              </a:rPr>
              <a:t>読み取れなかった回答
桁の取り違えもなし</a:t>
            </a:r>
          </a:p>
        </p:txBody>
      </p:sp>
      <p:sp>
        <p:nvSpPr>
          <p:cNvPr id="17" name="TextBox 16"/>
          <p:cNvSpPr txBox="1"/>
          <p:nvPr/>
        </p:nvSpPr>
        <p:spPr>
          <a:xfrm>
            <a:off x="676656" y="3931920"/>
            <a:ext cx="10881360" cy="365760"/>
          </a:xfrm>
          <a:prstGeom prst="rect">
            <a:avLst/>
          </a:prstGeom>
          <a:noFill/>
        </p:spPr>
        <p:txBody>
          <a:bodyPr wrap="square" lIns="45720" tIns="27432" rIns="45720" bIns="27432" anchor="t">
            <a:spAutoFit/>
          </a:bodyPr>
          <a:lstStyle/>
          <a:p>
            <a:pPr algn="l"/>
            <a:r>
              <a:rPr sz="1700" b="1">
                <a:solidFill>
                  <a:srgbClr val="0D1C3B"/>
                </a:solidFill>
                <a:latin typeface="メイリオ"/>
                <a:ea typeface="メイリオ"/>
              </a:rPr>
              <a:t>未来の情報を使わないための設計</a:t>
            </a:r>
          </a:p>
        </p:txBody>
      </p:sp>
      <p:sp>
        <p:nvSpPr>
          <p:cNvPr id="18" name="Oval 17"/>
          <p:cNvSpPr/>
          <p:nvPr/>
        </p:nvSpPr>
        <p:spPr>
          <a:xfrm>
            <a:off x="822960" y="4522851"/>
            <a:ext cx="118872" cy="118872"/>
          </a:xfrm>
          <a:prstGeom prst="ellipse">
            <a:avLst/>
          </a:prstGeom>
          <a:solidFill>
            <a:srgbClr val="197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42416" y="4407408"/>
            <a:ext cx="10479024" cy="358902"/>
          </a:xfrm>
          <a:prstGeom prst="rect">
            <a:avLst/>
          </a:prstGeom>
          <a:noFill/>
        </p:spPr>
        <p:txBody>
          <a:bodyPr wrap="square" lIns="45720" tIns="27432" rIns="45720" bIns="27432" anchor="t">
            <a:spAutoFit/>
          </a:bodyPr>
          <a:lstStyle/>
          <a:p>
            <a:pPr algn="l"/>
            <a:r>
              <a:rPr sz="1500" b="0">
                <a:solidFill>
                  <a:srgbClr val="000000"/>
                </a:solidFill>
                <a:latin typeface="メイリオ"/>
                <a:ea typeface="メイリオ"/>
              </a:rPr>
              <a:t>構成銘柄：各月末に指数に在籍していた銘柄だけを対象にする（入れ替え履歴から再現）</a:t>
            </a:r>
          </a:p>
        </p:txBody>
      </p:sp>
      <p:sp>
        <p:nvSpPr>
          <p:cNvPr id="20" name="Oval 19"/>
          <p:cNvSpPr/>
          <p:nvPr/>
        </p:nvSpPr>
        <p:spPr>
          <a:xfrm>
            <a:off x="822960" y="4936617"/>
            <a:ext cx="118872" cy="118872"/>
          </a:xfrm>
          <a:prstGeom prst="ellipse">
            <a:avLst/>
          </a:prstGeom>
          <a:solidFill>
            <a:srgbClr val="197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42416" y="4821174"/>
            <a:ext cx="10479024" cy="358902"/>
          </a:xfrm>
          <a:prstGeom prst="rect">
            <a:avLst/>
          </a:prstGeom>
          <a:noFill/>
        </p:spPr>
        <p:txBody>
          <a:bodyPr wrap="square" lIns="45720" tIns="27432" rIns="45720" bIns="27432" anchor="t">
            <a:spAutoFit/>
          </a:bodyPr>
          <a:lstStyle/>
          <a:p>
            <a:pPr algn="l"/>
            <a:r>
              <a:rPr sz="1500" b="0">
                <a:solidFill>
                  <a:srgbClr val="000000"/>
                </a:solidFill>
                <a:latin typeface="メイリオ"/>
                <a:ea typeface="メイリオ"/>
              </a:rPr>
              <a:t>財務データ：提出日を付けて保存し、判断日までに公表された値だけを使えるようにする</a:t>
            </a:r>
          </a:p>
        </p:txBody>
      </p:sp>
      <p:sp>
        <p:nvSpPr>
          <p:cNvPr id="22" name="Oval 21"/>
          <p:cNvSpPr/>
          <p:nvPr/>
        </p:nvSpPr>
        <p:spPr>
          <a:xfrm>
            <a:off x="822960" y="5350382"/>
            <a:ext cx="118872" cy="118872"/>
          </a:xfrm>
          <a:prstGeom prst="ellipse">
            <a:avLst/>
          </a:prstGeom>
          <a:solidFill>
            <a:srgbClr val="197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42416" y="5234940"/>
            <a:ext cx="10479024" cy="358902"/>
          </a:xfrm>
          <a:prstGeom prst="rect">
            <a:avLst/>
          </a:prstGeom>
          <a:noFill/>
        </p:spPr>
        <p:txBody>
          <a:bodyPr wrap="square" lIns="45720" tIns="27432" rIns="45720" bIns="27432" anchor="t">
            <a:spAutoFit/>
          </a:bodyPr>
          <a:lstStyle/>
          <a:p>
            <a:pPr algn="l"/>
            <a:r>
              <a:rPr sz="1500" b="0">
                <a:solidFill>
                  <a:srgbClr val="000000"/>
                </a:solidFill>
                <a:latin typeface="メイリオ"/>
                <a:ea typeface="メイリオ"/>
              </a:rPr>
              <a:t>モデル：知識が 2023年10月までの gpt-4o-mini を使う（評価は 2024年4月から）</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p:cNvSpPr txBox="1"/>
          <p:nvPr/>
        </p:nvSpPr>
        <p:spPr>
          <a:xfrm>
            <a:off x="493776" y="182880"/>
            <a:ext cx="10149840" cy="749808"/>
          </a:xfrm>
          <a:prstGeom prst="rect">
            <a:avLst/>
          </a:prstGeom>
          <a:noFill/>
        </p:spPr>
        <p:txBody>
          <a:bodyPr wrap="square" lIns="45720" tIns="27432" rIns="45720" bIns="27432" anchor="t">
            <a:spAutoFit/>
          </a:bodyPr>
          <a:lstStyle/>
          <a:p>
            <a:pPr algn="l"/>
            <a:r>
              <a:rPr sz="4300" b="1">
                <a:solidFill>
                  <a:srgbClr val="000000"/>
                </a:solidFill>
                <a:latin typeface="メイリオ"/>
                <a:ea typeface="メイリオ"/>
              </a:rPr>
              <a:t>４．進捗の一覧</a:t>
            </a:r>
          </a:p>
        </p:txBody>
      </p:sp>
      <p:sp>
        <p:nvSpPr>
          <p:cNvPr id="4" name="主張"/>
          <p:cNvSpPr txBox="1"/>
          <p:nvPr/>
        </p:nvSpPr>
        <p:spPr>
          <a:xfrm>
            <a:off x="676656" y="1115568"/>
            <a:ext cx="10881360" cy="457200"/>
          </a:xfrm>
          <a:prstGeom prst="rect">
            <a:avLst/>
          </a:prstGeom>
          <a:noFill/>
        </p:spPr>
        <p:txBody>
          <a:bodyPr wrap="square" lIns="45720" tIns="27432" rIns="45720" bIns="27432" anchor="t">
            <a:spAutoFit/>
          </a:bodyPr>
          <a:lstStyle/>
          <a:p>
            <a:pPr algn="l"/>
            <a:r>
              <a:rPr sz="2200" b="1">
                <a:solidFill>
                  <a:srgbClr val="1973EB"/>
                </a:solidFill>
                <a:latin typeface="メイリオ"/>
                <a:ea typeface="メイリオ"/>
              </a:rPr>
              <a:t>既存手法の再現と問題点の特定まで完了。提案手法の実装はこれから</a:t>
            </a:r>
          </a:p>
        </p:txBody>
      </p:sp>
      <p:graphicFrame>
        <p:nvGraphicFramePr>
          <p:cNvPr id="5" name="進捗"/>
          <p:cNvGraphicFramePr>
            <a:graphicFrameLocks noGrp="1"/>
          </p:cNvGraphicFramePr>
          <p:nvPr>
            <p:extLst>
              <p:ext uri="{D42A27DB-BD31-4B8C-83A1-F6EECF244321}">
                <p14:modId xmlns:p14="http://schemas.microsoft.com/office/powerpoint/2010/main" val="1096697293"/>
              </p:ext>
            </p:extLst>
          </p:nvPr>
        </p:nvGraphicFramePr>
        <p:xfrm>
          <a:off x="676656" y="1828800"/>
          <a:ext cx="10881360" cy="3968496"/>
        </p:xfrm>
        <a:graphic>
          <a:graphicData uri="http://schemas.openxmlformats.org/drawingml/2006/table">
            <a:tbl>
              <a:tblPr>
                <a:tableStyleId>{5940675A-B579-460E-94D1-54222C63F5DA}</a:tableStyleId>
              </a:tblPr>
              <a:tblGrid>
                <a:gridCol w="85953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566928">
                <a:tc>
                  <a:txBody>
                    <a:bodyPr/>
                    <a:lstStyle/>
                    <a:p>
                      <a:pPr algn="l"/>
                      <a:r>
                        <a:rPr sz="1400" b="1">
                          <a:solidFill>
                            <a:srgbClr val="FFFFFF"/>
                          </a:solidFill>
                          <a:latin typeface="メイリオ"/>
                          <a:ea typeface="メイリオ"/>
                        </a:rPr>
                        <a:t>項目</a:t>
                      </a:r>
                    </a:p>
                  </a:txBody>
                  <a:tcPr marL="137160" marR="137160" anchor="ctr">
                    <a:solidFill>
                      <a:srgbClr val="0D1C3B"/>
                    </a:solidFill>
                  </a:tcPr>
                </a:tc>
                <a:tc>
                  <a:txBody>
                    <a:bodyPr/>
                    <a:lstStyle/>
                    <a:p>
                      <a:pPr algn="ctr"/>
                      <a:r>
                        <a:rPr sz="1400" b="1">
                          <a:solidFill>
                            <a:srgbClr val="FFFFFF"/>
                          </a:solidFill>
                          <a:latin typeface="メイリオ"/>
                          <a:ea typeface="メイリオ"/>
                        </a:rPr>
                        <a:t>状態</a:t>
                      </a:r>
                    </a:p>
                  </a:txBody>
                  <a:tcPr marL="137160" marR="137160" anchor="ctr">
                    <a:solidFill>
                      <a:srgbClr val="0D1C3B"/>
                    </a:solidFill>
                  </a:tcPr>
                </a:tc>
                <a:extLst>
                  <a:ext uri="{0D108BD9-81ED-4DB2-BD59-A6C34878D82A}">
                    <a16:rowId xmlns:a16="http://schemas.microsoft.com/office/drawing/2014/main" val="10000"/>
                  </a:ext>
                </a:extLst>
              </a:tr>
              <a:tr h="566928">
                <a:tc>
                  <a:txBody>
                    <a:bodyPr/>
                    <a:lstStyle/>
                    <a:p>
                      <a:pPr algn="l"/>
                      <a:r>
                        <a:rPr sz="1600" b="0">
                          <a:solidFill>
                            <a:srgbClr val="000000"/>
                          </a:solidFill>
                          <a:latin typeface="メイリオ"/>
                          <a:ea typeface="メイリオ"/>
                        </a:rPr>
                        <a:t>データ基盤（株価、構成銘柄、構成比率、財務諸表）</a:t>
                      </a:r>
                    </a:p>
                  </a:txBody>
                  <a:tcPr marL="137160" marR="137160" anchor="ctr">
                    <a:noFill/>
                  </a:tcPr>
                </a:tc>
                <a:tc>
                  <a:txBody>
                    <a:bodyPr/>
                    <a:lstStyle/>
                    <a:p>
                      <a:pPr algn="ctr"/>
                      <a:r>
                        <a:rPr sz="1600" b="1">
                          <a:solidFill>
                            <a:srgbClr val="12876C"/>
                          </a:solidFill>
                          <a:latin typeface="メイリオ"/>
                          <a:ea typeface="メイリオ"/>
                        </a:rPr>
                        <a:t>完了</a:t>
                      </a:r>
                    </a:p>
                  </a:txBody>
                  <a:tcPr marL="137160" marR="137160" anchor="ctr">
                    <a:solidFill>
                      <a:srgbClr val="E3F6F0"/>
                    </a:solidFill>
                  </a:tcPr>
                </a:tc>
                <a:extLst>
                  <a:ext uri="{0D108BD9-81ED-4DB2-BD59-A6C34878D82A}">
                    <a16:rowId xmlns:a16="http://schemas.microsoft.com/office/drawing/2014/main" val="10001"/>
                  </a:ext>
                </a:extLst>
              </a:tr>
              <a:tr h="566928">
                <a:tc>
                  <a:txBody>
                    <a:bodyPr/>
                    <a:lstStyle/>
                    <a:p>
                      <a:pPr algn="l"/>
                      <a:r>
                        <a:rPr sz="1600" b="0">
                          <a:solidFill>
                            <a:srgbClr val="000000"/>
                          </a:solidFill>
                          <a:latin typeface="メイリオ"/>
                          <a:ea typeface="メイリオ"/>
                        </a:rPr>
                        <a:t>LLM によるリターン予測（30か月、約44万個）</a:t>
                      </a:r>
                    </a:p>
                  </a:txBody>
                  <a:tcPr marL="137160" marR="137160" anchor="ctr">
                    <a:noFill/>
                  </a:tcPr>
                </a:tc>
                <a:tc>
                  <a:txBody>
                    <a:bodyPr/>
                    <a:lstStyle/>
                    <a:p>
                      <a:pPr algn="ctr"/>
                      <a:r>
                        <a:rPr sz="1600" b="1">
                          <a:solidFill>
                            <a:srgbClr val="12876C"/>
                          </a:solidFill>
                          <a:latin typeface="メイリオ"/>
                          <a:ea typeface="メイリオ"/>
                        </a:rPr>
                        <a:t>完了</a:t>
                      </a:r>
                    </a:p>
                  </a:txBody>
                  <a:tcPr marL="137160" marR="137160" anchor="ctr">
                    <a:solidFill>
                      <a:srgbClr val="E3F6F0"/>
                    </a:solidFill>
                  </a:tcPr>
                </a:tc>
                <a:extLst>
                  <a:ext uri="{0D108BD9-81ED-4DB2-BD59-A6C34878D82A}">
                    <a16:rowId xmlns:a16="http://schemas.microsoft.com/office/drawing/2014/main" val="10002"/>
                  </a:ext>
                </a:extLst>
              </a:tr>
              <a:tr h="566928">
                <a:tc>
                  <a:txBody>
                    <a:bodyPr/>
                    <a:lstStyle/>
                    <a:p>
                      <a:pPr algn="l"/>
                      <a:r>
                        <a:rPr sz="1600" b="0" dirty="0" err="1">
                          <a:solidFill>
                            <a:srgbClr val="000000"/>
                          </a:solidFill>
                          <a:latin typeface="メイリオ"/>
                          <a:ea typeface="メイリオ"/>
                        </a:rPr>
                        <a:t>既存手法の再現と</a:t>
                      </a:r>
                      <a:r>
                        <a:rPr sz="1600" b="0" dirty="0">
                          <a:solidFill>
                            <a:srgbClr val="000000"/>
                          </a:solidFill>
                          <a:latin typeface="メイリオ"/>
                          <a:ea typeface="メイリオ"/>
                        </a:rPr>
                        <a:t>、</a:t>
                      </a:r>
                      <a:r>
                        <a:rPr lang="ja-JP" altLang="en-US" sz="1600" b="0">
                          <a:solidFill>
                            <a:srgbClr val="000000"/>
                          </a:solidFill>
                          <a:latin typeface="メイリオ"/>
                          <a:ea typeface="メイリオ"/>
                        </a:rPr>
                        <a:t>改善</a:t>
                      </a:r>
                      <a:r>
                        <a:rPr sz="1600" b="0" dirty="0" err="1">
                          <a:solidFill>
                            <a:srgbClr val="000000"/>
                          </a:solidFill>
                          <a:latin typeface="メイリオ"/>
                          <a:ea typeface="メイリオ"/>
                        </a:rPr>
                        <a:t>点の特定</a:t>
                      </a:r>
                      <a:endParaRPr sz="1600" b="0" dirty="0">
                        <a:solidFill>
                          <a:srgbClr val="000000"/>
                        </a:solidFill>
                        <a:latin typeface="メイリオ"/>
                        <a:ea typeface="メイリオ"/>
                      </a:endParaRPr>
                    </a:p>
                  </a:txBody>
                  <a:tcPr marL="137160" marR="137160" anchor="ctr">
                    <a:noFill/>
                  </a:tcPr>
                </a:tc>
                <a:tc>
                  <a:txBody>
                    <a:bodyPr/>
                    <a:lstStyle/>
                    <a:p>
                      <a:pPr algn="ctr"/>
                      <a:r>
                        <a:rPr sz="1600" b="1">
                          <a:solidFill>
                            <a:srgbClr val="12876C"/>
                          </a:solidFill>
                          <a:latin typeface="メイリオ"/>
                          <a:ea typeface="メイリオ"/>
                        </a:rPr>
                        <a:t>完了</a:t>
                      </a:r>
                    </a:p>
                  </a:txBody>
                  <a:tcPr marL="137160" marR="137160" anchor="ctr">
                    <a:solidFill>
                      <a:srgbClr val="E3F6F0"/>
                    </a:solidFill>
                  </a:tcPr>
                </a:tc>
                <a:extLst>
                  <a:ext uri="{0D108BD9-81ED-4DB2-BD59-A6C34878D82A}">
                    <a16:rowId xmlns:a16="http://schemas.microsoft.com/office/drawing/2014/main" val="10003"/>
                  </a:ext>
                </a:extLst>
              </a:tr>
              <a:tr h="566928">
                <a:tc>
                  <a:txBody>
                    <a:bodyPr/>
                    <a:lstStyle/>
                    <a:p>
                      <a:pPr algn="l"/>
                      <a:r>
                        <a:rPr sz="1600" b="0">
                          <a:solidFill>
                            <a:srgbClr val="000000"/>
                          </a:solidFill>
                          <a:latin typeface="メイリオ"/>
                          <a:ea typeface="メイリオ"/>
                        </a:rPr>
                        <a:t>自信の度合いの見直し、指数からのずれの制限</a:t>
                      </a:r>
                    </a:p>
                  </a:txBody>
                  <a:tcPr marL="137160" marR="137160" anchor="ctr">
                    <a:noFill/>
                  </a:tcPr>
                </a:tc>
                <a:tc>
                  <a:txBody>
                    <a:bodyPr/>
                    <a:lstStyle/>
                    <a:p>
                      <a:pPr algn="ctr"/>
                      <a:r>
                        <a:rPr sz="1600" b="1">
                          <a:solidFill>
                            <a:srgbClr val="C2520F"/>
                          </a:solidFill>
                          <a:latin typeface="メイリオ"/>
                          <a:ea typeface="メイリオ"/>
                        </a:rPr>
                        <a:t>着手</a:t>
                      </a:r>
                    </a:p>
                  </a:txBody>
                  <a:tcPr marL="137160" marR="137160" anchor="ctr">
                    <a:solidFill>
                      <a:srgbClr val="FFEDE3"/>
                    </a:solidFill>
                  </a:tcPr>
                </a:tc>
                <a:extLst>
                  <a:ext uri="{0D108BD9-81ED-4DB2-BD59-A6C34878D82A}">
                    <a16:rowId xmlns:a16="http://schemas.microsoft.com/office/drawing/2014/main" val="10004"/>
                  </a:ext>
                </a:extLst>
              </a:tr>
              <a:tr h="566928">
                <a:tc>
                  <a:txBody>
                    <a:bodyPr/>
                    <a:lstStyle/>
                    <a:p>
                      <a:pPr algn="l"/>
                      <a:r>
                        <a:rPr sz="1600" b="0">
                          <a:solidFill>
                            <a:srgbClr val="000000"/>
                          </a:solidFill>
                          <a:latin typeface="メイリオ"/>
                          <a:ea typeface="メイリオ"/>
                        </a:rPr>
                        <a:t>セクター単位の予測、入力の追加、統計モデルとの比較</a:t>
                      </a:r>
                    </a:p>
                  </a:txBody>
                  <a:tcPr marL="137160" marR="137160" anchor="ctr">
                    <a:noFill/>
                  </a:tcPr>
                </a:tc>
                <a:tc>
                  <a:txBody>
                    <a:bodyPr/>
                    <a:lstStyle/>
                    <a:p>
                      <a:pPr algn="ctr"/>
                      <a:r>
                        <a:rPr sz="1600" b="1">
                          <a:solidFill>
                            <a:srgbClr val="5B616B"/>
                          </a:solidFill>
                          <a:latin typeface="メイリオ"/>
                          <a:ea typeface="メイリオ"/>
                        </a:rPr>
                        <a:t>これから</a:t>
                      </a:r>
                    </a:p>
                  </a:txBody>
                  <a:tcPr marL="137160" marR="137160" anchor="ctr">
                    <a:solidFill>
                      <a:srgbClr val="F5F2F9"/>
                    </a:solidFill>
                  </a:tcPr>
                </a:tc>
                <a:extLst>
                  <a:ext uri="{0D108BD9-81ED-4DB2-BD59-A6C34878D82A}">
                    <a16:rowId xmlns:a16="http://schemas.microsoft.com/office/drawing/2014/main" val="10005"/>
                  </a:ext>
                </a:extLst>
              </a:tr>
              <a:tr h="566928">
                <a:tc>
                  <a:txBody>
                    <a:bodyPr/>
                    <a:lstStyle/>
                    <a:p>
                      <a:pPr algn="l"/>
                      <a:r>
                        <a:rPr sz="1600" b="0">
                          <a:solidFill>
                            <a:srgbClr val="000000"/>
                          </a:solidFill>
                          <a:latin typeface="メイリオ"/>
                          <a:ea typeface="メイリオ"/>
                        </a:rPr>
                        <a:t>結果をフィードバックする LLM</a:t>
                      </a:r>
                    </a:p>
                  </a:txBody>
                  <a:tcPr marL="137160" marR="137160" anchor="ctr">
                    <a:noFill/>
                  </a:tcPr>
                </a:tc>
                <a:tc>
                  <a:txBody>
                    <a:bodyPr/>
                    <a:lstStyle/>
                    <a:p>
                      <a:pPr algn="ctr"/>
                      <a:r>
                        <a:rPr sz="1600" b="1" dirty="0" err="1">
                          <a:solidFill>
                            <a:srgbClr val="5B616B"/>
                          </a:solidFill>
                          <a:latin typeface="メイリオ"/>
                          <a:ea typeface="メイリオ"/>
                        </a:rPr>
                        <a:t>これから</a:t>
                      </a:r>
                      <a:endParaRPr sz="1600" b="1" dirty="0">
                        <a:solidFill>
                          <a:srgbClr val="5B616B"/>
                        </a:solidFill>
                        <a:latin typeface="メイリオ"/>
                        <a:ea typeface="メイリオ"/>
                      </a:endParaRPr>
                    </a:p>
                  </a:txBody>
                  <a:tcPr marL="137160" marR="137160" anchor="ctr">
                    <a:solidFill>
                      <a:srgbClr val="F5F2F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p:cNvSpPr txBox="1"/>
          <p:nvPr/>
        </p:nvSpPr>
        <p:spPr>
          <a:xfrm>
            <a:off x="493776" y="182880"/>
            <a:ext cx="10149840" cy="749808"/>
          </a:xfrm>
          <a:prstGeom prst="rect">
            <a:avLst/>
          </a:prstGeom>
          <a:noFill/>
        </p:spPr>
        <p:txBody>
          <a:bodyPr wrap="square" lIns="45720" tIns="27432" rIns="45720" bIns="27432" anchor="t">
            <a:spAutoFit/>
          </a:bodyPr>
          <a:lstStyle/>
          <a:p>
            <a:pPr algn="l"/>
            <a:r>
              <a:rPr sz="4300" b="1">
                <a:solidFill>
                  <a:srgbClr val="000000"/>
                </a:solidFill>
                <a:latin typeface="メイリオ"/>
                <a:ea typeface="メイリオ"/>
              </a:rPr>
              <a:t>５．今後の展望・課題</a:t>
            </a:r>
          </a:p>
        </p:txBody>
      </p:sp>
      <p:sp>
        <p:nvSpPr>
          <p:cNvPr id="4" name="主張"/>
          <p:cNvSpPr txBox="1"/>
          <p:nvPr/>
        </p:nvSpPr>
        <p:spPr>
          <a:xfrm>
            <a:off x="676656" y="1115568"/>
            <a:ext cx="10881360" cy="457200"/>
          </a:xfrm>
          <a:prstGeom prst="rect">
            <a:avLst/>
          </a:prstGeom>
          <a:noFill/>
        </p:spPr>
        <p:txBody>
          <a:bodyPr wrap="square" lIns="45720" tIns="27432" rIns="45720" bIns="27432" anchor="t">
            <a:spAutoFit/>
          </a:bodyPr>
          <a:lstStyle/>
          <a:p>
            <a:pPr algn="l"/>
            <a:r>
              <a:rPr sz="2200" b="1">
                <a:solidFill>
                  <a:srgbClr val="1973EB"/>
                </a:solidFill>
                <a:latin typeface="メイリオ"/>
                <a:ea typeface="メイリオ"/>
              </a:rPr>
              <a:t>予想の信じ方を直し、入力を増やして、もう一度比較する</a:t>
            </a:r>
          </a:p>
        </p:txBody>
      </p:sp>
      <p:sp>
        <p:nvSpPr>
          <p:cNvPr id="5" name="課題1"/>
          <p:cNvSpPr/>
          <p:nvPr/>
        </p:nvSpPr>
        <p:spPr>
          <a:xfrm>
            <a:off x="676656" y="1874519"/>
            <a:ext cx="3310128" cy="251460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05256" y="2075688"/>
            <a:ext cx="566928" cy="566928"/>
          </a:xfrm>
          <a:prstGeom prst="ellipse">
            <a:avLst/>
          </a:prstGeom>
          <a:solidFill>
            <a:srgbClr val="197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2103120"/>
            <a:ext cx="566928" cy="512064"/>
          </a:xfrm>
          <a:prstGeom prst="rect">
            <a:avLst/>
          </a:prstGeom>
          <a:noFill/>
        </p:spPr>
        <p:txBody>
          <a:bodyPr wrap="square" lIns="45720" tIns="27432" rIns="45720" bIns="27432" anchor="ctr">
            <a:spAutoFit/>
          </a:bodyPr>
          <a:lstStyle/>
          <a:p>
            <a:pPr algn="ctr"/>
            <a:r>
              <a:rPr sz="2200" b="1">
                <a:solidFill>
                  <a:srgbClr val="FFFFFF"/>
                </a:solidFill>
                <a:latin typeface="メイリオ"/>
                <a:ea typeface="メイリオ"/>
              </a:rPr>
              <a:t>1</a:t>
            </a:r>
          </a:p>
        </p:txBody>
      </p:sp>
      <p:sp>
        <p:nvSpPr>
          <p:cNvPr id="8" name="TextBox 7"/>
          <p:cNvSpPr txBox="1"/>
          <p:nvPr/>
        </p:nvSpPr>
        <p:spPr>
          <a:xfrm>
            <a:off x="1591056" y="2103120"/>
            <a:ext cx="2331720" cy="548640"/>
          </a:xfrm>
          <a:prstGeom prst="rect">
            <a:avLst/>
          </a:prstGeom>
          <a:noFill/>
        </p:spPr>
        <p:txBody>
          <a:bodyPr wrap="square" lIns="45720" tIns="27432" rIns="45720" bIns="27432" anchor="ctr">
            <a:spAutoFit/>
          </a:bodyPr>
          <a:lstStyle/>
          <a:p>
            <a:pPr algn="l"/>
            <a:r>
              <a:rPr sz="1800" b="1">
                <a:solidFill>
                  <a:srgbClr val="0D1C3B"/>
                </a:solidFill>
                <a:latin typeface="メイリオ"/>
                <a:ea typeface="メイリオ"/>
              </a:rPr>
              <a:t>予想の信じ方を直す</a:t>
            </a:r>
          </a:p>
        </p:txBody>
      </p:sp>
      <p:sp>
        <p:nvSpPr>
          <p:cNvPr id="9" name="TextBox 8"/>
          <p:cNvSpPr txBox="1"/>
          <p:nvPr/>
        </p:nvSpPr>
        <p:spPr>
          <a:xfrm>
            <a:off x="950976" y="2834640"/>
            <a:ext cx="2834640" cy="1463040"/>
          </a:xfrm>
          <a:prstGeom prst="rect">
            <a:avLst/>
          </a:prstGeom>
          <a:noFill/>
        </p:spPr>
        <p:txBody>
          <a:bodyPr wrap="square" lIns="45720" tIns="27432" rIns="45720" bIns="27432" anchor="t">
            <a:spAutoFit/>
          </a:bodyPr>
          <a:lstStyle/>
          <a:p>
            <a:pPr algn="l">
              <a:spcAft>
                <a:spcPts val="500"/>
              </a:spcAft>
            </a:pPr>
            <a:r>
              <a:rPr sz="1500" b="0">
                <a:solidFill>
                  <a:srgbClr val="000000"/>
                </a:solidFill>
                <a:latin typeface="メイリオ"/>
                <a:ea typeface="メイリオ"/>
              </a:rPr>
              <a:t>自信の度合いを、実際の</a:t>
            </a:r>
          </a:p>
          <a:p>
            <a:pPr algn="l">
              <a:spcAft>
                <a:spcPts val="500"/>
              </a:spcAft>
            </a:pPr>
            <a:r>
              <a:rPr sz="1500" b="0">
                <a:solidFill>
                  <a:srgbClr val="000000"/>
                </a:solidFill>
                <a:latin typeface="メイリオ"/>
                <a:ea typeface="メイリオ"/>
              </a:rPr>
              <a:t>当たり具合から決める</a:t>
            </a:r>
          </a:p>
          <a:p>
            <a:pPr algn="l">
              <a:spcAft>
                <a:spcPts val="500"/>
              </a:spcAft>
            </a:pPr>
            <a:r>
              <a:rPr sz="1500" b="0">
                <a:solidFill>
                  <a:srgbClr val="000000"/>
                </a:solidFill>
                <a:latin typeface="メイリオ"/>
                <a:ea typeface="メイリオ"/>
              </a:rPr>
              <a:t>指数からのずれに上限</a:t>
            </a:r>
          </a:p>
        </p:txBody>
      </p:sp>
      <p:cxnSp>
        <p:nvCxnSpPr>
          <p:cNvPr id="10" name="Connector 9"/>
          <p:cNvCxnSpPr/>
          <p:nvPr/>
        </p:nvCxnSpPr>
        <p:spPr>
          <a:xfrm>
            <a:off x="4059936" y="3127248"/>
            <a:ext cx="310896" cy="0"/>
          </a:xfrm>
          <a:prstGeom prst="line">
            <a:avLst/>
          </a:prstGeom>
          <a:ln w="38100">
            <a:solidFill>
              <a:srgbClr val="197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課題2"/>
          <p:cNvSpPr/>
          <p:nvPr/>
        </p:nvSpPr>
        <p:spPr>
          <a:xfrm>
            <a:off x="4443984" y="1874519"/>
            <a:ext cx="3310128" cy="251460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672584" y="2075688"/>
            <a:ext cx="566928" cy="566928"/>
          </a:xfrm>
          <a:prstGeom prst="ellipse">
            <a:avLst/>
          </a:prstGeom>
          <a:solidFill>
            <a:srgbClr val="197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72584" y="2103120"/>
            <a:ext cx="566928" cy="512064"/>
          </a:xfrm>
          <a:prstGeom prst="rect">
            <a:avLst/>
          </a:prstGeom>
          <a:noFill/>
        </p:spPr>
        <p:txBody>
          <a:bodyPr wrap="square" lIns="45720" tIns="27432" rIns="45720" bIns="27432" anchor="ctr">
            <a:spAutoFit/>
          </a:bodyPr>
          <a:lstStyle/>
          <a:p>
            <a:pPr algn="ctr"/>
            <a:r>
              <a:rPr sz="2200" b="1">
                <a:solidFill>
                  <a:srgbClr val="FFFFFF"/>
                </a:solidFill>
                <a:latin typeface="メイリオ"/>
                <a:ea typeface="メイリオ"/>
              </a:rPr>
              <a:t>2</a:t>
            </a:r>
          </a:p>
        </p:txBody>
      </p:sp>
      <p:sp>
        <p:nvSpPr>
          <p:cNvPr id="14" name="TextBox 13"/>
          <p:cNvSpPr txBox="1"/>
          <p:nvPr/>
        </p:nvSpPr>
        <p:spPr>
          <a:xfrm>
            <a:off x="5358384" y="2103120"/>
            <a:ext cx="2331720" cy="548640"/>
          </a:xfrm>
          <a:prstGeom prst="rect">
            <a:avLst/>
          </a:prstGeom>
          <a:noFill/>
        </p:spPr>
        <p:txBody>
          <a:bodyPr wrap="square" lIns="45720" tIns="27432" rIns="45720" bIns="27432" anchor="ctr">
            <a:spAutoFit/>
          </a:bodyPr>
          <a:lstStyle/>
          <a:p>
            <a:pPr algn="l"/>
            <a:r>
              <a:rPr sz="1800" b="1">
                <a:solidFill>
                  <a:srgbClr val="0D1C3B"/>
                </a:solidFill>
                <a:latin typeface="メイリオ"/>
                <a:ea typeface="メイリオ"/>
              </a:rPr>
              <a:t>入力を増やす</a:t>
            </a:r>
          </a:p>
        </p:txBody>
      </p:sp>
      <p:sp>
        <p:nvSpPr>
          <p:cNvPr id="15" name="TextBox 14"/>
          <p:cNvSpPr txBox="1"/>
          <p:nvPr/>
        </p:nvSpPr>
        <p:spPr>
          <a:xfrm>
            <a:off x="4718304" y="2834640"/>
            <a:ext cx="2834640" cy="1463040"/>
          </a:xfrm>
          <a:prstGeom prst="rect">
            <a:avLst/>
          </a:prstGeom>
          <a:noFill/>
        </p:spPr>
        <p:txBody>
          <a:bodyPr wrap="square" lIns="45720" tIns="27432" rIns="45720" bIns="27432" anchor="t">
            <a:spAutoFit/>
          </a:bodyPr>
          <a:lstStyle/>
          <a:p>
            <a:pPr algn="l">
              <a:spcAft>
                <a:spcPts val="500"/>
              </a:spcAft>
            </a:pPr>
            <a:r>
              <a:rPr sz="1500" b="0">
                <a:solidFill>
                  <a:srgbClr val="000000"/>
                </a:solidFill>
                <a:latin typeface="メイリオ"/>
                <a:ea typeface="メイリオ"/>
              </a:rPr>
              <a:t>セクター単位の予測</a:t>
            </a:r>
          </a:p>
          <a:p>
            <a:pPr algn="l">
              <a:spcAft>
                <a:spcPts val="500"/>
              </a:spcAft>
            </a:pPr>
            <a:r>
              <a:rPr sz="1500" b="0">
                <a:solidFill>
                  <a:srgbClr val="000000"/>
                </a:solidFill>
                <a:latin typeface="メイリオ"/>
                <a:ea typeface="メイリオ"/>
              </a:rPr>
              <a:t>財務、金利・VIX、レポート</a:t>
            </a:r>
          </a:p>
          <a:p>
            <a:pPr algn="l">
              <a:spcAft>
                <a:spcPts val="500"/>
              </a:spcAft>
            </a:pPr>
            <a:r>
              <a:rPr sz="1500" b="0">
                <a:solidFill>
                  <a:srgbClr val="000000"/>
                </a:solidFill>
                <a:latin typeface="メイリオ"/>
                <a:ea typeface="メイリオ"/>
              </a:rPr>
              <a:t>統計モデル（回帰）と比較</a:t>
            </a:r>
          </a:p>
        </p:txBody>
      </p:sp>
      <p:cxnSp>
        <p:nvCxnSpPr>
          <p:cNvPr id="16" name="Connector 15"/>
          <p:cNvCxnSpPr/>
          <p:nvPr/>
        </p:nvCxnSpPr>
        <p:spPr>
          <a:xfrm>
            <a:off x="7827264" y="3127248"/>
            <a:ext cx="310896" cy="0"/>
          </a:xfrm>
          <a:prstGeom prst="line">
            <a:avLst/>
          </a:prstGeom>
          <a:ln w="38100">
            <a:solidFill>
              <a:srgbClr val="197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課題3"/>
          <p:cNvSpPr/>
          <p:nvPr/>
        </p:nvSpPr>
        <p:spPr>
          <a:xfrm>
            <a:off x="8211312" y="1874519"/>
            <a:ext cx="3310128" cy="2514600"/>
          </a:xfrm>
          <a:prstGeom prst="roundRect">
            <a:avLst>
              <a:gd name="adj" fmla="val 8000"/>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439912" y="2075688"/>
            <a:ext cx="566928" cy="566928"/>
          </a:xfrm>
          <a:prstGeom prst="ellipse">
            <a:avLst/>
          </a:prstGeom>
          <a:solidFill>
            <a:srgbClr val="197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39912" y="2103120"/>
            <a:ext cx="566928" cy="512064"/>
          </a:xfrm>
          <a:prstGeom prst="rect">
            <a:avLst/>
          </a:prstGeom>
          <a:noFill/>
        </p:spPr>
        <p:txBody>
          <a:bodyPr wrap="square" lIns="45720" tIns="27432" rIns="45720" bIns="27432" anchor="ctr">
            <a:spAutoFit/>
          </a:bodyPr>
          <a:lstStyle/>
          <a:p>
            <a:pPr algn="ctr"/>
            <a:r>
              <a:rPr sz="2200" b="1">
                <a:solidFill>
                  <a:srgbClr val="FFFFFF"/>
                </a:solidFill>
                <a:latin typeface="メイリオ"/>
                <a:ea typeface="メイリオ"/>
              </a:rPr>
              <a:t>3</a:t>
            </a:r>
          </a:p>
        </p:txBody>
      </p:sp>
      <p:sp>
        <p:nvSpPr>
          <p:cNvPr id="20" name="TextBox 19"/>
          <p:cNvSpPr txBox="1"/>
          <p:nvPr/>
        </p:nvSpPr>
        <p:spPr>
          <a:xfrm>
            <a:off x="9125712" y="2103120"/>
            <a:ext cx="2331720" cy="548640"/>
          </a:xfrm>
          <a:prstGeom prst="rect">
            <a:avLst/>
          </a:prstGeom>
          <a:noFill/>
        </p:spPr>
        <p:txBody>
          <a:bodyPr wrap="square" lIns="45720" tIns="27432" rIns="45720" bIns="27432" anchor="ctr">
            <a:spAutoFit/>
          </a:bodyPr>
          <a:lstStyle/>
          <a:p>
            <a:pPr algn="l"/>
            <a:r>
              <a:rPr sz="1800" b="1">
                <a:solidFill>
                  <a:srgbClr val="0D1C3B"/>
                </a:solidFill>
                <a:latin typeface="メイリオ"/>
                <a:ea typeface="メイリオ"/>
              </a:rPr>
              <a:t>フィードバック</a:t>
            </a:r>
          </a:p>
        </p:txBody>
      </p:sp>
      <p:sp>
        <p:nvSpPr>
          <p:cNvPr id="21" name="TextBox 20"/>
          <p:cNvSpPr txBox="1"/>
          <p:nvPr/>
        </p:nvSpPr>
        <p:spPr>
          <a:xfrm>
            <a:off x="8485632" y="2834640"/>
            <a:ext cx="2834640" cy="1463040"/>
          </a:xfrm>
          <a:prstGeom prst="rect">
            <a:avLst/>
          </a:prstGeom>
          <a:noFill/>
        </p:spPr>
        <p:txBody>
          <a:bodyPr wrap="square" lIns="45720" tIns="27432" rIns="45720" bIns="27432" anchor="t">
            <a:spAutoFit/>
          </a:bodyPr>
          <a:lstStyle/>
          <a:p>
            <a:pPr algn="l">
              <a:spcAft>
                <a:spcPts val="500"/>
              </a:spcAft>
            </a:pPr>
            <a:r>
              <a:rPr sz="1500" b="0">
                <a:solidFill>
                  <a:srgbClr val="000000"/>
                </a:solidFill>
                <a:latin typeface="メイリオ"/>
                <a:ea typeface="メイリオ"/>
              </a:rPr>
              <a:t>成績の要因を数値で分解</a:t>
            </a:r>
          </a:p>
          <a:p>
            <a:pPr algn="l">
              <a:spcAft>
                <a:spcPts val="500"/>
              </a:spcAft>
            </a:pPr>
            <a:r>
              <a:rPr sz="1500" b="0">
                <a:solidFill>
                  <a:srgbClr val="000000"/>
                </a:solidFill>
                <a:latin typeface="メイリオ"/>
                <a:ea typeface="メイリオ"/>
              </a:rPr>
              <a:t>LLM が当時の資料と</a:t>
            </a:r>
          </a:p>
          <a:p>
            <a:pPr algn="l">
              <a:spcAft>
                <a:spcPts val="500"/>
              </a:spcAft>
            </a:pPr>
            <a:r>
              <a:rPr sz="1500" b="0">
                <a:solidFill>
                  <a:srgbClr val="000000"/>
                </a:solidFill>
                <a:latin typeface="メイリオ"/>
                <a:ea typeface="メイリオ"/>
              </a:rPr>
              <a:t>合わせて説明する</a:t>
            </a:r>
          </a:p>
        </p:txBody>
      </p:sp>
      <p:sp>
        <p:nvSpPr>
          <p:cNvPr id="22" name="TextBox 21"/>
          <p:cNvSpPr txBox="1"/>
          <p:nvPr/>
        </p:nvSpPr>
        <p:spPr>
          <a:xfrm>
            <a:off x="676656" y="4663440"/>
            <a:ext cx="10881360" cy="365760"/>
          </a:xfrm>
          <a:prstGeom prst="rect">
            <a:avLst/>
          </a:prstGeom>
          <a:noFill/>
        </p:spPr>
        <p:txBody>
          <a:bodyPr wrap="square" lIns="45720" tIns="27432" rIns="45720" bIns="27432" anchor="t">
            <a:spAutoFit/>
          </a:bodyPr>
          <a:lstStyle/>
          <a:p>
            <a:pPr algn="l"/>
            <a:r>
              <a:rPr sz="1700" b="1">
                <a:solidFill>
                  <a:srgbClr val="0D1C3B"/>
                </a:solidFill>
                <a:latin typeface="メイリオ"/>
                <a:ea typeface="メイリオ"/>
              </a:rPr>
              <a:t>課題</a:t>
            </a:r>
          </a:p>
        </p:txBody>
      </p:sp>
      <p:sp>
        <p:nvSpPr>
          <p:cNvPr id="23" name="Oval 22"/>
          <p:cNvSpPr/>
          <p:nvPr/>
        </p:nvSpPr>
        <p:spPr>
          <a:xfrm>
            <a:off x="822960" y="5236082"/>
            <a:ext cx="118872" cy="118872"/>
          </a:xfrm>
          <a:prstGeom prst="ellipse">
            <a:avLst/>
          </a:prstGeom>
          <a:solidFill>
            <a:srgbClr val="197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42416" y="5120640"/>
            <a:ext cx="10479024" cy="358902"/>
          </a:xfrm>
          <a:prstGeom prst="rect">
            <a:avLst/>
          </a:prstGeom>
          <a:noFill/>
        </p:spPr>
        <p:txBody>
          <a:bodyPr wrap="square" lIns="45720" tIns="27432" rIns="45720" bIns="27432" anchor="t">
            <a:spAutoFit/>
          </a:bodyPr>
          <a:lstStyle/>
          <a:p>
            <a:pPr algn="l"/>
            <a:r>
              <a:rPr sz="1500" b="0">
                <a:solidFill>
                  <a:srgbClr val="000000"/>
                </a:solidFill>
                <a:latin typeface="メイリオ"/>
                <a:ea typeface="メイリオ"/>
              </a:rPr>
              <a:t>評価は 30 か月分のみ。成績の差は偶然と区別しにくいため、差の大きさと幅を合わせて示す</a:t>
            </a:r>
          </a:p>
        </p:txBody>
      </p:sp>
      <p:sp>
        <p:nvSpPr>
          <p:cNvPr id="25" name="Oval 24"/>
          <p:cNvSpPr/>
          <p:nvPr/>
        </p:nvSpPr>
        <p:spPr>
          <a:xfrm>
            <a:off x="822960" y="5649848"/>
            <a:ext cx="118872" cy="118872"/>
          </a:xfrm>
          <a:prstGeom prst="ellipse">
            <a:avLst/>
          </a:prstGeom>
          <a:solidFill>
            <a:srgbClr val="197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42416" y="5534405"/>
            <a:ext cx="10479024" cy="358902"/>
          </a:xfrm>
          <a:prstGeom prst="rect">
            <a:avLst/>
          </a:prstGeom>
          <a:noFill/>
        </p:spPr>
        <p:txBody>
          <a:bodyPr wrap="square" lIns="45720" tIns="27432" rIns="45720" bIns="27432" anchor="t">
            <a:spAutoFit/>
          </a:bodyPr>
          <a:lstStyle/>
          <a:p>
            <a:pPr algn="l"/>
            <a:r>
              <a:rPr sz="1500" b="0">
                <a:solidFill>
                  <a:srgbClr val="000000"/>
                </a:solidFill>
                <a:latin typeface="メイリオ"/>
                <a:ea typeface="メイリオ"/>
              </a:rPr>
              <a:t>売買コストと、上場廃止銘柄の除外（生存者バイアス）の影響を明記する</a:t>
            </a:r>
          </a:p>
        </p:txBody>
      </p:sp>
    </p:spTree>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467</TotalTime>
  <Words>1300</Words>
  <Application>Microsoft Macintosh PowerPoint</Application>
  <PresentationFormat>ワイド画面</PresentationFormat>
  <Paragraphs>193</Paragraphs>
  <Slides>12</Slides>
  <Notes>10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12</vt:i4>
      </vt:variant>
    </vt:vector>
  </HeadingPairs>
  <TitlesOfParts>
    <vt:vector size="18" baseType="lpstr">
      <vt:lpstr>メイリオ</vt:lpstr>
      <vt:lpstr>游ゴシック</vt:lpstr>
      <vt:lpstr>Arial</vt:lpstr>
      <vt:lpstr>Calibri</vt:lpstr>
      <vt:lpstr>Courier New</vt:lpstr>
      <vt:lpstr>DashVTI</vt:lpstr>
      <vt:lpstr>LLMによる株式リターン予測とポートフォリオ最適化の検証</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k2313080</dc:creator>
  <cp:lastModifiedBy>k2313080</cp:lastModifiedBy>
  <cp:revision>17</cp:revision>
  <dcterms:created xsi:type="dcterms:W3CDTF">2026-10-11T07:13:42Z</dcterms:created>
  <dcterms:modified xsi:type="dcterms:W3CDTF">2026-10-13T03:14:05Z</dcterms:modified>
</cp:coreProperties>
</file>