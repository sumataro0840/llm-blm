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00000"/>
            <a:ext cx="104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情報工学工房　LLM-BLM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400000"/>
            <a:ext cx="10400000" cy="12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文献調査と次の設計方針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500000"/>
            <a:ext cx="104000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2514E"/>
                </a:solidFill>
                <a:latin typeface="BIZ UDPGothic"/>
                <a:ea typeface="BIZ UDPGothic"/>
                <a:cs typeface="BIZ UDPGothic"/>
              </a:rPr>
              <a:t>7 つの仮説の結果を踏まえ、何を問い、どう確かめるか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400000"/>
            <a:ext cx="104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2026 年 10 月 17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この資料の要点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" y="1600000"/>
            <a:ext cx="2618000" cy="3600000"/>
          </a:xfrm>
          <a:prstGeom prst="roundRect">
            <a:avLst>
              <a:gd name="adj" fmla="val 6000"/>
            </a:avLst>
          </a:prstGeom>
          <a:solidFill>
            <a:srgbClr val="E4EE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これまで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LLM に翌月のリターンを数値で答えさせる構成は、統計を超える価値を示せなかった（予想の 81% は渡した月の写し）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8000" y="1600000"/>
            <a:ext cx="2618000" cy="3600000"/>
          </a:xfrm>
          <a:prstGeom prst="roundRect">
            <a:avLst>
              <a:gd name="adj" fmla="val 6000"/>
            </a:avLst>
          </a:prstGeom>
          <a:solidFill>
            <a:srgbClr val="E3F3E9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BAF7A"/>
                </a:solidFill>
                <a:latin typeface="BIZ UDPGothic"/>
                <a:ea typeface="BIZ UDPGothic"/>
                <a:cs typeface="BIZ UDPGothic"/>
              </a:rPr>
              <a:t>新しい問い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LLM が決算発表文から取り出した判断は、数値と LLM を使わない文章の分析を超える情報を持つか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000" y="1600000"/>
            <a:ext cx="2618000" cy="3600000"/>
          </a:xfrm>
          <a:prstGeom prst="roundRect">
            <a:avLst>
              <a:gd name="adj" fmla="val 6000"/>
            </a:avLst>
          </a:prstGeom>
          <a:solidFill>
            <a:srgbClr val="FBEEDF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B6834"/>
                </a:solidFill>
                <a:latin typeface="BIZ UDPGothic"/>
                <a:ea typeface="BIZ UDPGothic"/>
                <a:cs typeface="BIZ UDPGothic"/>
              </a:rPr>
              <a:t>文献で変えること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主な目的は「発表への反応」に。プロンプトに目的を書かない。2015〜2023 年は ChronoGPT で読む。取り下げ論文の引用を直す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4000" y="1600000"/>
            <a:ext cx="2618000" cy="3600000"/>
          </a:xfrm>
          <a:prstGeom prst="roundRect">
            <a:avLst>
              <a:gd name="adj" fmla="val 6000"/>
            </a:avLst>
          </a:prstGeom>
          <a:solidFill>
            <a:srgbClr val="EEE8FA"/>
          </a:solidFill>
          <a:ln w="1270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6250D6"/>
                </a:solidFill>
                <a:latin typeface="BIZ UDPGothic"/>
                <a:ea typeface="BIZ UDPGothic"/>
                <a:cs typeface="BIZ UDPGothic"/>
              </a:rPr>
              <a:t>確かめ方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手順を凍結した前向きの検証（2026 年 10 月以降の決算発表）を主な検定に。BLM は通過した信号を安全に比率へ変える部分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これまでの結果：7 つの仮説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0000" y="1450000"/>
          <a:ext cx="11071999" cy="4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571"/>
                <a:gridCol w="2174857"/>
                <a:gridCol w="7908571"/>
              </a:tblGrid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仮説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確かめたこと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結果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H01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元論文の再現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式は一致。BLM は LLM の予想を中央値 99.9% 採用。元論文の SLSQP は再現できない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H02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統計の基準との比較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予想は渡した月の写し（決定係数 0.81）。固有の IC −0.004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H03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相対ビュー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高ベータへの傾きは消えない（銘柄の間のなぞりが原因）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H04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Ω の較正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BLM は設計どおり動くが、成績（年率 +0.53%）は並べ替えたビューと区別できない（p = 0.104）。ばらつきは大きさに使えず、順番の手がかりにはなる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H05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文章だけを渡す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なぞりは消える（+0.77 → +0.05）。予測力は不十分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H06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決算発表文の点数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5,429 本。IC +0.033（探索的）。数値を統制すると有意でない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H07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成績のフィードバック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改善しない。一律に強気に寄った（日次 +0.12% → +0.29%）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0000" y="585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BIZ UDPGothic"/>
                <a:ea typeface="BIZ UDPGothic"/>
                <a:cs typeface="BIZ UDPGothic"/>
              </a:rPr>
              <a:t>評価は 2024 年 3 月〜2026 年 8 月の 30 か月（gpt-4o-mini の知識の期限より後）。IC 0.07 未満は検出できない。API 費用は計 6.7 ドル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方法：3 者の方針と 4 者の文献調査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000000"/>
            <a:ext cx="2400000" cy="1100000"/>
          </a:xfrm>
          <a:prstGeom prst="roundRect">
            <a:avLst>
              <a:gd name="adj" fmla="val 10000"/>
            </a:avLst>
          </a:prstGeom>
          <a:solidFill>
            <a:srgbClr val="E4EEF9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同じ依頼と資料</a:t>
            </a:r>
          </a:p>
          <a:p>
            <a:pPr algn="ctr"/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見出しを揃える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0000" y="1500000"/>
            <a:ext cx="2600000" cy="900000"/>
          </a:xfrm>
          <a:prstGeom prst="roundRect">
            <a:avLst>
              <a:gd name="adj" fmla="val 10000"/>
            </a:avLst>
          </a:prstGeom>
          <a:solidFill>
            <a:srgbClr val="E3F3E9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1BAF7A"/>
                </a:solidFill>
                <a:latin typeface="BIZ UDPGothic"/>
                <a:ea typeface="BIZ UDPGothic"/>
                <a:cs typeface="BIZ UDPGothic"/>
              </a:rPr>
              <a:t>方針（3 者）</a:t>
            </a:r>
          </a:p>
          <a:p>
            <a:pPr algn="ctr"/>
            <a:r>
              <a:rPr sz="14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Claude・GPT・Gemini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0000" y="2700000"/>
            <a:ext cx="2600000" cy="900000"/>
          </a:xfrm>
          <a:prstGeom prst="roundRect">
            <a:avLst>
              <a:gd name="adj" fmla="val 10000"/>
            </a:avLst>
          </a:prstGeom>
          <a:solidFill>
            <a:srgbClr val="E3F3E9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1BAF7A"/>
                </a:solidFill>
                <a:latin typeface="BIZ UDPGothic"/>
                <a:ea typeface="BIZ UDPGothic"/>
                <a:cs typeface="BIZ UDPGothic"/>
              </a:rPr>
              <a:t>文献調査（4 者）</a:t>
            </a:r>
          </a:p>
          <a:p>
            <a:pPr algn="ctr"/>
            <a:r>
              <a:rPr sz="14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＋ Gemini Deep Research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0" y="2700000"/>
            <a:ext cx="2200000" cy="900000"/>
          </a:xfrm>
          <a:prstGeom prst="roundRect">
            <a:avLst>
              <a:gd name="adj" fmla="val 10000"/>
            </a:avLst>
          </a:prstGeom>
          <a:solidFill>
            <a:srgbClr val="FBEEDF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EB6834"/>
                </a:solidFill>
                <a:latin typeface="BIZ UDPGothic"/>
                <a:ea typeface="BIZ UDPGothic"/>
                <a:cs typeface="BIZ UDPGothic"/>
              </a:rPr>
              <a:t>照合</a:t>
            </a:r>
          </a:p>
          <a:p>
            <a:pPr algn="ctr"/>
            <a:r>
              <a:rPr sz="14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arXiv・OpenAlex・Crossref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0000" y="2000000"/>
            <a:ext cx="2000000" cy="1100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 w="15875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6250D6"/>
                </a:solidFill>
                <a:latin typeface="BIZ UDPGothic"/>
                <a:ea typeface="BIZ UDPGothic"/>
                <a:cs typeface="BIZ UDPGothic"/>
              </a:rPr>
              <a:t>比較検討</a:t>
            </a:r>
          </a:p>
          <a:p>
            <a:pPr algn="ctr"/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統合した方針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960000" y="1950000"/>
            <a:ext cx="740000" cy="60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60000" y="2550000"/>
            <a:ext cx="740000" cy="60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00000" y="3150000"/>
            <a:ext cx="700000" cy="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00000" y="1950000"/>
            <a:ext cx="3300000" cy="60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200000" y="2550000"/>
            <a:ext cx="400000" cy="60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0000" y="4100000"/>
            <a:ext cx="11072000" cy="20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・Claude は他の回答を読む前に自分の分を書き終えた（ただし実験の細部を知っている点で条件は同じでない）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・文献は arXiv の番号なら題名と著者まで突き合わせ、見つからないものは検索で個別に確かめた（LLM/refcheck.py）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B6834"/>
                </a:solidFill>
                <a:latin typeface="BIZ UDPGothic"/>
                <a:ea typeface="BIZ UDPGothic"/>
                <a:cs typeface="BIZ UDPGothic"/>
              </a:rPr>
              <a:t>・依頼の文書で H04 を逆に書く誤りがあった。GPT は添付のレポートから正しく読んだ。訂正を注記した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文献の照合：どのモデルにも誤りがあった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0000" y="1500000"/>
          <a:ext cx="11071997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081"/>
                <a:gridCol w="907540"/>
                <a:gridCol w="1089049"/>
                <a:gridCol w="7260327"/>
              </a:tblGrid>
              <a:tr h="60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/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文献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検索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照合で見つかった誤り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Claude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36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約 35 回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なし（H04 の読み違いを照合の段階で修正）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GPT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38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14 回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著者の取り違え 2 件。方針を変えた発見の多くはここから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Gemini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15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8 語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別の論文の番号、自分で「推定」とした DOI、見つからない文献、著者が Anonymous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Deep Research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17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36 回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著者の取り違え 4、題名の取り違え 2、主張の出どころの誤り、要旨にない数値、学術でない根拠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0000" y="4800000"/>
            <a:ext cx="11072000" cy="1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・よくある誤り：番号は実在するが別の論文／著者の取り違え／ある論文の主張を別の論文のものに／要旨にない数値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・照合で ok でも主張の中身は保証されない。この資料で使う主張は、要旨か本文で確かめたものに限った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文献調査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4 者が一致したこと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450000"/>
            <a:ext cx="3557333" cy="2150000"/>
          </a:xfrm>
          <a:prstGeom prst="roundRect">
            <a:avLst>
              <a:gd name="adj" fmla="val 6000"/>
            </a:avLst>
          </a:prstGeom>
          <a:solidFill>
            <a:srgbClr val="E4EE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数値の予想はやめる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LLM のリターン予想は直近を外挿しすぎ、楽観に寄る（Chen ほか 2024）。H02 の「写し」と同じ現象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7333" y="1450000"/>
            <a:ext cx="3557333" cy="2150000"/>
          </a:xfrm>
          <a:prstGeom prst="roundRect">
            <a:avLst>
              <a:gd name="adj" fmla="val 6000"/>
            </a:avLst>
          </a:prstGeom>
          <a:solidFill>
            <a:srgbClr val="FBEEDF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EB6834"/>
                </a:solidFill>
                <a:latin typeface="BIZ UDPGothic"/>
                <a:ea typeface="BIZ UDPGothic"/>
                <a:cs typeface="BIZ UDPGothic"/>
              </a:rPr>
              <a:t>期限前は確認に使えない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伏せても社名・日付が文脈から復元され、記憶と予測力を区別できない（Lopez-Lira ほか 2025）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666" y="1450000"/>
            <a:ext cx="3557333" cy="2150000"/>
          </a:xfrm>
          <a:prstGeom prst="roundRect">
            <a:avLst>
              <a:gd name="adj" fmla="val 6000"/>
            </a:avLst>
          </a:prstGeom>
          <a:solidFill>
            <a:srgbClr val="EEE8FA"/>
          </a:solidFill>
          <a:ln w="1270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6250D6"/>
                </a:solidFill>
                <a:latin typeface="BIZ UDPGothic"/>
                <a:ea typeface="BIZ UDPGothic"/>
                <a:cs typeface="BIZ UDPGothic"/>
              </a:rPr>
              <a:t>前向きの検証を主に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先読みと研究者の選択の両方を防げる唯一の方法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0000" y="3800000"/>
            <a:ext cx="3557333" cy="2150000"/>
          </a:xfrm>
          <a:prstGeom prst="roundRect">
            <a:avLst>
              <a:gd name="adj" fmla="val 6000"/>
            </a:avLst>
          </a:prstGeom>
          <a:solidFill>
            <a:srgbClr val="E3F3E9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BAF7A"/>
                </a:solidFill>
                <a:latin typeface="BIZ UDPGothic"/>
                <a:ea typeface="BIZ UDPGothic"/>
                <a:cs typeface="BIZ UDPGothic"/>
              </a:rPr>
              <a:t>非 LLM の 3 つの対照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辞書（Loughran–McDonald）・TF-IDF の回帰・FinBERT。FinBERT は辞書を大きく上回る（Huang ほか 2023）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7333" y="3800000"/>
            <a:ext cx="3557333" cy="2150000"/>
          </a:xfrm>
          <a:prstGeom prst="roundRect">
            <a:avLst>
              <a:gd name="adj" fmla="val 6000"/>
            </a:avLst>
          </a:prstGeom>
          <a:solidFill>
            <a:srgbClr val="FDF3DA"/>
          </a:solidFill>
          <a:ln w="12700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EDA100"/>
                </a:solidFill>
                <a:latin typeface="BIZ UDPGothic"/>
                <a:ea typeface="BIZ UDPGothic"/>
                <a:cs typeface="BIZ UDPGothic"/>
              </a:rPr>
              <a:t>時刻の監査は必須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同じ日の発表の相関で検定が過大に棄却する（Kolari・Pynnönen 2010）。悪いニュースは引け後に出やすい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文献調査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方針を変える 4 つの発見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450000"/>
            <a:ext cx="5436000" cy="2200000"/>
          </a:xfrm>
          <a:prstGeom prst="roundRect">
            <a:avLst>
              <a:gd name="adj" fmla="val 6000"/>
            </a:avLst>
          </a:prstGeom>
          <a:solidFill>
            <a:srgbClr val="FBEEDF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B6834"/>
                </a:solidFill>
                <a:latin typeface="BIZ UDPGothic"/>
                <a:ea typeface="BIZ UDPGothic"/>
                <a:cs typeface="BIZ UDPGothic"/>
              </a:rPr>
              <a:t>① 発表文は寄り付きで反映される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13.8 万本で、文章は利益の驚きと同等の情報。株価は寄り付きで内容を完全に反映（Wu ほか 2025）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→ 主な目的変数を「発表への反応」に。ドリフトは副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000" y="1450000"/>
            <a:ext cx="5436000" cy="2200000"/>
          </a:xfrm>
          <a:prstGeom prst="roundRect">
            <a:avLst>
              <a:gd name="adj" fmla="val 6000"/>
            </a:avLst>
          </a:prstGeom>
          <a:solidFill>
            <a:srgbClr val="EEE8FA"/>
          </a:solidFill>
          <a:ln w="1270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6250D6"/>
                </a:solidFill>
                <a:latin typeface="BIZ UDPGothic"/>
                <a:ea typeface="BIZ UDPGothic"/>
                <a:cs typeface="BIZ UDPGothic"/>
              </a:rPr>
              <a:t>② 目的を教えると測定が偏る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「株価の予測に使う」と伝えると語調の点数が目的に沿って偏る。改善は期限前だけ（Cao・Jiang・Xu 2026）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→ プロンプトから株価への言及を除く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00" y="3850000"/>
            <a:ext cx="5436000" cy="2200000"/>
          </a:xfrm>
          <a:prstGeom prst="roundRect">
            <a:avLst>
              <a:gd name="adj" fmla="val 6000"/>
            </a:avLst>
          </a:prstGeom>
          <a:solidFill>
            <a:srgbClr val="E3F3E9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BAF7A"/>
                </a:solidFill>
                <a:latin typeface="BIZ UDPGothic"/>
                <a:ea typeface="BIZ UDPGothic"/>
                <a:cs typeface="BIZ UDPGothic"/>
              </a:rPr>
              <a:t>③ 時点を区切った LLM が公開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ChronoGPT-Instruct：1999〜2024 年の年ごとの版、1.55B、MIT（He ほか 2025）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→ 2015〜2023 年は匿名化でなくこれで読む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000" y="3850000"/>
            <a:ext cx="5436000" cy="2200000"/>
          </a:xfrm>
          <a:prstGeom prst="roundRect">
            <a:avLst>
              <a:gd name="adj" fmla="val 6000"/>
            </a:avLst>
          </a:prstGeom>
          <a:solidFill>
            <a:srgbClr val="E4EE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④ 引用していた論文が取り下げ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Kim・Muhn・Nikolaev（2024）は 2025 年 2 月に取り下げ（データの不整合）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→ プロジェクトの資料 4 つの引用を直す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文献調査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意見が分かれた点と、文献からの判断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0000" y="1450000"/>
          <a:ext cx="11071998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090"/>
                <a:gridCol w="4529454"/>
                <a:gridCol w="4529454"/>
              </a:tblGrid>
              <a:tr h="9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論点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意見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判断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2015〜2023 年の文章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前回は Gemini が匿名化で主に使う、GPT が使わない。今回は 4 者とも確認用にしない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時点を区切ったモデルで読み「汚染のない下限」として報告。gpt-4o-mini の汚染は LAP の検定で診断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意味のある最小の効果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GPT：追加の rank IC 0.01＋経済効果。Gemini：0.03。Deep：0.05。Claude：検出力の実験で決める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文献に共通の値はない。合成信号の検出力の実験で決め、GPT の基準を候補に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BLM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GPT は副次の評価に下げる。他は残す（Deep は Factor BLM）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残す。役割は弱い信号での損と回転を抑えること。順位の戦略と同じ TE で比べる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回答のばらつき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GPT は二段階（大きさは誤差、比率は順位）が上限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数値の予想をやめるので使わない。H04 は元論文の前提の検証として報告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設計方針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研究の問い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500000"/>
            <a:ext cx="11072000" cy="1500000"/>
          </a:xfrm>
          <a:prstGeom prst="roundRect">
            <a:avLst>
              <a:gd name="adj" fmla="val 6000"/>
            </a:avLst>
          </a:prstGeom>
          <a:solidFill>
            <a:srgbClr val="E4EE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主な問い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LLM が決算発表文から取り出した判断（語調・見通し・ガイダンスの変更）は、数値の驚き（SUE など）と、LLM を使わない文章の分析（辞書・TF-IDF・FinBERT）を超える情報を持つか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3300000"/>
            <a:ext cx="11072000" cy="2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副次の問い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・その情報は、寄り付きより後（取引できる時点）にも残るか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・先読みのない時点を区切ったモデルでも、同じ方向の情報が取れるか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・較正した BLM は、当たらない信号を自動で使わず、当たる信号だけを使うか（合成信号で）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・写し・ばらつき・フィードバックの結果を、元論文の前提の検証としてまとめる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設計方針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新しいアーキテクチャ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750000"/>
            <a:ext cx="2000000" cy="800000"/>
          </a:xfrm>
          <a:prstGeom prst="roundRect">
            <a:avLst>
              <a:gd name="adj" fmla="val 10000"/>
            </a:avLst>
          </a:prstGeom>
          <a:solidFill>
            <a:srgbClr val="E4EEF9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EDGAR 8-K</a:t>
            </a:r>
          </a:p>
          <a:p>
            <a:pPr algn="ctr"/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Item 2.02 EX-99.1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3050000"/>
            <a:ext cx="2000000" cy="1000000"/>
          </a:xfrm>
          <a:prstGeom prst="roundRect">
            <a:avLst>
              <a:gd name="adj" fmla="val 10000"/>
            </a:avLst>
          </a:prstGeom>
          <a:solidFill>
            <a:srgbClr val="E4EEF9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時刻の監査</a:t>
            </a:r>
          </a:p>
          <a:p>
            <a:pPr algn="ctr"/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受理時刻 → ET</a:t>
            </a:r>
          </a:p>
          <a:p>
            <a:pPr algn="ctr"/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寄り前／引け後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60000" y="2550000"/>
            <a:ext cx="0" cy="50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00000" y="1450000"/>
            <a:ext cx="3000000" cy="700000"/>
          </a:xfrm>
          <a:prstGeom prst="roundRect">
            <a:avLst>
              <a:gd name="adj" fmla="val 10000"/>
            </a:avLst>
          </a:prstGeom>
          <a:solidFill>
            <a:srgbClr val="E3F3E9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200" b="1">
                <a:solidFill>
                  <a:srgbClr val="1BAF7A"/>
                </a:solidFill>
                <a:latin typeface="BIZ UDPGothic"/>
                <a:ea typeface="BIZ UDPGothic"/>
                <a:cs typeface="BIZ UDPGothic"/>
              </a:rPr>
              <a:t>gpt-4o-mini（期限後）</a:t>
            </a:r>
          </a:p>
          <a:p>
            <a:pPr algn="ctr"/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2023-11〜と前向きの記録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560000" y="1800000"/>
            <a:ext cx="540000" cy="175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00000" y="2270000"/>
            <a:ext cx="3000000" cy="700000"/>
          </a:xfrm>
          <a:prstGeom prst="roundRect">
            <a:avLst>
              <a:gd name="adj" fmla="val 10000"/>
            </a:avLst>
          </a:prstGeom>
          <a:solidFill>
            <a:srgbClr val="E3F3E9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200" b="1">
                <a:solidFill>
                  <a:srgbClr val="1BAF7A"/>
                </a:solidFill>
                <a:latin typeface="BIZ UDPGothic"/>
                <a:ea typeface="BIZ UDPGothic"/>
                <a:cs typeface="BIZ UDPGothic"/>
              </a:rPr>
              <a:t>ChronoGPT（版＝前年末）</a:t>
            </a:r>
          </a:p>
          <a:p>
            <a:pPr algn="ctr"/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2015〜2023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560000" y="2620000"/>
            <a:ext cx="540000" cy="93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00000" y="3090000"/>
            <a:ext cx="3000000" cy="700000"/>
          </a:xfrm>
          <a:prstGeom prst="roundRect">
            <a:avLst>
              <a:gd name="adj" fmla="val 10000"/>
            </a:avLst>
          </a:prstGeom>
          <a:solidFill>
            <a:srgbClr val="FDF3DA"/>
          </a:solidFill>
          <a:ln w="15875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200" b="1">
                <a:solidFill>
                  <a:srgbClr val="EDA100"/>
                </a:solidFill>
                <a:latin typeface="BIZ UDPGothic"/>
                <a:ea typeface="BIZ UDPGothic"/>
                <a:cs typeface="BIZ UDPGothic"/>
              </a:rPr>
              <a:t>対照：辞書・TF-IDF・</a:t>
            </a:r>
          </a:p>
          <a:p>
            <a:pPr algn="ctr"/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FinBERT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560000" y="3440000"/>
            <a:ext cx="540000" cy="11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00000" y="3910000"/>
            <a:ext cx="3000000" cy="700000"/>
          </a:xfrm>
          <a:prstGeom prst="roundRect">
            <a:avLst>
              <a:gd name="adj" fmla="val 10000"/>
            </a:avLst>
          </a:prstGeom>
          <a:solidFill>
            <a:srgbClr val="FDF3DA"/>
          </a:solidFill>
          <a:ln w="15875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200" b="1">
                <a:solidFill>
                  <a:srgbClr val="EDA100"/>
                </a:solidFill>
                <a:latin typeface="BIZ UDPGothic"/>
                <a:ea typeface="BIZ UDPGothic"/>
                <a:cs typeface="BIZ UDPGothic"/>
              </a:rPr>
              <a:t>数値：SUE・売上の驚き・</a:t>
            </a:r>
          </a:p>
          <a:p>
            <a:pPr algn="ctr"/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直前のリターン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0000" y="3550000"/>
            <a:ext cx="540000" cy="71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00000" y="2050000"/>
            <a:ext cx="2400000" cy="1700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 w="15875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6250D6"/>
                </a:solidFill>
                <a:latin typeface="BIZ UDPGothic"/>
                <a:ea typeface="BIZ UDPGothic"/>
                <a:cs typeface="BIZ UDPGothic"/>
              </a:rPr>
              <a:t>イベントの評価</a:t>
            </a:r>
          </a:p>
          <a:p>
            <a:pPr algn="ctr"/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(a) 発表への反応（主）</a:t>
            </a:r>
          </a:p>
          <a:p>
            <a:pPr algn="ctr"/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(b) 寄り付き後のドリフト</a:t>
            </a:r>
          </a:p>
          <a:p>
            <a:pPr algn="ctr"/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日付のクラスタ・置換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00000" y="1800000"/>
            <a:ext cx="900000" cy="110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00000" y="2620000"/>
            <a:ext cx="900000" cy="28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100000" y="2900000"/>
            <a:ext cx="900000" cy="54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100000" y="2900000"/>
            <a:ext cx="900000" cy="136000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00000" y="2050000"/>
            <a:ext cx="1950000" cy="1700000"/>
          </a:xfrm>
          <a:prstGeom prst="roundRect">
            <a:avLst>
              <a:gd name="adj" fmla="val 10000"/>
            </a:avLst>
          </a:prstGeom>
          <a:solidFill>
            <a:srgbClr val="FBEEDF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EB6834"/>
                </a:solidFill>
                <a:latin typeface="BIZ UDPGothic"/>
                <a:ea typeface="BIZ UDPGothic"/>
                <a:cs typeface="BIZ UDPGothic"/>
              </a:rPr>
              <a:t>通過した信号だけ</a:t>
            </a:r>
          </a:p>
          <a:p>
            <a:pPr algn="ctr"/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BLM</a:t>
            </a:r>
          </a:p>
          <a:p>
            <a:pPr algn="ctr"/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Ω∝Σ・較正・TE</a:t>
            </a:r>
          </a:p>
          <a:p>
            <a:pPr algn="ctr"/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vs 順位の戦略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00000" y="2900000"/>
            <a:ext cx="300000" cy="0"/>
          </a:xfrm>
          <a:prstGeom prst="line">
            <a:avLst/>
          </a:prstGeom>
          <a:ln w="1587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0000" y="4900000"/>
            <a:ext cx="11072000" cy="1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・捨てる：数値の予想、ばらつきの Ω、予想役へのフィードバック、月次レポート、SLSQP、新しいモデルでの予想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・残す：Ω∝Σ と過去の当たり具合での較正、能動ベータ 0 と TE の上限、Clarabel、置換の対照、Holm の補正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・足す：時刻の監査、イベントの評価、非 LLM の 3 つの対照、ChronoGPT、LAP の検定、前向きの凍結、検出力の測定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設計方針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評価の枠組み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450000"/>
            <a:ext cx="6400000" cy="47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目的変数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・主：(a) 発表への反応（引け後なら翌日の寄り付きまで含む）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・副：(b) 寄り付き後 1・5・20 取引日の超過リターン（市場とセクターで調整）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時刻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・受理時刻を ET に。寄り前はその日、引け後は翌取引日が最初の取引日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・17 時 30 分 ET より後の受理は翌営業日扱いなので個別に確認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統制と検定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・SUE・売上の驚き・直前のリターン・規模・ベータ・セクターを統制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・日付ごとのクラスタリング、同じ日・同じ業種での置換、Holm の補正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00000" y="1450000"/>
            <a:ext cx="4330000" cy="2150000"/>
          </a:xfrm>
          <a:prstGeom prst="roundRect">
            <a:avLst>
              <a:gd name="adj" fmla="val 6000"/>
            </a:avLst>
          </a:prstGeom>
          <a:solidFill>
            <a:srgbClr val="EEE8FA"/>
          </a:solidFill>
          <a:ln w="1270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6250D6"/>
                </a:solidFill>
                <a:latin typeface="BIZ UDPGothic"/>
                <a:ea typeface="BIZ UDPGothic"/>
                <a:cs typeface="BIZ UDPGothic"/>
              </a:rPr>
              <a:t>前向きの検証（主な確認）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目的変数・点数・統制・除外の規則・窓・判定の基準・プロンプトとコードのハッシュを凍結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2027 年 2 月まで結果を開けない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000" y="3800000"/>
            <a:ext cx="4330000" cy="2150000"/>
          </a:xfrm>
          <a:prstGeom prst="roundRect">
            <a:avLst>
              <a:gd name="adj" fmla="val 6000"/>
            </a:avLst>
          </a:prstGeom>
          <a:solidFill>
            <a:srgbClr val="E3F3E9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BAF7A"/>
                </a:solidFill>
                <a:latin typeface="BIZ UDPGothic"/>
                <a:ea typeface="BIZ UDPGothic"/>
                <a:cs typeface="BIZ UDPGothic"/>
              </a:rPr>
              <a:t>未来の情報の混入を防ぐ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期限前：時点を区切ったモデルだけ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期限後：gpt-4o-mini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最小の効果は合成信号の検出力の実験で決める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環境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ChronoGPT の環境と最初の確認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450000"/>
            <a:ext cx="5400000" cy="4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・この PC に環境を作り、2014〜2024 年末の 11 の版を取得（確認は 2022 年末の版。工房/LLM/chrono/）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・元の fp32（7.4GB）は 8GB の GPU に載らないので bf16（3.7GB）に変換。元のファイルの SHA-256 は公開値と一致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・点数付けは 1 本 0.1〜0.3 秒、GPU は最大 5.2GB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・2022 年の版でも大統領を「Bill Clinton」と答える（指示の学習データが 2000 年より前）→ 知識を問う使い方には向かない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・較正しないとガイダンスを 9 割以上「lower」と答える癖 → 中身のない文章で測った癖で割る「文脈による較正」を既定に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0000" y="1500000"/>
          <a:ext cx="5329998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666"/>
                <a:gridCol w="1776666"/>
                <a:gridCol w="1776666"/>
              </a:tblGrid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較正後（2022 年の版）</a:t>
                      </a:r>
                    </a:p>
                  </a:txBody>
                  <a:tcPr marL="80000" marR="80000" marT="40000" marB="40000" anchor="ctr">
                    <a:solidFill>
                      <a:srgbClr val="1BAF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良い発表の例</a:t>
                      </a:r>
                    </a:p>
                  </a:txBody>
                  <a:tcPr marL="80000" marR="80000" marT="40000" marB="40000" anchor="ctr">
                    <a:solidFill>
                      <a:srgbClr val="1BAF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悪い発表の例</a:t>
                      </a:r>
                    </a:p>
                  </a:txBody>
                  <a:tcPr marL="80000" marR="80000" marT="40000" marB="40000" anchor="ctr">
                    <a:solidFill>
                      <a:srgbClr val="1BAF7A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ガイダンス</a:t>
                      </a:r>
                    </a:p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raise／lower／keep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0.79／0.17／0.04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0.33／0.54／0.13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語調</a:t>
                      </a:r>
                    </a:p>
                    <a:p>
                      <a:r>
                        <a:rPr sz="13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positive／negative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0.79／0.20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0.31／0.66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00000" y="3900000"/>
            <a:ext cx="5330000" cy="2000000"/>
          </a:xfrm>
          <a:prstGeom prst="roundRect">
            <a:avLst>
              <a:gd name="adj" fmla="val 6000"/>
            </a:avLst>
          </a:prstGeom>
          <a:solidFill>
            <a:srgbClr val="FBEEDF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B6834"/>
                </a:solidFill>
                <a:latin typeface="BIZ UDPGothic"/>
                <a:ea typeface="BIZ UDPGothic"/>
                <a:cs typeface="BIZ UDPGothic"/>
              </a:rPr>
              <a:t>研究での使い方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「据え置き」や中間の文章はまだ区別できない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最後の層の埋め込み（1,536 次元）に、判断日より前のイベントだけで学習した回帰を置く（He ほか 2025 と同じ）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ゼロショットの点数は補助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次の実験（優先順）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0000" y="1400000"/>
          <a:ext cx="11071998" cy="4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36"/>
                <a:gridCol w="5445245"/>
                <a:gridCol w="2359606"/>
                <a:gridCol w="1361311"/>
              </a:tblGrid>
              <a:tr h="58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実験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方法と成功の基準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次の判断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費用・時間</a:t>
                      </a:r>
                    </a:p>
                  </a:txBody>
                  <a:tcPr marL="80000" marR="80000" marT="40000" marB="40000" anchor="ctr">
                    <a:solidFill>
                      <a:srgbClr val="2A78D6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P0 前向きの記録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手順を凍結し、毎週 EDGAR の新しい発表文を取得・点数化。プロンプトから株価への言及を除く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2027 年 2 月に一度だけ開ける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数ドル・今週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E1 時刻の監査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5,429 件の受理時刻と取引日を確定。不明なものは主な分析から外す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以後のすべての前提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 円・1 週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E2 イベントの評価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既存の点数で (a) 反応と (b) ドリフト。数値を統制して係数と区間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(a) で残らなければ縮小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 円・1 週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E3 非 LLM の対照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辞書・TF-IDF・FinBERT を同じイベントに。LLM が 3 つを統制して残るか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超えなければ安い方法へ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 円・1〜2 週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E4 検出力と BLM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2016〜2026 年に合成信号を入れ、必要な件数と較正した BLM の採用率を測る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最小の効果と規模を決める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 円・1〜2 週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E5 期限前の延長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ChronoGPT で 2015〜2023 年を点数化。期限後で gpt-4o-mini と一致度。LAP の検定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使えれば標本が約 4 倍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 円・2〜3 週</a:t>
                      </a:r>
                    </a:p>
                  </a:txBody>
                  <a:tcPr marL="80000" marR="80000" marT="40000" marB="40000" anchor="ctr">
                    <a:solidFill>
                      <a:srgbClr val="F6F5F2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E6 BLM への組み込み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残った信号だけ。順位の戦略・等リスクと同じ TE・コストで比べる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改善しなければ外す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523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 円・1〜2 週</a:t>
                      </a:r>
                    </a:p>
                  </a:txBody>
                  <a:tcPr marL="80000" marR="8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スケジュール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600000"/>
            <a:ext cx="2094400" cy="2000000"/>
          </a:xfrm>
          <a:prstGeom prst="roundRect">
            <a:avLst>
              <a:gd name="adj" fmla="val 6000"/>
            </a:avLst>
          </a:prstGeom>
          <a:solidFill>
            <a:srgbClr val="E4EE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10 月後半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P0 凍結と記録開始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E1 時刻の監査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引用の修正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3850000"/>
            <a:ext cx="2094400" cy="1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判断点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主な目的変数と基準を凍結したか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4400" y="1600000"/>
            <a:ext cx="2094400" cy="2000000"/>
          </a:xfrm>
          <a:prstGeom prst="roundRect">
            <a:avLst>
              <a:gd name="adj" fmla="val 6000"/>
            </a:avLst>
          </a:prstGeom>
          <a:solidFill>
            <a:srgbClr val="E3F3E9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BAF7A"/>
                </a:solidFill>
                <a:latin typeface="BIZ UDPGothic"/>
                <a:ea typeface="BIZ UDPGothic"/>
                <a:cs typeface="BIZ UDPGothic"/>
              </a:rPr>
              <a:t>11 月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E2・E3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並行して E4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4400" y="3850000"/>
            <a:ext cx="2094400" cy="1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AF7A"/>
                </a:solidFill>
                <a:latin typeface="BIZ UDPGothic"/>
                <a:ea typeface="BIZ UDPGothic"/>
                <a:cs typeface="BIZ UDPGothic"/>
              </a:rPr>
              <a:t>判断点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文章の点数が数値と対照を超えるか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8800" y="1600000"/>
            <a:ext cx="2094400" cy="2000000"/>
          </a:xfrm>
          <a:prstGeom prst="roundRect">
            <a:avLst>
              <a:gd name="adj" fmla="val 6000"/>
            </a:avLst>
          </a:prstGeom>
          <a:solidFill>
            <a:srgbClr val="FDF3DA"/>
          </a:solidFill>
          <a:ln w="12700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DA100"/>
                </a:solidFill>
                <a:latin typeface="BIZ UDPGothic"/>
                <a:ea typeface="BIZ UDPGothic"/>
                <a:cs typeface="BIZ UDPGothic"/>
              </a:rPr>
              <a:t>12 月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E5 ChronoGPT で延長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LAP の検定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8800" y="3850000"/>
            <a:ext cx="2094400" cy="1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DA100"/>
                </a:solidFill>
                <a:latin typeface="BIZ UDPGothic"/>
                <a:ea typeface="BIZ UDPGothic"/>
                <a:cs typeface="BIZ UDPGothic"/>
              </a:rPr>
              <a:t>判断点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期限前の点数が期限後と同じ方向か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3200" y="1600000"/>
            <a:ext cx="2094400" cy="2000000"/>
          </a:xfrm>
          <a:prstGeom prst="roundRect">
            <a:avLst>
              <a:gd name="adj" fmla="val 6000"/>
            </a:avLst>
          </a:prstGeom>
          <a:solidFill>
            <a:srgbClr val="FBEEDF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B6834"/>
                </a:solidFill>
                <a:latin typeface="BIZ UDPGothic"/>
                <a:ea typeface="BIZ UDPGothic"/>
                <a:cs typeface="BIZ UDPGothic"/>
              </a:rPr>
              <a:t>1〜2 月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E6（残った場合）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前向きの記録を締める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3200" y="3850000"/>
            <a:ext cx="2094400" cy="1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BIZ UDPGothic"/>
                <a:ea typeface="BIZ UDPGothic"/>
                <a:cs typeface="BIZ UDPGothic"/>
              </a:rPr>
              <a:t>判断点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BLM を残すか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7600" y="1600000"/>
            <a:ext cx="2094400" cy="2000000"/>
          </a:xfrm>
          <a:prstGeom prst="roundRect">
            <a:avLst>
              <a:gd name="adj" fmla="val 6000"/>
            </a:avLst>
          </a:prstGeom>
          <a:solidFill>
            <a:srgbClr val="EEE8FA"/>
          </a:solidFill>
          <a:ln w="1270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6250D6"/>
                </a:solidFill>
                <a:latin typeface="BIZ UDPGothic"/>
                <a:ea typeface="BIZ UDPGothic"/>
                <a:cs typeface="BIZ UDPGothic"/>
              </a:rPr>
              <a:t>2〜3 月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前向きの検証を開ける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最終報告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600" y="3850000"/>
            <a:ext cx="2094400" cy="1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250D6"/>
                </a:solidFill>
                <a:latin typeface="BIZ UDPGothic"/>
                <a:ea typeface="BIZ UDPGothic"/>
                <a:cs typeface="BIZ UDPGothic"/>
              </a:rPr>
              <a:t>判断点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凍結した基準で一度だけ判定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やらないこと・リスク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450000"/>
            <a:ext cx="5450000" cy="3500000"/>
          </a:xfrm>
          <a:prstGeom prst="roundRect">
            <a:avLst>
              <a:gd name="adj" fmla="val 6000"/>
            </a:avLst>
          </a:prstGeom>
          <a:solidFill>
            <a:srgbClr val="FBEEDF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B6834"/>
                </a:solidFill>
                <a:latin typeface="BIZ UDPGothic"/>
                <a:ea typeface="BIZ UDPGothic"/>
                <a:cs typeface="BIZ UDPGothic"/>
              </a:rPr>
              <a:t>やらないこと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数値の予想のプロンプトの工夫・新しいモデルでの予想（外挿と先読みは工夫で消えない）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予想役へのフィードバック（H07 で一律に強気に）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成績を見て τ・TE・Ω を選ぶこと（過剰適合）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2015〜2023 年を gpt-4o-mini と匿名化で読むこと（記憶を除けない）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月次レポートの分析（米国の銘柄・セクターにほぼ触れない）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0000" y="1450000"/>
            <a:ext cx="5450000" cy="3500000"/>
          </a:xfrm>
          <a:prstGeom prst="roundRect">
            <a:avLst>
              <a:gd name="adj" fmla="val 6000"/>
            </a:avLst>
          </a:prstGeom>
          <a:solidFill>
            <a:srgbClr val="EEE8FA"/>
          </a:solidFill>
          <a:ln w="1270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6250D6"/>
                </a:solidFill>
                <a:latin typeface="BIZ UDPGothic"/>
                <a:ea typeface="BIZ UDPGothic"/>
                <a:cs typeface="BIZ UDPGothic"/>
              </a:rPr>
              <a:t>リスクと未解決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前向きの標本は約 1,000 件。区間で報告し「有意でない」を「効果がない」と読まない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ChronoGPT は文脈 1,792 トークンで読む力も弱い。見出しと冒頭の要約、段落ごとの点数で扱う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寄り付きで反映されるなら取引できる価値はゼロに近い。それも結論になる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独立に確かめられなかった文献（Liang 2026 など）は根拠に使わない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次の一歩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決めること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600000"/>
            <a:ext cx="11072000" cy="1500000"/>
          </a:xfrm>
          <a:prstGeom prst="roundRect">
            <a:avLst>
              <a:gd name="adj" fmla="val 6000"/>
            </a:avLst>
          </a:prstGeom>
          <a:solidFill>
            <a:srgbClr val="EEE8FA"/>
          </a:solidFill>
          <a:ln w="12700">
            <a:solidFill>
              <a:srgbClr val="625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6250D6"/>
                </a:solidFill>
                <a:latin typeface="BIZ UDPGothic"/>
                <a:ea typeface="BIZ UDPGothic"/>
                <a:cs typeface="BIZ UDPGothic"/>
              </a:rPr>
              <a:t>1. 前向きの記録を今すぐ始めるか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始めるなら、主な目的変数を「発表への反応」にするか（推奨：反応を主、ドリフトを副）。凍結の前にプロンプトから株価への言及を除く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3400000"/>
            <a:ext cx="11072000" cy="1500000"/>
          </a:xfrm>
          <a:prstGeom prst="roundRect">
            <a:avLst>
              <a:gd name="adj" fmla="val 6000"/>
            </a:avLst>
          </a:prstGeom>
          <a:solidFill>
            <a:srgbClr val="E4EE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0000" rIns="140000" tIns="11000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2. 取り下げられた論文の引用を直すか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LLM-BLM の資料 4 つ（総合報告書、19b 章、実験仮説、実験結果レポート）が Kim・Muhn・Nikolaev（2024）を成功例として引いている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330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BIZ UDPGothic"/>
                <a:ea typeface="BIZ UDPGothic"/>
                <a:cs typeface="BIZ UDPGothic"/>
              </a:rPr>
              <a:t>付録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56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主な参考文献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0000" y="1200000"/>
            <a:ext cx="11072000" cy="0"/>
          </a:xfrm>
          <a:prstGeom prst="line">
            <a:avLst/>
          </a:prstGeom>
          <a:ln w="12700">
            <a:solidFill>
              <a:srgbClr val="D9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132000" y="6438000"/>
            <a:ext cx="15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6438000"/>
            <a:ext cx="6000000" cy="2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884"/>
                </a:solidFill>
                <a:latin typeface="BIZ UDPGothic"/>
                <a:ea typeface="BIZ UDPGothic"/>
                <a:cs typeface="BIZ UDPGothic"/>
              </a:rPr>
              <a:t>LLM-BLM　文献調査と設計方針　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400000"/>
            <a:ext cx="11072000" cy="4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Cao, Jiang, Xu (2026). Seeing the Goal, Missing the Truth. NBER WP 35142; arXiv:2602.09504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Chen, Green, Gulen, Zhou (2024). What Does ChatGPT Make of Historical Stock Returns? arXiv:2409.11540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deHaan, Shevlin, Thornock (2015). Market (in)attention and the strategic scheduling and timing of earnings announcements. JAE 60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Gao, Jiang, Yan (2025). Detecting Lookahead Bias in LLM Forecasts. arXiv:2512.23847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He, Lv, Manela, Wu (2025). Chronologically Consistent LLMs. arXiv:2502.21206 ／ Instruction Tuning … arXiv:2510.11677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Huang, Wang, Yang (2023). FinBERT. Contemporary Accounting Research 40(2)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Kim, Muhn, Nikolaev (2024). Financial Statement Analysis with LLMs. arXiv:2407.17866（2025 年 2 月に取り下げ）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Kolari, Pynnönen (2010). Event Study Testing with Cross-Sectional Correlation of Abnormal Returns. RFS 23(11)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Lee, Kim, Kim, Lee (2025). LLM-Enhanced Black-Litterman Portfolio Optimization. CIKM 2025; arXiv:2504.14345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Lopez-Lira, Tang, Zhu (2025). The Memorization Problem. arXiv:2504.14765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Loughran, McDonald (2011). When Is a Liability Not a Liability? J. Finance 66(1)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Siano (2025). The News in Earnings Announcement Disclosures. Management Science 71(11)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Wu, Akin, Martineau, Grégoire, Veneris (2025). Extracting the Structure of Press Releases… arXiv:2509.24254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523"/>
                </a:solidFill>
                <a:latin typeface="BIZ UDPGothic"/>
                <a:ea typeface="BIZ UDPGothic"/>
                <a:cs typeface="BIZ UDPGothic"/>
              </a:rPr>
              <a:t>Yu, Liu, Zhang, He (2026). Fast Numbers, Slow Language. arXiv:2606.29734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